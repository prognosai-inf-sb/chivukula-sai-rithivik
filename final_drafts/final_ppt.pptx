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18"/>
  </p:notesMasterIdLst>
  <p:sldIdLst>
    <p:sldId id="256" r:id="rId2"/>
    <p:sldId id="258" r:id="rId3"/>
    <p:sldId id="278" r:id="rId4"/>
    <p:sldId id="257" r:id="rId5"/>
    <p:sldId id="259" r:id="rId6"/>
    <p:sldId id="270" r:id="rId7"/>
    <p:sldId id="271" r:id="rId8"/>
    <p:sldId id="264" r:id="rId9"/>
    <p:sldId id="272" r:id="rId10"/>
    <p:sldId id="273" r:id="rId11"/>
    <p:sldId id="263" r:id="rId12"/>
    <p:sldId id="274" r:id="rId13"/>
    <p:sldId id="279" r:id="rId14"/>
    <p:sldId id="277" r:id="rId15"/>
    <p:sldId id="267" r:id="rId16"/>
    <p:sldId id="276" r:id="rId17"/>
  </p:sldIdLst>
  <p:sldSz cx="18288000" cy="10287000"/>
  <p:notesSz cx="6858000" cy="9144000"/>
  <p:embeddedFontLst>
    <p:embeddedFont>
      <p:font typeface="Gill Sans MT" panose="020B0502020104020203" pitchFamily="34" charset="0"/>
      <p:regular r:id="rId19"/>
      <p:bold r:id="rId20"/>
      <p:italic r:id="rId21"/>
      <p:boldItalic r:id="rId22"/>
    </p:embeddedFont>
    <p:embeddedFont>
      <p:font typeface="Inter" panose="020B0604020202020204" charset="0"/>
      <p:regular r:id="rId23"/>
      <p:bold r:id="rId24"/>
      <p:italic r:id="rId25"/>
      <p:boldItalic r:id="rId26"/>
    </p:embeddedFont>
    <p:embeddedFont>
      <p:font typeface="Inter ExtraBold" panose="020B0604020202020204" charset="0"/>
      <p:bold r:id="rId27"/>
      <p:boldItalic r:id="rId28"/>
    </p:embeddedFont>
    <p:embeddedFont>
      <p:font typeface="Inter SemiBold" panose="020B0604020202020204"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4" d="100"/>
          <a:sy n="54" d="100"/>
        </p:scale>
        <p:origin x="754"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C5F1A463-01B7-BB4D-AF41-D9D9B748E2AD}"/>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D34E6273-1BA0-21A9-FB28-36EDA328E7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08541B5D-5D2B-034F-273C-F3D37EF761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4210009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 name="Google Shape;6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E98A3D2D-F9BF-21A5-362A-FAE600FAC8FC}"/>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82BE0F27-0B9E-FA43-C14F-FE1528C210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BF95D144-8AA8-7C34-7E32-0D54C690E9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8975302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5A400342-6075-18AD-ECC6-EEDCFE407861}"/>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186CBD1E-2FF5-40AF-3326-7CAC0327A1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D3F4F4E9-A20D-278C-DF6F-695E68D183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4804268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9" name="Google Shape;18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B98AD57B-120D-B32C-A2B9-E21BAFEFD074}"/>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847AAA0A-E920-A57B-9EEA-831E504DD5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E4FB9B1A-2019-BE01-C6A7-0AEA337653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72761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a:extLst>
            <a:ext uri="{FF2B5EF4-FFF2-40B4-BE49-F238E27FC236}">
              <a16:creationId xmlns:a16="http://schemas.microsoft.com/office/drawing/2014/main" id="{1C75AE12-74EC-072B-F0E7-0A73C4B534A2}"/>
            </a:ext>
          </a:extLst>
        </p:cNvPr>
        <p:cNvGrpSpPr/>
        <p:nvPr/>
      </p:nvGrpSpPr>
      <p:grpSpPr>
        <a:xfrm>
          <a:off x="0" y="0"/>
          <a:ext cx="0" cy="0"/>
          <a:chOff x="0" y="0"/>
          <a:chExt cx="0" cy="0"/>
        </a:xfrm>
      </p:grpSpPr>
      <p:sp>
        <p:nvSpPr>
          <p:cNvPr id="188" name="Google Shape;188;p9:notes">
            <a:extLst>
              <a:ext uri="{FF2B5EF4-FFF2-40B4-BE49-F238E27FC236}">
                <a16:creationId xmlns:a16="http://schemas.microsoft.com/office/drawing/2014/main" id="{CD37370C-837F-98D0-DD1E-E464D76FC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9" name="Google Shape;189;p9:notes">
            <a:extLst>
              <a:ext uri="{FF2B5EF4-FFF2-40B4-BE49-F238E27FC236}">
                <a16:creationId xmlns:a16="http://schemas.microsoft.com/office/drawing/2014/main" id="{7EDFBAAC-4267-C96B-197D-9D06AB3FCD7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641186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9FEDE845-CBAC-6C0E-F8B9-8BA2BB506955}"/>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0B392084-5071-C98F-8BA1-97A04407DC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2B01E06A-2012-4BA6-8598-9A374A3A9F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7377908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D6FC3970-AD46-6AAC-13CA-270823D70BD6}"/>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8D0C594A-73D9-FB81-261C-ED1F7FF2AB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025C86B0-004B-E859-8BA1-589626E1D0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8475233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A52F5F50-4285-520F-F0D0-23B0083343B1}"/>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90E41C69-8B3F-2BB1-7A71-C1A05E8C9C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412399E5-91D5-AB1A-B5F1-2D773C18DF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69721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2" name="Google Shape;22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Gallery" type="twoObj">
  <p:cSld name="TWO_OBJECTS">
    <p:bg>
      <p:bgPr>
        <a:solidFill>
          <a:srgbClr val="253278"/>
        </a:solidFill>
        <a:effectLst/>
      </p:bgPr>
    </p:bg>
    <p:spTree>
      <p:nvGrpSpPr>
        <p:cNvPr id="1" name="Shape 45"/>
        <p:cNvGrpSpPr/>
        <p:nvPr/>
      </p:nvGrpSpPr>
      <p:grpSpPr>
        <a:xfrm>
          <a:off x="0" y="0"/>
          <a:ext cx="0" cy="0"/>
          <a:chOff x="0" y="0"/>
          <a:chExt cx="0" cy="0"/>
        </a:xfrm>
      </p:grpSpPr>
      <p:sp>
        <p:nvSpPr>
          <p:cNvPr id="46" name="Google Shape;46;p6"/>
          <p:cNvSpPr>
            <a:spLocks noGrp="1"/>
          </p:cNvSpPr>
          <p:nvPr>
            <p:ph type="pic" idx="2"/>
          </p:nvPr>
        </p:nvSpPr>
        <p:spPr>
          <a:xfrm>
            <a:off x="1051450" y="1219775"/>
            <a:ext cx="5058600" cy="3942900"/>
          </a:xfrm>
          <a:prstGeom prst="rect">
            <a:avLst/>
          </a:prstGeom>
          <a:noFill/>
          <a:ln>
            <a:noFill/>
          </a:ln>
        </p:spPr>
        <p:txBody>
          <a:bodyPr/>
          <a:lstStyle/>
          <a:p>
            <a:endParaRPr lang="en-IN"/>
          </a:p>
        </p:txBody>
      </p:sp>
      <p:sp>
        <p:nvSpPr>
          <p:cNvPr id="47" name="Google Shape;47;p6"/>
          <p:cNvSpPr>
            <a:spLocks noGrp="1"/>
          </p:cNvSpPr>
          <p:nvPr>
            <p:ph type="pic" idx="3"/>
          </p:nvPr>
        </p:nvSpPr>
        <p:spPr>
          <a:xfrm>
            <a:off x="6637450" y="1219775"/>
            <a:ext cx="5058600" cy="3942900"/>
          </a:xfrm>
          <a:prstGeom prst="rect">
            <a:avLst/>
          </a:prstGeom>
          <a:noFill/>
          <a:ln>
            <a:noFill/>
          </a:ln>
        </p:spPr>
        <p:txBody>
          <a:bodyPr/>
          <a:lstStyle/>
          <a:p>
            <a:endParaRPr lang="en-IN"/>
          </a:p>
        </p:txBody>
      </p:sp>
      <p:sp>
        <p:nvSpPr>
          <p:cNvPr id="48" name="Google Shape;48;p6"/>
          <p:cNvSpPr>
            <a:spLocks noGrp="1"/>
          </p:cNvSpPr>
          <p:nvPr>
            <p:ph type="pic" idx="4"/>
          </p:nvPr>
        </p:nvSpPr>
        <p:spPr>
          <a:xfrm>
            <a:off x="12176563" y="1219775"/>
            <a:ext cx="5058600" cy="3942900"/>
          </a:xfrm>
          <a:prstGeom prst="rect">
            <a:avLst/>
          </a:prstGeom>
          <a:noFill/>
          <a:ln>
            <a:noFill/>
          </a:ln>
        </p:spPr>
        <p:txBody>
          <a:bodyPr/>
          <a:lstStyle/>
          <a:p>
            <a:endParaRPr lang="en-IN"/>
          </a:p>
        </p:txBody>
      </p:sp>
      <p:sp>
        <p:nvSpPr>
          <p:cNvPr id="49" name="Google Shape;49;p6"/>
          <p:cNvSpPr>
            <a:spLocks noGrp="1"/>
          </p:cNvSpPr>
          <p:nvPr>
            <p:ph type="pic" idx="5"/>
          </p:nvPr>
        </p:nvSpPr>
        <p:spPr>
          <a:xfrm>
            <a:off x="1050825" y="5529725"/>
            <a:ext cx="5058600" cy="3942900"/>
          </a:xfrm>
          <a:prstGeom prst="rect">
            <a:avLst/>
          </a:prstGeom>
          <a:noFill/>
          <a:ln>
            <a:noFill/>
          </a:ln>
        </p:spPr>
        <p:txBody>
          <a:bodyPr/>
          <a:lstStyle/>
          <a:p>
            <a:endParaRPr lang="en-IN"/>
          </a:p>
        </p:txBody>
      </p:sp>
      <p:sp>
        <p:nvSpPr>
          <p:cNvPr id="50" name="Google Shape;50;p6"/>
          <p:cNvSpPr>
            <a:spLocks noGrp="1"/>
          </p:cNvSpPr>
          <p:nvPr>
            <p:ph type="pic" idx="6"/>
          </p:nvPr>
        </p:nvSpPr>
        <p:spPr>
          <a:xfrm>
            <a:off x="6636825" y="5529725"/>
            <a:ext cx="5058600" cy="3942900"/>
          </a:xfrm>
          <a:prstGeom prst="rect">
            <a:avLst/>
          </a:prstGeom>
          <a:noFill/>
          <a:ln>
            <a:noFill/>
          </a:ln>
        </p:spPr>
        <p:txBody>
          <a:bodyPr/>
          <a:lstStyle/>
          <a:p>
            <a:endParaRPr lang="en-IN"/>
          </a:p>
        </p:txBody>
      </p:sp>
      <p:sp>
        <p:nvSpPr>
          <p:cNvPr id="51" name="Google Shape;51;p6"/>
          <p:cNvSpPr>
            <a:spLocks noGrp="1"/>
          </p:cNvSpPr>
          <p:nvPr>
            <p:ph type="pic" idx="7"/>
          </p:nvPr>
        </p:nvSpPr>
        <p:spPr>
          <a:xfrm>
            <a:off x="12175938" y="5529725"/>
            <a:ext cx="5058600" cy="3942900"/>
          </a:xfrm>
          <a:prstGeom prst="rect">
            <a:avLst/>
          </a:prstGeom>
          <a:noFill/>
          <a:ln>
            <a:noFill/>
          </a:ln>
        </p:spPr>
        <p:txBody>
          <a:bodyPr/>
          <a:lstStyle/>
          <a:p>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rgbClr val="253278"/>
              </a:buClr>
              <a:buSzPts val="4400"/>
              <a:buFont typeface="Inter"/>
              <a:buNone/>
              <a:defRPr sz="4400" i="0" u="none" strike="noStrike" cap="none">
                <a:solidFill>
                  <a:srgbClr val="253278"/>
                </a:solidFill>
                <a:latin typeface="Inter"/>
                <a:ea typeface="Inter"/>
                <a:cs typeface="Inter"/>
                <a:sym typeface="Inter"/>
              </a:defRPr>
            </a:lvl1pPr>
            <a:lvl2pPr lvl="1">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2pPr>
            <a:lvl3pPr lvl="2">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3pPr>
            <a:lvl4pPr lvl="3">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4pPr>
            <a:lvl5pPr lvl="4">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5pPr>
            <a:lvl6pPr lvl="5">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6pPr>
            <a:lvl7pPr lvl="6">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7pPr>
            <a:lvl8pPr lvl="7">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8pPr>
            <a:lvl9pPr lvl="8">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rgbClr val="253278"/>
              </a:buClr>
              <a:buSzPts val="3200"/>
              <a:buFont typeface="Inter"/>
              <a:buChar char="•"/>
              <a:defRPr sz="3200" i="0" u="none" strike="noStrike" cap="none">
                <a:solidFill>
                  <a:srgbClr val="253278"/>
                </a:solidFill>
                <a:latin typeface="Inter"/>
                <a:ea typeface="Inter"/>
                <a:cs typeface="Inter"/>
                <a:sym typeface="Inter"/>
              </a:defRPr>
            </a:lvl1pPr>
            <a:lvl2pPr marL="914400" marR="0" lvl="1" indent="-406400" algn="l" rtl="0">
              <a:spcBef>
                <a:spcPts val="560"/>
              </a:spcBef>
              <a:spcAft>
                <a:spcPts val="0"/>
              </a:spcAft>
              <a:buClr>
                <a:srgbClr val="253278"/>
              </a:buClr>
              <a:buSzPts val="2800"/>
              <a:buFont typeface="Inter"/>
              <a:buChar char="–"/>
              <a:defRPr sz="2800" i="0" u="none" strike="noStrike" cap="none">
                <a:solidFill>
                  <a:srgbClr val="253278"/>
                </a:solidFill>
                <a:latin typeface="Inter"/>
                <a:ea typeface="Inter"/>
                <a:cs typeface="Inter"/>
                <a:sym typeface="Inter"/>
              </a:defRPr>
            </a:lvl2pPr>
            <a:lvl3pPr marL="1371600" marR="0" lvl="2" indent="-381000" algn="l" rtl="0">
              <a:spcBef>
                <a:spcPts val="480"/>
              </a:spcBef>
              <a:spcAft>
                <a:spcPts val="0"/>
              </a:spcAft>
              <a:buClr>
                <a:srgbClr val="253278"/>
              </a:buClr>
              <a:buSzPts val="2400"/>
              <a:buFont typeface="Inter"/>
              <a:buChar char="•"/>
              <a:defRPr sz="2400" i="0" u="none" strike="noStrike" cap="none">
                <a:solidFill>
                  <a:srgbClr val="253278"/>
                </a:solidFill>
                <a:latin typeface="Inter"/>
                <a:ea typeface="Inter"/>
                <a:cs typeface="Inter"/>
                <a:sym typeface="Inter"/>
              </a:defRPr>
            </a:lvl3pPr>
            <a:lvl4pPr marL="1828800" marR="0" lvl="3"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4pPr>
            <a:lvl5pPr marL="2286000" marR="0" lvl="4"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5pPr>
            <a:lvl6pPr marL="2743200" marR="0" lvl="5"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6pPr>
            <a:lvl7pPr marL="3200400" marR="0" lvl="6"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7pPr>
            <a:lvl8pPr marL="3657600" marR="0" lvl="7"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8pPr>
            <a:lvl9pPr marL="4114800" marR="0" lvl="8"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127.0.0.1:8050/"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tensorflow.org/guide/keras" TargetMode="External"/><Relationship Id="rId7" Type="http://schemas.openxmlformats.org/officeDocument/2006/relationships/hyperlink" Target="https://numpy.org/doc/"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seaborn.pydata.org/" TargetMode="External"/><Relationship Id="rId5" Type="http://schemas.openxmlformats.org/officeDocument/2006/relationships/hyperlink" Target="https://matplotlib.org/stable/contents.html" TargetMode="External"/><Relationship Id="rId4" Type="http://schemas.openxmlformats.org/officeDocument/2006/relationships/hyperlink" Target="https://scikit-learn.org/stable/modules/preprocessing.html"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55"/>
        <p:cNvGrpSpPr/>
        <p:nvPr/>
      </p:nvGrpSpPr>
      <p:grpSpPr>
        <a:xfrm>
          <a:off x="0" y="0"/>
          <a:ext cx="0" cy="0"/>
          <a:chOff x="0" y="0"/>
          <a:chExt cx="0" cy="0"/>
        </a:xfrm>
      </p:grpSpPr>
      <p:pic>
        <p:nvPicPr>
          <p:cNvPr id="56" name="Google Shape;56;p7"/>
          <p:cNvPicPr preferRelativeResize="0"/>
          <p:nvPr/>
        </p:nvPicPr>
        <p:blipFill>
          <a:blip r:embed="rId3">
            <a:alphaModFix/>
          </a:blip>
          <a:stretch>
            <a:fillRect/>
          </a:stretch>
        </p:blipFill>
        <p:spPr>
          <a:xfrm>
            <a:off x="260574" y="297887"/>
            <a:ext cx="4238074" cy="4111176"/>
          </a:xfrm>
          <a:prstGeom prst="rect">
            <a:avLst/>
          </a:prstGeom>
          <a:noFill/>
          <a:ln>
            <a:noFill/>
          </a:ln>
        </p:spPr>
      </p:pic>
      <p:sp>
        <p:nvSpPr>
          <p:cNvPr id="57" name="Google Shape;57;p7"/>
          <p:cNvSpPr txBox="1"/>
          <p:nvPr/>
        </p:nvSpPr>
        <p:spPr>
          <a:xfrm>
            <a:off x="3929063" y="4631443"/>
            <a:ext cx="13215937" cy="3739485"/>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n-US" sz="5400" dirty="0">
                <a:solidFill>
                  <a:srgbClr val="253278"/>
                </a:solidFill>
                <a:latin typeface="Inter ExtraBold"/>
                <a:ea typeface="Inter ExtraBold"/>
                <a:cs typeface="Inter ExtraBold"/>
                <a:sym typeface="Inter ExtraBold"/>
              </a:rPr>
              <a:t>PrognosAI: AI-Driven Predictive Maintenance System Using Time-Series Sensor Data</a:t>
            </a:r>
            <a:endParaRPr lang="en-US" sz="3600" dirty="0">
              <a:solidFill>
                <a:srgbClr val="002060"/>
              </a:solidFill>
              <a:latin typeface="Gill Sans MT" panose="020B0502020104020203" pitchFamily="34" charset="0"/>
              <a:ea typeface="Inter ExtraBold"/>
              <a:cs typeface="Inter ExtraBold"/>
              <a:sym typeface="Inter ExtraBold"/>
            </a:endParaRP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Internship: Infosys Virtual Internship 6.0</a:t>
            </a: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Name: Chivukula Sai Rithivik</a:t>
            </a: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Data-Set: NASA C-MAPPS </a:t>
            </a:r>
            <a:endParaRPr sz="3600" dirty="0">
              <a:solidFill>
                <a:srgbClr val="002060"/>
              </a:solidFill>
              <a:latin typeface="Gill Sans MT" panose="020B0502020104020203" pitchFamily="34" charset="0"/>
              <a:ea typeface="Inter ExtraBold"/>
              <a:cs typeface="Inter ExtraBold"/>
              <a:sym typeface="Inter Extra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53278"/>
        </a:solidFill>
        <a:effectLst/>
      </p:bgPr>
    </p:bg>
    <p:spTree>
      <p:nvGrpSpPr>
        <p:cNvPr id="1" name="Shape 83"/>
        <p:cNvGrpSpPr/>
        <p:nvPr/>
      </p:nvGrpSpPr>
      <p:grpSpPr>
        <a:xfrm>
          <a:off x="0" y="0"/>
          <a:ext cx="0" cy="0"/>
          <a:chOff x="0" y="0"/>
          <a:chExt cx="0" cy="0"/>
        </a:xfrm>
      </p:grpSpPr>
      <p:sp>
        <p:nvSpPr>
          <p:cNvPr id="4" name="TextBox 3">
            <a:extLst>
              <a:ext uri="{FF2B5EF4-FFF2-40B4-BE49-F238E27FC236}">
                <a16:creationId xmlns:a16="http://schemas.microsoft.com/office/drawing/2014/main" id="{190BBF8C-DFCF-F5FB-63A3-D51F96669364}"/>
              </a:ext>
            </a:extLst>
          </p:cNvPr>
          <p:cNvSpPr txBox="1"/>
          <p:nvPr/>
        </p:nvSpPr>
        <p:spPr>
          <a:xfrm>
            <a:off x="1174132" y="3214688"/>
            <a:ext cx="4433887" cy="1446550"/>
          </a:xfrm>
          <a:prstGeom prst="rect">
            <a:avLst/>
          </a:prstGeom>
          <a:noFill/>
        </p:spPr>
        <p:txBody>
          <a:bodyPr wrap="square" rtlCol="0">
            <a:spAutoFit/>
          </a:bodyPr>
          <a:lstStyle/>
          <a:p>
            <a:r>
              <a:rPr lang="en-US" sz="4400" dirty="0">
                <a:solidFill>
                  <a:schemeClr val="bg1">
                    <a:lumMod val="95000"/>
                  </a:schemeClr>
                </a:solidFill>
                <a:latin typeface="Inter SemiBold" panose="020B0604020202020204" charset="0"/>
                <a:ea typeface="Inter SemiBold" panose="020B0604020202020204" charset="0"/>
              </a:rPr>
              <a:t>Table Of Contents</a:t>
            </a:r>
          </a:p>
        </p:txBody>
      </p:sp>
      <p:sp>
        <p:nvSpPr>
          <p:cNvPr id="2" name="TextBox 1">
            <a:extLst>
              <a:ext uri="{FF2B5EF4-FFF2-40B4-BE49-F238E27FC236}">
                <a16:creationId xmlns:a16="http://schemas.microsoft.com/office/drawing/2014/main" id="{9F74B47A-588D-D74F-5781-C0FDD728E619}"/>
              </a:ext>
            </a:extLst>
          </p:cNvPr>
          <p:cNvSpPr txBox="1"/>
          <p:nvPr/>
        </p:nvSpPr>
        <p:spPr>
          <a:xfrm>
            <a:off x="6076950" y="2386013"/>
            <a:ext cx="11125201" cy="6494085"/>
          </a:xfrm>
          <a:prstGeom prst="rect">
            <a:avLst/>
          </a:prstGeom>
          <a:noFill/>
        </p:spPr>
        <p:txBody>
          <a:bodyPr wrap="square" rtlCol="0">
            <a:spAutoFit/>
          </a:bodyPr>
          <a:lstStyle/>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Objective of the project</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Dataset Description</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Preprocessing &amp; Feature engineering</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Model building</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Model evaluation</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Dashboard deployment</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Overall performance of the model</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Future enhancements</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Acknowledgements  &amp; References</a:t>
            </a: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IN" dirty="0">
              <a:solidFill>
                <a:schemeClr val="bg1">
                  <a:lumMod val="95000"/>
                </a:schemeClr>
              </a:solidFill>
            </a:endParaRPr>
          </a:p>
        </p:txBody>
      </p:sp>
      <p:pic>
        <p:nvPicPr>
          <p:cNvPr id="6" name="Picture 5">
            <a:extLst>
              <a:ext uri="{FF2B5EF4-FFF2-40B4-BE49-F238E27FC236}">
                <a16:creationId xmlns:a16="http://schemas.microsoft.com/office/drawing/2014/main" id="{FC60FFFA-50A0-69C2-1D81-8A1431BD0D42}"/>
              </a:ext>
            </a:extLst>
          </p:cNvPr>
          <p:cNvPicPr>
            <a:picLocks noChangeAspect="1"/>
          </p:cNvPicPr>
          <p:nvPr/>
        </p:nvPicPr>
        <p:blipFill>
          <a:blip r:embed="rId3"/>
          <a:stretch>
            <a:fillRect/>
          </a:stretch>
        </p:blipFill>
        <p:spPr>
          <a:xfrm>
            <a:off x="304450" y="4661238"/>
            <a:ext cx="4433887" cy="277643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B70658FF-1408-093F-D813-F59F7BD5198C}"/>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7A9909F1-C763-1A46-2DEA-0DE1B79059AF}"/>
              </a:ext>
            </a:extLst>
          </p:cNvPr>
          <p:cNvSpPr txBox="1"/>
          <p:nvPr/>
        </p:nvSpPr>
        <p:spPr>
          <a:xfrm>
            <a:off x="514350" y="1120093"/>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Dataset Description</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4E98A919-0B47-047B-D025-696AA85A81B1}"/>
              </a:ext>
            </a:extLst>
          </p:cNvPr>
          <p:cNvSpPr>
            <a:spLocks noChangeArrowheads="1"/>
          </p:cNvSpPr>
          <p:nvPr/>
        </p:nvSpPr>
        <p:spPr bwMode="auto">
          <a:xfrm>
            <a:off x="1271587" y="3388374"/>
            <a:ext cx="15001876"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Purpose:</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Predictive maintenance for aircraft engines, estimating Remaining Useful Life (RUL).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Dataset Composition:</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Multi-unit engine time-series data under various operational conditions.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Columns / Features:</a:t>
            </a:r>
            <a:endParaRPr lang="en-US" altLang="en-US" sz="2800" dirty="0">
              <a:solidFill>
                <a:schemeClr val="tx1"/>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Unit_id,time_cycles</a:t>
            </a:r>
            <a:r>
              <a:rPr lang="en-US" altLang="en-US" sz="1800" dirty="0">
                <a:solidFill>
                  <a:schemeClr val="tx1"/>
                </a:solidFill>
                <a:latin typeface="Inter SemiBold" panose="020B0604020202020204" charset="0"/>
                <a:ea typeface="Inter SemiBold" panose="020B0604020202020204" charset="0"/>
              </a:rPr>
              <a:t> – </a:t>
            </a:r>
            <a:r>
              <a:rPr lang="en-US" altLang="en-US" sz="2800" dirty="0">
                <a:solidFill>
                  <a:schemeClr val="tx1"/>
                </a:solidFill>
                <a:latin typeface="Inter SemiBold" panose="020B0604020202020204" charset="0"/>
                <a:ea typeface="Inter SemiBold" panose="020B0604020202020204" charset="0"/>
              </a:rPr>
              <a:t>engine identifier and timestep</a:t>
            </a:r>
            <a:endPar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Operational settings: </a:t>
            </a:r>
            <a:r>
              <a:rPr lang="en-US" altLang="en-US" sz="2800" dirty="0">
                <a:solidFill>
                  <a:schemeClr val="tx1"/>
                </a:solidFill>
                <a:latin typeface="Inter SemiBold" panose="020B0604020202020204" charset="0"/>
                <a:ea typeface="Inter SemiBold" panose="020B0604020202020204" charset="0"/>
              </a:rPr>
              <a:t>setting_1,setting_2,setting_3</a:t>
            </a:r>
            <a:endParaRPr kumimoji="0" lang="en-US" altLang="en-US" sz="1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Sensor measurements: </a:t>
            </a:r>
            <a:r>
              <a:rPr lang="en-US" altLang="en-US" sz="3200" dirty="0">
                <a:solidFill>
                  <a:schemeClr val="tx1"/>
                </a:solidFill>
                <a:latin typeface="Inter SemiBold" panose="020B0604020202020204" charset="0"/>
                <a:ea typeface="Inter SemiBold" panose="020B0604020202020204" charset="0"/>
              </a:rPr>
              <a:t>s_1 to s_24</a:t>
            </a:r>
            <a:endParaRPr kumimoji="0" lang="en-US" altLang="en-US" sz="1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 Subsets: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FD001 to FD004, representing different engine operating scenarios and fault types.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 Files: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Training and test data with RUL labels provided separately.</a:t>
            </a:r>
          </a:p>
        </p:txBody>
      </p:sp>
    </p:spTree>
    <p:extLst>
      <p:ext uri="{BB962C8B-B14F-4D97-AF65-F5344CB8AC3E}">
        <p14:creationId xmlns:p14="http://schemas.microsoft.com/office/powerpoint/2010/main" val="6474032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64"/>
        <p:cNvGrpSpPr/>
        <p:nvPr/>
      </p:nvGrpSpPr>
      <p:grpSpPr>
        <a:xfrm>
          <a:off x="0" y="0"/>
          <a:ext cx="0" cy="0"/>
          <a:chOff x="0" y="0"/>
          <a:chExt cx="0" cy="0"/>
        </a:xfrm>
      </p:grpSpPr>
      <p:grpSp>
        <p:nvGrpSpPr>
          <p:cNvPr id="66" name="Google Shape;66;p8"/>
          <p:cNvGrpSpPr/>
          <p:nvPr/>
        </p:nvGrpSpPr>
        <p:grpSpPr>
          <a:xfrm>
            <a:off x="1506170" y="4586288"/>
            <a:ext cx="14967318" cy="4868253"/>
            <a:chOff x="0" y="-9525"/>
            <a:chExt cx="4274726" cy="1260348"/>
          </a:xfrm>
        </p:grpSpPr>
        <p:sp>
          <p:nvSpPr>
            <p:cNvPr id="67" name="Google Shape;67;p8"/>
            <p:cNvSpPr/>
            <p:nvPr/>
          </p:nvSpPr>
          <p:spPr>
            <a:xfrm>
              <a:off x="0" y="0"/>
              <a:ext cx="4274726" cy="1250823"/>
            </a:xfrm>
            <a:custGeom>
              <a:avLst/>
              <a:gdLst/>
              <a:ahLst/>
              <a:cxnLst/>
              <a:rect l="l" t="t" r="r" b="b"/>
              <a:pathLst>
                <a:path w="4274726" h="1250823" extrusionOk="0">
                  <a:moveTo>
                    <a:pt x="0" y="0"/>
                  </a:moveTo>
                  <a:lnTo>
                    <a:pt x="4274726" y="0"/>
                  </a:lnTo>
                  <a:lnTo>
                    <a:pt x="4274726" y="1250823"/>
                  </a:lnTo>
                  <a:lnTo>
                    <a:pt x="0" y="1250823"/>
                  </a:lnTo>
                  <a:close/>
                </a:path>
              </a:pathLst>
            </a:custGeom>
            <a:solidFill>
              <a:srgbClr val="253278"/>
            </a:solidFill>
            <a:ln>
              <a:noFill/>
            </a:ln>
          </p:spPr>
          <p:txBody>
            <a:bodyPr/>
            <a:lstStyle/>
            <a:p>
              <a:endParaRPr lang="en-IN"/>
            </a:p>
          </p:txBody>
        </p:sp>
        <p:sp>
          <p:nvSpPr>
            <p:cNvPr id="68" name="Google Shape;68;p8"/>
            <p:cNvSpPr txBox="1"/>
            <p:nvPr/>
          </p:nvSpPr>
          <p:spPr>
            <a:xfrm>
              <a:off x="0" y="-9525"/>
              <a:ext cx="4274726" cy="1260348"/>
            </a:xfrm>
            <a:prstGeom prst="rect">
              <a:avLst/>
            </a:prstGeom>
            <a:noFill/>
            <a:ln>
              <a:noFill/>
            </a:ln>
          </p:spPr>
          <p:txBody>
            <a:bodyPr spcFirstLastPara="1" wrap="square" lIns="50800" tIns="50800" rIns="50800" bIns="50800" anchor="ctr" anchorCtr="0">
              <a:noAutofit/>
            </a:bodyPr>
            <a:lstStyle/>
            <a:p>
              <a:pPr marL="0" marR="0" lvl="0" indent="0" algn="ctr" rtl="0">
                <a:lnSpc>
                  <a:spcPct val="140000"/>
                </a:lnSpc>
                <a:spcBef>
                  <a:spcPts val="0"/>
                </a:spcBef>
                <a:spcAft>
                  <a:spcPts val="0"/>
                </a:spcAft>
                <a:buNone/>
              </a:pP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endParaRPr lang="en-US" sz="1800" b="0" i="0" u="none" strike="noStrike" cap="none" dirty="0">
                <a:solidFill>
                  <a:schemeClr val="dk1"/>
                </a:solidFill>
                <a:latin typeface="Calibri"/>
                <a:ea typeface="Calibri"/>
                <a:cs typeface="Calibri"/>
                <a:sym typeface="Calibri"/>
              </a:endParaRPr>
            </a:p>
            <a:p>
              <a:pPr marL="0" marR="0" lvl="0" indent="0" algn="ctr" rtl="0">
                <a:lnSpc>
                  <a:spcPct val="140000"/>
                </a:lnSpc>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grpSp>
      <p:sp>
        <p:nvSpPr>
          <p:cNvPr id="69" name="Google Shape;69;p8"/>
          <p:cNvSpPr txBox="1"/>
          <p:nvPr/>
        </p:nvSpPr>
        <p:spPr>
          <a:xfrm>
            <a:off x="1028700" y="1603985"/>
            <a:ext cx="8653200" cy="2216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400" i="0" u="none" strike="noStrike" cap="none" dirty="0">
                <a:solidFill>
                  <a:srgbClr val="253278"/>
                </a:solidFill>
                <a:latin typeface="Inter ExtraBold"/>
                <a:ea typeface="Inter ExtraBold"/>
                <a:cs typeface="Inter ExtraBold"/>
                <a:sym typeface="Inter ExtraBold"/>
              </a:rPr>
              <a:t>AGENDA</a:t>
            </a:r>
            <a:endParaRPr dirty="0">
              <a:latin typeface="Inter ExtraBold"/>
              <a:ea typeface="Inter ExtraBold"/>
              <a:cs typeface="Inter ExtraBold"/>
              <a:sym typeface="Inter ExtraBold"/>
            </a:endParaRPr>
          </a:p>
        </p:txBody>
      </p:sp>
      <p:sp>
        <p:nvSpPr>
          <p:cNvPr id="71" name="Google Shape;71;p8"/>
          <p:cNvSpPr txBox="1"/>
          <p:nvPr/>
        </p:nvSpPr>
        <p:spPr>
          <a:xfrm>
            <a:off x="1814512" y="5869605"/>
            <a:ext cx="14287501" cy="2585323"/>
          </a:xfrm>
          <a:prstGeom prst="rect">
            <a:avLst/>
          </a:prstGeom>
          <a:noFill/>
          <a:ln>
            <a:noFill/>
          </a:ln>
        </p:spPr>
        <p:txBody>
          <a:bodyPr spcFirstLastPara="1" wrap="square" lIns="0" tIns="0" rIns="0" bIns="0" anchor="t" anchorCtr="0">
            <a:spAutoFit/>
          </a:bodyPr>
          <a:lstStyle/>
          <a:p>
            <a:pPr lvl="0"/>
            <a:r>
              <a:rPr lang="en-US" sz="2800" dirty="0">
                <a:solidFill>
                  <a:schemeClr val="bg1">
                    <a:lumMod val="95000"/>
                  </a:schemeClr>
                </a:solidFill>
                <a:latin typeface="Inter SemiBold" panose="020B0604020202020204" charset="0"/>
                <a:ea typeface="Inter SemiBold" panose="020B0604020202020204" charset="0"/>
              </a:rPr>
              <a:t>The internship focuses on predicting the </a:t>
            </a:r>
            <a:r>
              <a:rPr lang="en-US" sz="2800" dirty="0">
                <a:solidFill>
                  <a:srgbClr val="92D050"/>
                </a:solidFill>
                <a:latin typeface="Inter SemiBold" panose="020B0604020202020204" charset="0"/>
                <a:ea typeface="Inter SemiBold" panose="020B0604020202020204" charset="0"/>
              </a:rPr>
              <a:t>Remaining Useful Life (RUL) </a:t>
            </a:r>
            <a:r>
              <a:rPr lang="en-US" sz="2800" dirty="0">
                <a:solidFill>
                  <a:schemeClr val="bg1">
                    <a:lumMod val="95000"/>
                  </a:schemeClr>
                </a:solidFill>
                <a:latin typeface="Inter SemiBold" panose="020B0604020202020204" charset="0"/>
                <a:ea typeface="Inter SemiBold" panose="020B0604020202020204" charset="0"/>
              </a:rPr>
              <a:t>of turbofan engines using an </a:t>
            </a:r>
            <a:r>
              <a:rPr lang="en-US" sz="2800" dirty="0">
                <a:solidFill>
                  <a:srgbClr val="92D050"/>
                </a:solidFill>
                <a:latin typeface="Inter SemiBold" panose="020B0604020202020204" charset="0"/>
                <a:ea typeface="Inter SemiBold" panose="020B0604020202020204" charset="0"/>
              </a:rPr>
              <a:t>LSTM-based model. </a:t>
            </a:r>
            <a:r>
              <a:rPr lang="en-US" sz="2800" dirty="0">
                <a:solidFill>
                  <a:schemeClr val="bg1">
                    <a:lumMod val="95000"/>
                  </a:schemeClr>
                </a:solidFill>
                <a:latin typeface="Inter SemiBold" panose="020B0604020202020204" charset="0"/>
                <a:ea typeface="Inter SemiBold" panose="020B0604020202020204" charset="0"/>
              </a:rPr>
              <a:t>This enables proactive maintenance, reducing downtime and improving engine reliability and safety. The model analyzes historical sensor data to capture temporal patterns, and results are visualized through dashboards for easy monitoring. The project demonstrates the application of deep learning for real-world predictive maintenance.</a:t>
            </a:r>
            <a:endParaRPr sz="2800" dirty="0">
              <a:solidFill>
                <a:schemeClr val="bg1">
                  <a:lumMod val="95000"/>
                </a:schemeClr>
              </a:solidFill>
              <a:latin typeface="Inter SemiBold" panose="020B0604020202020204" charset="0"/>
              <a:ea typeface="Inter SemiBold" panose="020B0604020202020204" charset="0"/>
            </a:endParaRPr>
          </a:p>
        </p:txBody>
      </p:sp>
      <p:sp>
        <p:nvSpPr>
          <p:cNvPr id="2" name="Google Shape;116;p11">
            <a:extLst>
              <a:ext uri="{FF2B5EF4-FFF2-40B4-BE49-F238E27FC236}">
                <a16:creationId xmlns:a16="http://schemas.microsoft.com/office/drawing/2014/main" id="{242E730F-F1C8-67CA-3142-D55D72016392}"/>
              </a:ext>
            </a:extLst>
          </p:cNvPr>
          <p:cNvSpPr txBox="1"/>
          <p:nvPr/>
        </p:nvSpPr>
        <p:spPr>
          <a:xfrm>
            <a:off x="6628597" y="5020059"/>
            <a:ext cx="3402300" cy="553998"/>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F8EFE5"/>
                </a:solidFill>
                <a:latin typeface="Inter"/>
                <a:ea typeface="Inter"/>
                <a:sym typeface="Inter"/>
              </a:rPr>
              <a:t>Objective</a:t>
            </a:r>
            <a:endParaRPr dirty="0"/>
          </a:p>
        </p:txBody>
      </p:sp>
      <p:pic>
        <p:nvPicPr>
          <p:cNvPr id="4" name="Picture 3">
            <a:extLst>
              <a:ext uri="{FF2B5EF4-FFF2-40B4-BE49-F238E27FC236}">
                <a16:creationId xmlns:a16="http://schemas.microsoft.com/office/drawing/2014/main" id="{815113B2-6E57-3FB8-CC80-BCD8D35AEAE3}"/>
              </a:ext>
            </a:extLst>
          </p:cNvPr>
          <p:cNvPicPr>
            <a:picLocks noChangeAspect="1"/>
          </p:cNvPicPr>
          <p:nvPr/>
        </p:nvPicPr>
        <p:blipFill>
          <a:blip r:embed="rId3"/>
          <a:stretch>
            <a:fillRect/>
          </a:stretch>
        </p:blipFill>
        <p:spPr>
          <a:xfrm>
            <a:off x="11682006" y="475561"/>
            <a:ext cx="5811061" cy="396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p:cNvGrpSpPr/>
        <p:nvPr/>
      </p:nvGrpSpPr>
      <p:grpSpPr>
        <a:xfrm>
          <a:off x="0" y="0"/>
          <a:ext cx="0" cy="0"/>
          <a:chOff x="0" y="0"/>
          <a:chExt cx="0" cy="0"/>
        </a:xfrm>
      </p:grpSpPr>
      <p:sp>
        <p:nvSpPr>
          <p:cNvPr id="93" name="Google Shape;93;p10"/>
          <p:cNvSpPr txBox="1"/>
          <p:nvPr/>
        </p:nvSpPr>
        <p:spPr>
          <a:xfrm>
            <a:off x="2964657" y="445194"/>
            <a:ext cx="12358686"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Preprocessing &amp; Feature Engineering</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3A3B1713-4DF6-BB27-D5CC-708BFBEDCD1D}"/>
              </a:ext>
            </a:extLst>
          </p:cNvPr>
          <p:cNvSpPr/>
          <p:nvPr/>
        </p:nvSpPr>
        <p:spPr>
          <a:xfrm>
            <a:off x="450056" y="1885950"/>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E823098-CAFE-297B-3422-DE1A2C502DBC}"/>
              </a:ext>
            </a:extLst>
          </p:cNvPr>
          <p:cNvSpPr txBox="1"/>
          <p:nvPr/>
        </p:nvSpPr>
        <p:spPr>
          <a:xfrm>
            <a:off x="828675" y="2116614"/>
            <a:ext cx="11601450" cy="6986528"/>
          </a:xfrm>
          <a:prstGeom prst="rect">
            <a:avLst/>
          </a:prstGeom>
          <a:noFill/>
        </p:spPr>
        <p:txBody>
          <a:bodyPr wrap="square">
            <a:spAutoFit/>
          </a:bodyPr>
          <a:lstStyle/>
          <a:p>
            <a:pPr>
              <a:buNone/>
            </a:pPr>
            <a:r>
              <a:rPr lang="en-IN" sz="2800" b="1" dirty="0">
                <a:solidFill>
                  <a:schemeClr val="accent6">
                    <a:lumMod val="75000"/>
                  </a:schemeClr>
                </a:solidFill>
                <a:latin typeface="Inter SemiBold" panose="020B0604020202020204" charset="0"/>
                <a:ea typeface="Inter SemiBold" panose="020B0604020202020204" charset="0"/>
              </a:rPr>
              <a:t>1. Load Data</a:t>
            </a:r>
            <a:endParaRPr lang="en-IN" sz="2400" dirty="0">
              <a:solidFill>
                <a:schemeClr val="accent6">
                  <a:lumMod val="75000"/>
                </a:schemeClr>
              </a:solidFill>
              <a:latin typeface="Inter SemiBold" panose="020B0604020202020204" charset="0"/>
              <a:ea typeface="Inter SemiBold" panose="020B0604020202020204" charset="0"/>
            </a:endParaRPr>
          </a:p>
          <a:p>
            <a:pPr marL="342900" lvl="5"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Imported training (train_FD001.txt) and test (test_FD001.txt) datasets, along with true RUL labels (RUL_FD001.txt).</a:t>
            </a:r>
          </a:p>
          <a:p>
            <a:pPr marL="342900" lvl="7"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Defined column names for engine settings and sensor readings.</a:t>
            </a:r>
          </a:p>
          <a:p>
            <a:pPr>
              <a:buNone/>
            </a:pPr>
            <a:r>
              <a:rPr lang="en-IN" sz="2800" b="1" dirty="0">
                <a:solidFill>
                  <a:schemeClr val="accent6">
                    <a:lumMod val="75000"/>
                  </a:schemeClr>
                </a:solidFill>
                <a:latin typeface="Inter SemiBold" panose="020B0604020202020204" charset="0"/>
                <a:ea typeface="Inter SemiBold" panose="020B0604020202020204" charset="0"/>
              </a:rPr>
              <a:t>2. Preprocessing</a:t>
            </a:r>
            <a:endParaRPr lang="en-IN" sz="24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RUL Calculation:</a:t>
            </a:r>
            <a:r>
              <a:rPr lang="en-IN" sz="2400" dirty="0">
                <a:solidFill>
                  <a:srgbClr val="92D050"/>
                </a:solidFill>
                <a:latin typeface="Inter SemiBold" panose="020B0604020202020204" charset="0"/>
                <a:ea typeface="Inter SemiBold" panose="020B0604020202020204" charset="0"/>
              </a:rPr>
              <a:t> </a:t>
            </a:r>
            <a:r>
              <a:rPr lang="en-IN" sz="2400" dirty="0">
                <a:solidFill>
                  <a:schemeClr val="bg1"/>
                </a:solidFill>
                <a:latin typeface="Inter SemiBold" panose="020B0604020202020204" charset="0"/>
                <a:ea typeface="Inter SemiBold" panose="020B0604020202020204" charset="0"/>
              </a:rPr>
              <a:t>Added Remaining Useful Life (RUL) to training data (RUL = max_cycle - current_cycle, capped at 125).</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Sensor Selection:</a:t>
            </a:r>
            <a:r>
              <a:rPr lang="en-IN" sz="2400" dirty="0">
                <a:solidFill>
                  <a:srgbClr val="92D050"/>
                </a:solidFill>
                <a:latin typeface="Inter SemiBold" panose="020B0604020202020204" charset="0"/>
                <a:ea typeface="Inter SemiBold" panose="020B0604020202020204" charset="0"/>
              </a:rPr>
              <a:t> </a:t>
            </a:r>
            <a:r>
              <a:rPr lang="en-IN" sz="2400" dirty="0">
                <a:solidFill>
                  <a:schemeClr val="bg1"/>
                </a:solidFill>
                <a:latin typeface="Inter SemiBold" panose="020B0604020202020204" charset="0"/>
                <a:ea typeface="Inter SemiBold" panose="020B0604020202020204" charset="0"/>
              </a:rPr>
              <a:t>Dropped constant sensors to reduce noise.</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Feature Engineering:</a:t>
            </a:r>
            <a:r>
              <a:rPr lang="en-IN" sz="2400" dirty="0">
                <a:solidFill>
                  <a:schemeClr val="bg1"/>
                </a:solidFill>
                <a:latin typeface="Inter SemiBold" panose="020B0604020202020204" charset="0"/>
                <a:ea typeface="Inter SemiBold" panose="020B0604020202020204" charset="0"/>
              </a:rPr>
              <a:t> Added rolling mean &amp; standard deviation (window=5) for each sensor.</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Scaling:</a:t>
            </a:r>
            <a:r>
              <a:rPr lang="en-IN" sz="2400" dirty="0">
                <a:solidFill>
                  <a:schemeClr val="bg1"/>
                </a:solidFill>
                <a:latin typeface="Inter SemiBold" panose="020B0604020202020204" charset="0"/>
                <a:ea typeface="Inter SemiBold" panose="020B0604020202020204" charset="0"/>
              </a:rPr>
              <a:t> Min-Max normalization applied to all features.</a:t>
            </a:r>
          </a:p>
          <a:p>
            <a:pPr>
              <a:buNone/>
            </a:pPr>
            <a:r>
              <a:rPr lang="en-IN" sz="2800" b="1" dirty="0">
                <a:solidFill>
                  <a:schemeClr val="accent6">
                    <a:lumMod val="75000"/>
                  </a:schemeClr>
                </a:solidFill>
                <a:latin typeface="Inter SemiBold" panose="020B0604020202020204" charset="0"/>
                <a:ea typeface="Inter SemiBold" panose="020B0604020202020204" charset="0"/>
              </a:rPr>
              <a:t>3. Sequence Generation</a:t>
            </a:r>
            <a:endParaRPr lang="en-IN" sz="28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Generated sequences of length 30 for LSTM input.</a:t>
            </a: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Each sequence contains sensor features + RUL label.</a:t>
            </a: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Training sequences from all cycles, test sequences aligned with true RUL.</a:t>
            </a:r>
          </a:p>
          <a:p>
            <a:pPr>
              <a:buNone/>
            </a:pPr>
            <a:r>
              <a:rPr lang="en-IN" sz="2800" b="1" dirty="0">
                <a:solidFill>
                  <a:schemeClr val="accent6">
                    <a:lumMod val="75000"/>
                  </a:schemeClr>
                </a:solidFill>
                <a:latin typeface="Inter SemiBold" panose="020B0604020202020204" charset="0"/>
                <a:ea typeface="Inter SemiBold" panose="020B0604020202020204" charset="0"/>
              </a:rPr>
              <a:t>4. Save Processed Data</a:t>
            </a:r>
            <a:endParaRPr lang="en-IN" sz="28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All sequences saved as a compressed .npz file for model training (FD004_sequences.npz).</a:t>
            </a:r>
          </a:p>
        </p:txBody>
      </p:sp>
      <p:pic>
        <p:nvPicPr>
          <p:cNvPr id="8" name="Picture 7">
            <a:extLst>
              <a:ext uri="{FF2B5EF4-FFF2-40B4-BE49-F238E27FC236}">
                <a16:creationId xmlns:a16="http://schemas.microsoft.com/office/drawing/2014/main" id="{990114F9-6946-CF3C-4AB1-FFFB4AE646D5}"/>
              </a:ext>
            </a:extLst>
          </p:cNvPr>
          <p:cNvPicPr>
            <a:picLocks noChangeAspect="1"/>
          </p:cNvPicPr>
          <p:nvPr/>
        </p:nvPicPr>
        <p:blipFill>
          <a:blip r:embed="rId3"/>
          <a:stretch>
            <a:fillRect/>
          </a:stretch>
        </p:blipFill>
        <p:spPr>
          <a:xfrm>
            <a:off x="14177760" y="2466565"/>
            <a:ext cx="2905530" cy="586821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328C2FA0-D23C-95CE-3C88-67FAF36FBBB2}"/>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FAF03E3C-E86D-DB8E-C2A1-4EF0870EFA2E}"/>
              </a:ext>
            </a:extLst>
          </p:cNvPr>
          <p:cNvSpPr txBox="1"/>
          <p:nvPr/>
        </p:nvSpPr>
        <p:spPr>
          <a:xfrm>
            <a:off x="6320057" y="406400"/>
            <a:ext cx="4594685"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Model Building</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86E61566-F46E-B7E3-CCF7-48DE965F6D18}"/>
              </a:ext>
            </a:extLst>
          </p:cNvPr>
          <p:cNvSpPr/>
          <p:nvPr/>
        </p:nvSpPr>
        <p:spPr>
          <a:xfrm>
            <a:off x="450056" y="1885950"/>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DA90AC3-4E22-E9AF-225E-706CEC3F1A93}"/>
              </a:ext>
            </a:extLst>
          </p:cNvPr>
          <p:cNvSpPr txBox="1"/>
          <p:nvPr/>
        </p:nvSpPr>
        <p:spPr>
          <a:xfrm>
            <a:off x="942975" y="1993106"/>
            <a:ext cx="11601450" cy="7386638"/>
          </a:xfrm>
          <a:prstGeom prst="rect">
            <a:avLst/>
          </a:prstGeom>
          <a:noFill/>
        </p:spPr>
        <p:txBody>
          <a:bodyPr wrap="square">
            <a:spAutoFit/>
          </a:bodyPr>
          <a:lstStyle/>
          <a:p>
            <a:r>
              <a:rPr lang="en-IN" sz="2000" b="1" dirty="0">
                <a:solidFill>
                  <a:schemeClr val="accent6">
                    <a:lumMod val="75000"/>
                  </a:schemeClr>
                </a:solidFill>
                <a:latin typeface="Inter SemiBold" panose="020B0604020202020204" charset="0"/>
                <a:ea typeface="Inter SemiBold" panose="020B0604020202020204" charset="0"/>
              </a:rPr>
              <a:t>1. Model Architecture</a:t>
            </a:r>
            <a:endParaRPr lang="en-IN" sz="18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Input:</a:t>
            </a:r>
            <a:r>
              <a:rPr lang="en-IN" sz="1800" dirty="0">
                <a:solidFill>
                  <a:schemeClr val="bg1">
                    <a:lumMod val="95000"/>
                  </a:schemeClr>
                </a:solidFill>
                <a:latin typeface="Inter SemiBold" panose="020B0604020202020204" charset="0"/>
                <a:ea typeface="Inter SemiBold" panose="020B0604020202020204" charset="0"/>
              </a:rPr>
              <a:t> Sequences of length 30 × number of sensor features.</a:t>
            </a: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LSTM Layers:</a:t>
            </a:r>
          </a:p>
          <a:p>
            <a:pPr>
              <a:buClr>
                <a:schemeClr val="bg1">
                  <a:lumMod val="95000"/>
                </a:schemeClr>
              </a:buClr>
            </a:pPr>
            <a:r>
              <a:rPr lang="en-IN" sz="1800" b="1" dirty="0">
                <a:solidFill>
                  <a:srgbClr val="92D050"/>
                </a:solidFill>
                <a:latin typeface="Inter SemiBold" panose="020B0604020202020204" charset="0"/>
                <a:ea typeface="Inter SemiBold" panose="020B0604020202020204" charset="0"/>
              </a:rPr>
              <a:t>                </a:t>
            </a:r>
            <a:r>
              <a:rPr lang="en-IN" sz="1800" dirty="0">
                <a:solidFill>
                  <a:schemeClr val="bg1">
                    <a:lumMod val="95000"/>
                  </a:schemeClr>
                </a:solidFill>
                <a:latin typeface="Inter SemiBold" panose="020B0604020202020204" charset="0"/>
                <a:ea typeface="Inter SemiBold" panose="020B0604020202020204" charset="0"/>
              </a:rPr>
              <a:t>128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endParaRPr lang="en-IN" sz="1800" dirty="0">
              <a:solidFill>
                <a:schemeClr val="bg1">
                  <a:lumMod val="95000"/>
                </a:schemeClr>
              </a:solidFill>
              <a:latin typeface="Inter SemiBold" panose="020B0604020202020204" charset="0"/>
              <a:ea typeface="Inter SemiBold" panose="020B0604020202020204" charset="0"/>
            </a:endParaRPr>
          </a:p>
          <a:p>
            <a:pPr lvl="4">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64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endParaRPr lang="en-IN" sz="1800" dirty="0">
              <a:solidFill>
                <a:schemeClr val="bg1">
                  <a:lumMod val="95000"/>
                </a:schemeClr>
              </a:solidFill>
              <a:latin typeface="Inter SemiBold" panose="020B0604020202020204" charset="0"/>
              <a:ea typeface="Inter SemiBold" panose="020B0604020202020204" charset="0"/>
            </a:endParaRPr>
          </a:p>
          <a:p>
            <a:pPr lvl="4">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32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br>
              <a:rPr lang="en-IN" sz="1800" dirty="0">
                <a:solidFill>
                  <a:schemeClr val="bg1">
                    <a:lumMod val="95000"/>
                  </a:schemeClr>
                </a:solidFill>
                <a:latin typeface="Inter SemiBold" panose="020B0604020202020204" charset="0"/>
                <a:ea typeface="Inter SemiBold" panose="020B0604020202020204" charset="0"/>
              </a:rPr>
            </a:br>
            <a:r>
              <a:rPr lang="en-IN" sz="1800" dirty="0">
                <a:solidFill>
                  <a:schemeClr val="bg1">
                    <a:lumMod val="95000"/>
                  </a:schemeClr>
                </a:solidFill>
                <a:latin typeface="Inter SemiBold" panose="020B0604020202020204" charset="0"/>
                <a:ea typeface="Inter SemiBold" panose="020B0604020202020204" charset="0"/>
              </a:rPr>
              <a:t>               </a:t>
            </a:r>
            <a:r>
              <a:rPr lang="en-IN" sz="1800" i="1" dirty="0">
                <a:solidFill>
                  <a:schemeClr val="bg1">
                    <a:lumMod val="95000"/>
                  </a:schemeClr>
                </a:solidFill>
                <a:latin typeface="Inter SemiBold" panose="020B0604020202020204" charset="0"/>
                <a:ea typeface="Inter SemiBold" panose="020B0604020202020204" charset="0"/>
              </a:rPr>
              <a:t>Batch Normalization stabilizes learning by normalizing layer inputs, improving convergence.</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Dense Layers:</a:t>
            </a:r>
          </a:p>
          <a:p>
            <a:pPr>
              <a:buClr>
                <a:schemeClr val="bg1">
                  <a:lumMod val="95000"/>
                </a:schemeClr>
              </a:buClr>
            </a:pPr>
            <a:r>
              <a:rPr lang="en-IN" sz="1800" b="1" dirty="0">
                <a:solidFill>
                  <a:srgbClr val="92D050"/>
                </a:solidFill>
                <a:latin typeface="Inter SemiBold" panose="020B0604020202020204" charset="0"/>
                <a:ea typeface="Inter SemiBold" panose="020B0604020202020204" charset="0"/>
              </a:rPr>
              <a:t>              </a:t>
            </a:r>
            <a:r>
              <a:rPr lang="en-IN" sz="1800" dirty="0">
                <a:solidFill>
                  <a:schemeClr val="bg1">
                    <a:lumMod val="95000"/>
                  </a:schemeClr>
                </a:solidFill>
                <a:latin typeface="Inter SemiBold" panose="020B0604020202020204" charset="0"/>
                <a:ea typeface="Inter SemiBold" panose="020B0604020202020204" charset="0"/>
              </a:rPr>
              <a:t> 64 → </a:t>
            </a:r>
            <a:r>
              <a:rPr lang="en-IN" sz="1800" dirty="0" err="1">
                <a:solidFill>
                  <a:schemeClr val="bg1">
                    <a:lumMod val="95000"/>
                  </a:schemeClr>
                </a:solidFill>
                <a:latin typeface="Inter SemiBold" panose="020B0604020202020204" charset="0"/>
                <a:ea typeface="Inter SemiBold" panose="020B0604020202020204" charset="0"/>
              </a:rPr>
              <a:t>ReLU</a:t>
            </a:r>
            <a:r>
              <a:rPr lang="en-IN" sz="1800" dirty="0">
                <a:solidFill>
                  <a:schemeClr val="bg1">
                    <a:lumMod val="95000"/>
                  </a:schemeClr>
                </a:solidFill>
                <a:latin typeface="Inter SemiBold" panose="020B0604020202020204" charset="0"/>
                <a:ea typeface="Inter SemiBold" panose="020B0604020202020204" charset="0"/>
              </a:rPr>
              <a:t> → Dropout 0.2</a:t>
            </a:r>
          </a:p>
          <a:p>
            <a:pPr lvl="1">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32 → </a:t>
            </a:r>
            <a:r>
              <a:rPr lang="en-IN" sz="1800" dirty="0" err="1">
                <a:solidFill>
                  <a:schemeClr val="bg1">
                    <a:lumMod val="95000"/>
                  </a:schemeClr>
                </a:solidFill>
                <a:latin typeface="Inter SemiBold" panose="020B0604020202020204" charset="0"/>
                <a:ea typeface="Inter SemiBold" panose="020B0604020202020204" charset="0"/>
              </a:rPr>
              <a:t>ReLU</a:t>
            </a:r>
            <a:r>
              <a:rPr lang="en-IN" sz="1800" dirty="0">
                <a:solidFill>
                  <a:schemeClr val="bg1">
                    <a:lumMod val="95000"/>
                  </a:schemeClr>
                </a:solidFill>
                <a:latin typeface="Inter SemiBold" panose="020B0604020202020204" charset="0"/>
                <a:ea typeface="Inter SemiBold" panose="020B0604020202020204" charset="0"/>
              </a:rPr>
              <a:t> → Dropout 0.2</a:t>
            </a:r>
          </a:p>
          <a:p>
            <a:pPr marL="285750" lvl="1"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1 output neuron (RUL prediction)</a:t>
            </a:r>
            <a:br>
              <a:rPr lang="en-IN" sz="1800" dirty="0">
                <a:solidFill>
                  <a:schemeClr val="bg1">
                    <a:lumMod val="95000"/>
                  </a:schemeClr>
                </a:solidFill>
                <a:latin typeface="Inter SemiBold" panose="020B0604020202020204" charset="0"/>
                <a:ea typeface="Inter SemiBold" panose="020B0604020202020204" charset="0"/>
              </a:rPr>
            </a:br>
            <a:r>
              <a:rPr lang="en-IN" sz="1800" i="1" dirty="0">
                <a:solidFill>
                  <a:schemeClr val="bg1">
                    <a:lumMod val="95000"/>
                  </a:schemeClr>
                </a:solidFill>
                <a:latin typeface="Inter SemiBold" panose="020B0604020202020204" charset="0"/>
                <a:ea typeface="Inter SemiBold" panose="020B0604020202020204" charset="0"/>
              </a:rPr>
              <a:t>Dense layers map extracted sequential features to RUL; </a:t>
            </a:r>
            <a:r>
              <a:rPr lang="en-IN" sz="1800" i="1" dirty="0" err="1">
                <a:solidFill>
                  <a:schemeClr val="bg1">
                    <a:lumMod val="95000"/>
                  </a:schemeClr>
                </a:solidFill>
                <a:latin typeface="Inter SemiBold" panose="020B0604020202020204" charset="0"/>
                <a:ea typeface="Inter SemiBold" panose="020B0604020202020204" charset="0"/>
              </a:rPr>
              <a:t>ReLU</a:t>
            </a:r>
            <a:r>
              <a:rPr lang="en-IN" sz="1800" i="1" dirty="0">
                <a:solidFill>
                  <a:schemeClr val="bg1">
                    <a:lumMod val="95000"/>
                  </a:schemeClr>
                </a:solidFill>
                <a:latin typeface="Inter SemiBold" panose="020B0604020202020204" charset="0"/>
                <a:ea typeface="Inter SemiBold" panose="020B0604020202020204" charset="0"/>
              </a:rPr>
              <a:t> adds non-linearity, dropout prevents overfitting.</a:t>
            </a:r>
            <a:endParaRPr lang="en-IN" sz="1800" dirty="0">
              <a:solidFill>
                <a:schemeClr val="bg1">
                  <a:lumMod val="95000"/>
                </a:schemeClr>
              </a:solidFill>
              <a:latin typeface="Inter SemiBold" panose="020B0604020202020204" charset="0"/>
              <a:ea typeface="Inter SemiBold" panose="020B0604020202020204" charset="0"/>
            </a:endParaRPr>
          </a:p>
          <a:p>
            <a:r>
              <a:rPr lang="en-IN" sz="2000" b="1" dirty="0">
                <a:solidFill>
                  <a:schemeClr val="accent6">
                    <a:lumMod val="75000"/>
                  </a:schemeClr>
                </a:solidFill>
                <a:latin typeface="Inter SemiBold" panose="020B0604020202020204" charset="0"/>
                <a:ea typeface="Inter SemiBold" panose="020B0604020202020204" charset="0"/>
              </a:rPr>
              <a:t>2. Compilation &amp; Loss</a:t>
            </a:r>
            <a:endParaRPr lang="en-IN" sz="20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Optimizer:</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Adam</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Loss:</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Mean Squared Error (MSE)</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Metric</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Mean Absolute Error (MAE)</a:t>
            </a:r>
            <a:endParaRPr lang="en-IN" sz="1800" dirty="0">
              <a:solidFill>
                <a:schemeClr val="bg1">
                  <a:lumMod val="95000"/>
                </a:schemeClr>
              </a:solidFill>
              <a:latin typeface="Inter SemiBold" panose="020B0604020202020204" charset="0"/>
              <a:ea typeface="Inter SemiBold" panose="020B0604020202020204" charset="0"/>
            </a:endParaRPr>
          </a:p>
          <a:p>
            <a:r>
              <a:rPr lang="en-IN" sz="2000" b="1" dirty="0">
                <a:solidFill>
                  <a:schemeClr val="accent6">
                    <a:lumMod val="75000"/>
                  </a:schemeClr>
                </a:solidFill>
                <a:latin typeface="Inter SemiBold" panose="020B0604020202020204" charset="0"/>
                <a:ea typeface="Inter SemiBold" panose="020B0604020202020204" charset="0"/>
              </a:rPr>
              <a:t>3. Training Strategy</a:t>
            </a:r>
            <a:endParaRPr lang="en-IN" sz="18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chemeClr val="bg1">
                    <a:lumMod val="95000"/>
                  </a:schemeClr>
                </a:solidFill>
                <a:latin typeface="Inter SemiBold" panose="020B0604020202020204" charset="0"/>
                <a:ea typeface="Inter SemiBold" panose="020B0604020202020204" charset="0"/>
              </a:rPr>
              <a:t>Epochs: 100, Batch size: 64, Validation split: 15%</a:t>
            </a: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Callbacks:</a:t>
            </a:r>
            <a:endParaRPr lang="en-IN" sz="1800" dirty="0">
              <a:solidFill>
                <a:srgbClr val="92D050"/>
              </a:solidFill>
              <a:latin typeface="Inter SemiBold" panose="020B0604020202020204" charset="0"/>
              <a:ea typeface="Inter SemiBold" panose="020B0604020202020204" charset="0"/>
            </a:endParaRPr>
          </a:p>
          <a:p>
            <a:pPr lvl="2">
              <a:buClr>
                <a:schemeClr val="bg1">
                  <a:lumMod val="95000"/>
                </a:schemeClr>
              </a:buClr>
            </a:pPr>
            <a:r>
              <a:rPr lang="en-IN" sz="1800" b="1" dirty="0">
                <a:solidFill>
                  <a:schemeClr val="bg1">
                    <a:lumMod val="95000"/>
                  </a:schemeClr>
                </a:solidFill>
                <a:latin typeface="Inter SemiBold" panose="020B0604020202020204" charset="0"/>
                <a:ea typeface="Inter SemiBold" panose="020B0604020202020204" charset="0"/>
              </a:rPr>
              <a:t>             </a:t>
            </a:r>
            <a:r>
              <a:rPr lang="en-IN" sz="1800" b="1" dirty="0" err="1">
                <a:solidFill>
                  <a:schemeClr val="bg1">
                    <a:lumMod val="95000"/>
                  </a:schemeClr>
                </a:solidFill>
                <a:latin typeface="Inter SemiBold" panose="020B0604020202020204" charset="0"/>
                <a:ea typeface="Inter SemiBold" panose="020B0604020202020204" charset="0"/>
              </a:rPr>
              <a:t>EarlyStopping</a:t>
            </a:r>
            <a:r>
              <a:rPr lang="en-IN" sz="1800" b="1" dirty="0">
                <a:solidFill>
                  <a:schemeClr val="bg1">
                    <a:lumMod val="95000"/>
                  </a:schemeClr>
                </a:solidFill>
                <a:latin typeface="Inter SemiBold" panose="020B0604020202020204" charset="0"/>
                <a:ea typeface="Inter SemiBold" panose="020B0604020202020204" charset="0"/>
              </a:rPr>
              <a:t>:</a:t>
            </a:r>
            <a:r>
              <a:rPr lang="en-IN" sz="1800" dirty="0">
                <a:solidFill>
                  <a:schemeClr val="bg1">
                    <a:lumMod val="95000"/>
                  </a:schemeClr>
                </a:solidFill>
                <a:latin typeface="Inter SemiBold" panose="020B0604020202020204" charset="0"/>
                <a:ea typeface="Inter SemiBold" panose="020B0604020202020204" charset="0"/>
              </a:rPr>
              <a:t> Stops training if validation loss doesn’t improve, preventing overfitting.</a:t>
            </a:r>
          </a:p>
          <a:p>
            <a:pPr lvl="2">
              <a:buClr>
                <a:schemeClr val="bg1">
                  <a:lumMod val="95000"/>
                </a:schemeClr>
              </a:buClr>
            </a:pPr>
            <a:r>
              <a:rPr lang="en-IN" sz="1800" b="1" dirty="0">
                <a:solidFill>
                  <a:schemeClr val="bg1">
                    <a:lumMod val="95000"/>
                  </a:schemeClr>
                </a:solidFill>
                <a:latin typeface="Inter SemiBold" panose="020B0604020202020204" charset="0"/>
                <a:ea typeface="Inter SemiBold" panose="020B0604020202020204" charset="0"/>
              </a:rPr>
              <a:t>             </a:t>
            </a:r>
            <a:r>
              <a:rPr lang="en-IN" sz="1800" b="1" dirty="0" err="1">
                <a:solidFill>
                  <a:schemeClr val="bg1">
                    <a:lumMod val="95000"/>
                  </a:schemeClr>
                </a:solidFill>
                <a:latin typeface="Inter SemiBold" panose="020B0604020202020204" charset="0"/>
                <a:ea typeface="Inter SemiBold" panose="020B0604020202020204" charset="0"/>
              </a:rPr>
              <a:t>ReduceLROnPlateau</a:t>
            </a:r>
            <a:r>
              <a:rPr lang="en-IN" sz="1800" b="1" dirty="0">
                <a:solidFill>
                  <a:schemeClr val="bg1">
                    <a:lumMod val="95000"/>
                  </a:schemeClr>
                </a:solidFill>
                <a:latin typeface="Inter SemiBold" panose="020B0604020202020204" charset="0"/>
                <a:ea typeface="Inter SemiBold" panose="020B0604020202020204" charset="0"/>
              </a:rPr>
              <a:t>:</a:t>
            </a:r>
            <a:r>
              <a:rPr lang="en-IN" sz="1800" dirty="0">
                <a:solidFill>
                  <a:schemeClr val="bg1">
                    <a:lumMod val="95000"/>
                  </a:schemeClr>
                </a:solidFill>
                <a:latin typeface="Inter SemiBold" panose="020B0604020202020204" charset="0"/>
                <a:ea typeface="Inter SemiBold" panose="020B0604020202020204" charset="0"/>
              </a:rPr>
              <a:t> Reduces learning rate when loss plateaus for stable convergence.</a:t>
            </a:r>
          </a:p>
          <a:p>
            <a:r>
              <a:rPr lang="en-IN" sz="2000" b="1" dirty="0">
                <a:solidFill>
                  <a:schemeClr val="accent6">
                    <a:lumMod val="75000"/>
                  </a:schemeClr>
                </a:solidFill>
                <a:latin typeface="Inter SemiBold" panose="020B0604020202020204" charset="0"/>
                <a:ea typeface="Inter SemiBold" panose="020B0604020202020204" charset="0"/>
              </a:rPr>
              <a:t>4. Evaluation Metrics</a:t>
            </a:r>
            <a:endParaRPr lang="en-IN" sz="20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RMSE:</a:t>
            </a:r>
            <a:r>
              <a:rPr lang="en-IN" sz="1800" dirty="0">
                <a:solidFill>
                  <a:schemeClr val="bg1">
                    <a:lumMod val="95000"/>
                  </a:schemeClr>
                </a:solidFill>
                <a:latin typeface="Inter SemiBold" panose="020B0604020202020204" charset="0"/>
                <a:ea typeface="Inter SemiBold" panose="020B0604020202020204" charset="0"/>
              </a:rPr>
              <a:t> Measures prediction error magnitude</a:t>
            </a: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R² Score:</a:t>
            </a:r>
            <a:r>
              <a:rPr lang="en-IN" sz="1800" dirty="0">
                <a:solidFill>
                  <a:schemeClr val="bg1">
                    <a:lumMod val="95000"/>
                  </a:schemeClr>
                </a:solidFill>
                <a:latin typeface="Inter SemiBold" panose="020B0604020202020204" charset="0"/>
                <a:ea typeface="Inter SemiBold" panose="020B0604020202020204" charset="0"/>
              </a:rPr>
              <a:t> Indicates how well predicted RUL matches actual values</a:t>
            </a:r>
          </a:p>
          <a:p>
            <a:pPr>
              <a:buNone/>
            </a:pPr>
            <a:endParaRPr lang="en-IN" sz="1800" dirty="0">
              <a:solidFill>
                <a:schemeClr val="bg1">
                  <a:lumMod val="95000"/>
                </a:schemeClr>
              </a:solidFill>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8377950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7E729ED0-C467-869B-C061-38BDE81EFF99}"/>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D8A1C149-CD64-46F8-5E09-5920514BC7D0}"/>
              </a:ext>
            </a:extLst>
          </p:cNvPr>
          <p:cNvSpPr txBox="1"/>
          <p:nvPr/>
        </p:nvSpPr>
        <p:spPr>
          <a:xfrm>
            <a:off x="6320057" y="406400"/>
            <a:ext cx="5981481"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Model Evaluation</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00B12B2C-0D25-A48C-0778-EF68D7D302E9}"/>
              </a:ext>
            </a:extLst>
          </p:cNvPr>
          <p:cNvSpPr/>
          <p:nvPr/>
        </p:nvSpPr>
        <p:spPr>
          <a:xfrm>
            <a:off x="350043" y="1902301"/>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6" name="Rectangle 3">
            <a:extLst>
              <a:ext uri="{FF2B5EF4-FFF2-40B4-BE49-F238E27FC236}">
                <a16:creationId xmlns:a16="http://schemas.microsoft.com/office/drawing/2014/main" id="{790A4D25-23BC-B261-F99A-AA86A6B88699}"/>
              </a:ext>
            </a:extLst>
          </p:cNvPr>
          <p:cNvSpPr>
            <a:spLocks noChangeArrowheads="1"/>
          </p:cNvSpPr>
          <p:nvPr/>
        </p:nvSpPr>
        <p:spPr bwMode="auto">
          <a:xfrm>
            <a:off x="928687" y="2276742"/>
            <a:ext cx="10987088" cy="6247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Loaded Test Data &amp; Trained Model</a:t>
            </a:r>
            <a:endParaRPr lang="en-US" altLang="en-US" sz="2400" dirty="0">
              <a:solidFill>
                <a:schemeClr val="accent6">
                  <a:lumMod val="75000"/>
                </a:schemeClr>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Imported the saved LSTM model (fd004_model.h5)</a:t>
            </a: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Loaded the test sequences and their true RUL values</a:t>
            </a: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Used the model to predict the RUL for all test samples</a:t>
            </a:r>
          </a:p>
          <a:p>
            <a:pPr lvl="1" eaLnBrk="0" fontAlgn="base" hangingPunct="0">
              <a:spcBef>
                <a:spcPct val="0"/>
              </a:spcBef>
              <a:spcAft>
                <a:spcPct val="0"/>
              </a:spcAft>
              <a:buClrTx/>
            </a:pP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      Calculated Evaluation Metrics</a:t>
            </a:r>
            <a:endPar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Computed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RMSE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MAE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and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R² score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to measure prediction accuracy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Labeled the Predictions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Assigned condition labels based on predicted RUL:</a:t>
            </a:r>
          </a:p>
          <a:p>
            <a:pPr marL="457200" marR="0" lvl="1" indent="0" algn="l" defTabSz="914400" rtl="0" eaLnBrk="0" fontAlgn="base" latinLnBrk="0" hangingPunct="0">
              <a:lnSpc>
                <a:spcPct val="100000"/>
              </a:lnSpc>
              <a:spcBef>
                <a:spcPct val="0"/>
              </a:spcBef>
              <a:spcAft>
                <a:spcPct val="0"/>
              </a:spcAft>
              <a:buClrTx/>
              <a:buSzTx/>
              <a:tabLst/>
            </a:pPr>
            <a:r>
              <a:rPr lang="en-US" altLang="en-US" sz="2400" i="1" dirty="0">
                <a:solidFill>
                  <a:schemeClr val="bg1"/>
                </a:solidFill>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Normal</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Warning</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Critical</a:t>
            </a:r>
            <a:endPar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Generated Visual Analyses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lang="en-US" altLang="en-US" sz="2400" dirty="0">
                <a:solidFill>
                  <a:schemeClr val="bg1"/>
                </a:solidFill>
                <a:latin typeface="Inter SemiBold" panose="020B0604020202020204" charset="0"/>
                <a:ea typeface="Inter SemiBold" panose="020B0604020202020204" charset="0"/>
              </a:rPr>
              <a:t>      </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Created plots showing predicted vs actual RUL, residual distribution, and bias trends</a:t>
            </a:r>
          </a:p>
          <a:p>
            <a:pPr marL="0" marR="0" lvl="0" indent="0"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Saved All Results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Exported metrics, labeled data, and bias analysis as CSV files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Saved all plots in the results folder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solidFill>
              <a:effectLst/>
              <a:latin typeface="Inter SemiBold" panose="020B0604020202020204" charset="0"/>
              <a:ea typeface="Inter SemiBold" panose="020B0604020202020204" charset="0"/>
            </a:endParaRPr>
          </a:p>
        </p:txBody>
      </p:sp>
      <p:pic>
        <p:nvPicPr>
          <p:cNvPr id="3" name="Picture 2">
            <a:extLst>
              <a:ext uri="{FF2B5EF4-FFF2-40B4-BE49-F238E27FC236}">
                <a16:creationId xmlns:a16="http://schemas.microsoft.com/office/drawing/2014/main" id="{C0B779F3-5CC4-E1D4-E526-C89577500041}"/>
              </a:ext>
            </a:extLst>
          </p:cNvPr>
          <p:cNvPicPr>
            <a:picLocks noChangeAspect="1"/>
          </p:cNvPicPr>
          <p:nvPr/>
        </p:nvPicPr>
        <p:blipFill>
          <a:blip r:embed="rId3"/>
          <a:stretch>
            <a:fillRect/>
          </a:stretch>
        </p:blipFill>
        <p:spPr>
          <a:xfrm>
            <a:off x="13405886" y="2914287"/>
            <a:ext cx="3953427" cy="5201376"/>
          </a:xfrm>
          <a:prstGeom prst="rect">
            <a:avLst/>
          </a:prstGeom>
        </p:spPr>
      </p:pic>
    </p:spTree>
    <p:extLst>
      <p:ext uri="{BB962C8B-B14F-4D97-AF65-F5344CB8AC3E}">
        <p14:creationId xmlns:p14="http://schemas.microsoft.com/office/powerpoint/2010/main" val="444246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53278"/>
        </a:solidFill>
        <a:effectLst/>
      </p:bgPr>
    </p:bg>
    <p:spTree>
      <p:nvGrpSpPr>
        <p:cNvPr id="1" name="Shape 190"/>
        <p:cNvGrpSpPr/>
        <p:nvPr/>
      </p:nvGrpSpPr>
      <p:grpSpPr>
        <a:xfrm>
          <a:off x="0" y="0"/>
          <a:ext cx="0" cy="0"/>
          <a:chOff x="0" y="0"/>
          <a:chExt cx="0" cy="0"/>
        </a:xfrm>
      </p:grpSpPr>
      <p:sp>
        <p:nvSpPr>
          <p:cNvPr id="198" name="Google Shape;198;p15"/>
          <p:cNvSpPr txBox="1"/>
          <p:nvPr/>
        </p:nvSpPr>
        <p:spPr>
          <a:xfrm>
            <a:off x="5629275" y="403013"/>
            <a:ext cx="5843588" cy="517065"/>
          </a:xfrm>
          <a:prstGeom prst="rect">
            <a:avLst/>
          </a:prstGeom>
          <a:noFill/>
          <a:ln>
            <a:noFill/>
          </a:ln>
        </p:spPr>
        <p:txBody>
          <a:bodyPr spcFirstLastPara="1" wrap="square" lIns="0" tIns="0" rIns="0" bIns="0" anchor="t" anchorCtr="0">
            <a:spAutoFit/>
          </a:bodyPr>
          <a:lstStyle/>
          <a:p>
            <a:pPr marL="0" marR="0" lvl="0" indent="0" algn="ctr" rtl="0">
              <a:lnSpc>
                <a:spcPct val="119916"/>
              </a:lnSpc>
              <a:spcBef>
                <a:spcPts val="0"/>
              </a:spcBef>
              <a:spcAft>
                <a:spcPts val="0"/>
              </a:spcAft>
              <a:buNone/>
            </a:pPr>
            <a:r>
              <a:rPr lang="en-US" sz="2800" b="1" dirty="0">
                <a:solidFill>
                  <a:srgbClr val="FFFDFC"/>
                </a:solidFill>
                <a:latin typeface=" inter semibold"/>
                <a:ea typeface="Inter"/>
                <a:sym typeface="Inter"/>
              </a:rPr>
              <a:t>Results of the model evaluation</a:t>
            </a:r>
            <a:endParaRPr sz="2800" dirty="0">
              <a:latin typeface=" inter semibold"/>
            </a:endParaRPr>
          </a:p>
        </p:txBody>
      </p:sp>
      <p:pic>
        <p:nvPicPr>
          <p:cNvPr id="3" name="Picture 2">
            <a:extLst>
              <a:ext uri="{FF2B5EF4-FFF2-40B4-BE49-F238E27FC236}">
                <a16:creationId xmlns:a16="http://schemas.microsoft.com/office/drawing/2014/main" id="{1CF5D34D-E9A0-9D70-3E60-CD1195BFF408}"/>
              </a:ext>
            </a:extLst>
          </p:cNvPr>
          <p:cNvPicPr>
            <a:picLocks noChangeAspect="1"/>
          </p:cNvPicPr>
          <p:nvPr/>
        </p:nvPicPr>
        <p:blipFill>
          <a:blip r:embed="rId3"/>
          <a:stretch>
            <a:fillRect/>
          </a:stretch>
        </p:blipFill>
        <p:spPr>
          <a:xfrm>
            <a:off x="1757363" y="1050125"/>
            <a:ext cx="6248513" cy="4093375"/>
          </a:xfrm>
          <a:prstGeom prst="rect">
            <a:avLst/>
          </a:prstGeom>
        </p:spPr>
      </p:pic>
      <p:pic>
        <p:nvPicPr>
          <p:cNvPr id="5" name="Picture 4">
            <a:extLst>
              <a:ext uri="{FF2B5EF4-FFF2-40B4-BE49-F238E27FC236}">
                <a16:creationId xmlns:a16="http://schemas.microsoft.com/office/drawing/2014/main" id="{B9DF6687-E647-327A-9993-82AEEFD77788}"/>
              </a:ext>
            </a:extLst>
          </p:cNvPr>
          <p:cNvPicPr>
            <a:picLocks noChangeAspect="1"/>
          </p:cNvPicPr>
          <p:nvPr/>
        </p:nvPicPr>
        <p:blipFill>
          <a:blip r:embed="rId4"/>
          <a:stretch>
            <a:fillRect/>
          </a:stretch>
        </p:blipFill>
        <p:spPr>
          <a:xfrm>
            <a:off x="9144000" y="1050125"/>
            <a:ext cx="7215188" cy="4093375"/>
          </a:xfrm>
          <a:prstGeom prst="rect">
            <a:avLst/>
          </a:prstGeom>
        </p:spPr>
      </p:pic>
      <p:pic>
        <p:nvPicPr>
          <p:cNvPr id="7" name="Picture 6">
            <a:extLst>
              <a:ext uri="{FF2B5EF4-FFF2-40B4-BE49-F238E27FC236}">
                <a16:creationId xmlns:a16="http://schemas.microsoft.com/office/drawing/2014/main" id="{47F37C8C-1CE5-5EC6-8481-7601B61B196D}"/>
              </a:ext>
            </a:extLst>
          </p:cNvPr>
          <p:cNvPicPr>
            <a:picLocks noChangeAspect="1"/>
          </p:cNvPicPr>
          <p:nvPr/>
        </p:nvPicPr>
        <p:blipFill>
          <a:blip r:embed="rId5"/>
          <a:stretch>
            <a:fillRect/>
          </a:stretch>
        </p:blipFill>
        <p:spPr>
          <a:xfrm>
            <a:off x="1757363" y="5588007"/>
            <a:ext cx="6338827" cy="4093375"/>
          </a:xfrm>
          <a:prstGeom prst="rect">
            <a:avLst/>
          </a:prstGeom>
        </p:spPr>
      </p:pic>
      <p:pic>
        <p:nvPicPr>
          <p:cNvPr id="11" name="Picture 10">
            <a:extLst>
              <a:ext uri="{FF2B5EF4-FFF2-40B4-BE49-F238E27FC236}">
                <a16:creationId xmlns:a16="http://schemas.microsoft.com/office/drawing/2014/main" id="{525A538F-F531-3D20-EC70-BA8722594E22}"/>
              </a:ext>
            </a:extLst>
          </p:cNvPr>
          <p:cNvPicPr>
            <a:picLocks noChangeAspect="1"/>
          </p:cNvPicPr>
          <p:nvPr/>
        </p:nvPicPr>
        <p:blipFill>
          <a:blip r:embed="rId6"/>
          <a:stretch>
            <a:fillRect/>
          </a:stretch>
        </p:blipFill>
        <p:spPr>
          <a:xfrm>
            <a:off x="9144000" y="5588007"/>
            <a:ext cx="7372350" cy="409337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D54A82A4-F31D-00C8-6E6D-9A53A527ED64}"/>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81BD5A49-0047-CFCE-36E9-9342B747F485}"/>
              </a:ext>
            </a:extLst>
          </p:cNvPr>
          <p:cNvSpPr txBox="1"/>
          <p:nvPr/>
        </p:nvSpPr>
        <p:spPr>
          <a:xfrm>
            <a:off x="5262919" y="333206"/>
            <a:ext cx="8185829"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Dashboard Deployment</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AB597496-D557-2B49-0409-AA3B9504D1F7}"/>
              </a:ext>
            </a:extLst>
          </p:cNvPr>
          <p:cNvSpPr/>
          <p:nvPr/>
        </p:nvSpPr>
        <p:spPr>
          <a:xfrm>
            <a:off x="350043" y="1902301"/>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6" name="Rectangle 3">
            <a:extLst>
              <a:ext uri="{FF2B5EF4-FFF2-40B4-BE49-F238E27FC236}">
                <a16:creationId xmlns:a16="http://schemas.microsoft.com/office/drawing/2014/main" id="{99565ED9-2BE2-716B-582E-4D0A63800333}"/>
              </a:ext>
            </a:extLst>
          </p:cNvPr>
          <p:cNvSpPr>
            <a:spLocks noChangeArrowheads="1"/>
          </p:cNvSpPr>
          <p:nvPr/>
        </p:nvSpPr>
        <p:spPr bwMode="auto">
          <a:xfrm>
            <a:off x="928687" y="5046731"/>
            <a:ext cx="109870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solidFill>
              <a:effectLst/>
              <a:latin typeface="Inter SemiBold" panose="020B0604020202020204" charset="0"/>
              <a:ea typeface="Inter SemiBold" panose="020B0604020202020204" charset="0"/>
            </a:endParaRPr>
          </a:p>
        </p:txBody>
      </p:sp>
      <p:pic>
        <p:nvPicPr>
          <p:cNvPr id="3" name="Picture 2">
            <a:extLst>
              <a:ext uri="{FF2B5EF4-FFF2-40B4-BE49-F238E27FC236}">
                <a16:creationId xmlns:a16="http://schemas.microsoft.com/office/drawing/2014/main" id="{DAC591CA-A86A-E72D-70B4-521754A9ABED}"/>
              </a:ext>
            </a:extLst>
          </p:cNvPr>
          <p:cNvPicPr>
            <a:picLocks noChangeAspect="1"/>
          </p:cNvPicPr>
          <p:nvPr/>
        </p:nvPicPr>
        <p:blipFill>
          <a:blip r:embed="rId3"/>
          <a:stretch>
            <a:fillRect/>
          </a:stretch>
        </p:blipFill>
        <p:spPr>
          <a:xfrm>
            <a:off x="13405886" y="2914287"/>
            <a:ext cx="3953427" cy="5201376"/>
          </a:xfrm>
          <a:prstGeom prst="rect">
            <a:avLst/>
          </a:prstGeom>
        </p:spPr>
      </p:pic>
      <p:sp>
        <p:nvSpPr>
          <p:cNvPr id="2" name="Rectangle 1">
            <a:extLst>
              <a:ext uri="{FF2B5EF4-FFF2-40B4-BE49-F238E27FC236}">
                <a16:creationId xmlns:a16="http://schemas.microsoft.com/office/drawing/2014/main" id="{5D8FE1EF-2D9E-BD49-0B4E-0164A68D2C71}"/>
              </a:ext>
            </a:extLst>
          </p:cNvPr>
          <p:cNvSpPr>
            <a:spLocks noChangeArrowheads="1"/>
          </p:cNvSpPr>
          <p:nvPr/>
        </p:nvSpPr>
        <p:spPr bwMode="auto">
          <a:xfrm>
            <a:off x="847944" y="2732732"/>
            <a:ext cx="10944226"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Data &amp; Model Loading:</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Loads preprocessed test sequences (.npz) and trained LSTM models (.h5) for each FD dataset (FD001–FD004).Fetches label CSVs for reference.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Prediction &amp; Evaluation:</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lvl="1" indent="-342900" eaLnBrk="0" fontAlgn="base" hangingPunct="0">
              <a:spcBef>
                <a:spcPct val="0"/>
              </a:spcBef>
              <a:spcAft>
                <a:spcPct val="0"/>
              </a:spcAft>
              <a:buClrTx/>
              <a:buFont typeface="Arial" panose="020B0604020202020204" pitchFamily="34" charset="0"/>
              <a:buChar char="•"/>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Uses the model to predict RUL values.</a:t>
            </a:r>
          </a:p>
          <a:p>
            <a:pPr marL="342900" lvl="1" indent="-342900" eaLnBrk="0" fontAlgn="base" hangingPunct="0">
              <a:spcBef>
                <a:spcPct val="0"/>
              </a:spcBef>
              <a:spcAft>
                <a:spcPct val="0"/>
              </a:spcAft>
              <a:buClrTx/>
              <a:buFont typeface="Arial" panose="020B0604020202020204" pitchFamily="34" charset="0"/>
              <a:buChar char="•"/>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Computes key metrics —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RMSE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MAE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and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R² Score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for accuracy assessment.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Interactive Dashboard (Dash + </a:t>
            </a:r>
            <a:r>
              <a:rPr kumimoji="0" lang="en-US" altLang="en-US" sz="2000" b="1" i="0" u="none" strike="noStrike" cap="none" normalizeH="0" baseline="0" dirty="0" err="1">
                <a:ln>
                  <a:noFill/>
                </a:ln>
                <a:solidFill>
                  <a:schemeClr val="accent6">
                    <a:lumMod val="75000"/>
                  </a:schemeClr>
                </a:solidFill>
                <a:effectLst/>
                <a:latin typeface="Inter SemiBold" panose="020B0604020202020204" charset="0"/>
                <a:ea typeface="Inter SemiBold" panose="020B0604020202020204" charset="0"/>
              </a:rPr>
              <a:t>Plotly</a:t>
            </a: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Dropdown</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to select FD dataset.</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Metric Cards</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display evaluation scores.</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rgbClr val="92D050"/>
                </a:solidFill>
                <a:effectLst/>
                <a:latin typeface="Inter SemiBold" panose="020B0604020202020204" charset="0"/>
                <a:ea typeface="Inter SemiBold" panose="020B0604020202020204" charset="0"/>
              </a:rPr>
              <a:t>Graphs:</a:t>
            </a:r>
            <a:endParaRPr kumimoji="0" lang="en-US" altLang="en-US" sz="2000" b="0" i="0" u="none" strike="noStrike" cap="none" normalizeH="0" baseline="0" dirty="0">
              <a:ln>
                <a:noFill/>
              </a:ln>
              <a:solidFill>
                <a:srgbClr val="92D050"/>
              </a:solidFill>
              <a:effectLst/>
              <a:latin typeface="Inter SemiBold" panose="020B0604020202020204" charset="0"/>
              <a:ea typeface="Inter SemiBold" panose="020B0604020202020204" charset="0"/>
            </a:endParaRP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Predicted vs Actual RUL</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model performance</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Residual Histogram</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error distribution</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RUL Trend Plot</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temporal comparison of predictions</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Table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showing label data (first 10 rows).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Deployment:</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Hosted locally with Dash Bootstrap styling for a professional UI.</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Accessible via browser: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hlinkClick r:id="rId4">
                  <a:extLst>
                    <a:ext uri="{A12FA001-AC4F-418D-AE19-62706E023703}">
                      <ahyp:hlinkClr xmlns:ahyp="http://schemas.microsoft.com/office/drawing/2018/hyperlinkcolor" val="tx"/>
                    </a:ext>
                  </a:extLst>
                </a:hlinkClick>
              </a:rPr>
              <a:t>http://127.0.0.1:8050/</a:t>
            </a:r>
            <a:endPar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1754439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53278"/>
        </a:solidFill>
        <a:effectLst/>
      </p:bgPr>
    </p:bg>
    <p:spTree>
      <p:nvGrpSpPr>
        <p:cNvPr id="1" name="Shape 190">
          <a:extLst>
            <a:ext uri="{FF2B5EF4-FFF2-40B4-BE49-F238E27FC236}">
              <a16:creationId xmlns:a16="http://schemas.microsoft.com/office/drawing/2014/main" id="{5E06DCFD-41CA-91A3-79AF-67C6FF42F392}"/>
            </a:ext>
          </a:extLst>
        </p:cNvPr>
        <p:cNvGrpSpPr/>
        <p:nvPr/>
      </p:nvGrpSpPr>
      <p:grpSpPr>
        <a:xfrm>
          <a:off x="0" y="0"/>
          <a:ext cx="0" cy="0"/>
          <a:chOff x="0" y="0"/>
          <a:chExt cx="0" cy="0"/>
        </a:xfrm>
      </p:grpSpPr>
      <p:sp>
        <p:nvSpPr>
          <p:cNvPr id="198" name="Google Shape;198;p15">
            <a:extLst>
              <a:ext uri="{FF2B5EF4-FFF2-40B4-BE49-F238E27FC236}">
                <a16:creationId xmlns:a16="http://schemas.microsoft.com/office/drawing/2014/main" id="{2FD490E6-782A-32B9-C189-9873E45A08E6}"/>
              </a:ext>
            </a:extLst>
          </p:cNvPr>
          <p:cNvSpPr txBox="1"/>
          <p:nvPr/>
        </p:nvSpPr>
        <p:spPr>
          <a:xfrm>
            <a:off x="5629275" y="144480"/>
            <a:ext cx="5843588" cy="517065"/>
          </a:xfrm>
          <a:prstGeom prst="rect">
            <a:avLst/>
          </a:prstGeom>
          <a:noFill/>
          <a:ln>
            <a:noFill/>
          </a:ln>
        </p:spPr>
        <p:txBody>
          <a:bodyPr spcFirstLastPara="1" wrap="square" lIns="0" tIns="0" rIns="0" bIns="0" anchor="t" anchorCtr="0">
            <a:spAutoFit/>
          </a:bodyPr>
          <a:lstStyle/>
          <a:p>
            <a:pPr marL="0" marR="0" lvl="0" indent="0" algn="ctr" rtl="0">
              <a:lnSpc>
                <a:spcPct val="119916"/>
              </a:lnSpc>
              <a:spcBef>
                <a:spcPts val="0"/>
              </a:spcBef>
              <a:spcAft>
                <a:spcPts val="0"/>
              </a:spcAft>
              <a:buNone/>
            </a:pPr>
            <a:r>
              <a:rPr lang="en-US" sz="2800" b="1" dirty="0">
                <a:solidFill>
                  <a:srgbClr val="FFFDFC"/>
                </a:solidFill>
                <a:latin typeface=" inter semibold"/>
                <a:ea typeface="Inter"/>
                <a:sym typeface="Inter"/>
              </a:rPr>
              <a:t>Results of the Dashboard</a:t>
            </a:r>
            <a:endParaRPr sz="2800" dirty="0">
              <a:latin typeface=" inter semibold"/>
            </a:endParaRPr>
          </a:p>
        </p:txBody>
      </p:sp>
      <p:pic>
        <p:nvPicPr>
          <p:cNvPr id="8" name="Picture 7">
            <a:extLst>
              <a:ext uri="{FF2B5EF4-FFF2-40B4-BE49-F238E27FC236}">
                <a16:creationId xmlns:a16="http://schemas.microsoft.com/office/drawing/2014/main" id="{FBB544A7-548A-ED07-F364-1D5D49F54CAA}"/>
              </a:ext>
            </a:extLst>
          </p:cNvPr>
          <p:cNvPicPr>
            <a:picLocks noChangeAspect="1"/>
          </p:cNvPicPr>
          <p:nvPr/>
        </p:nvPicPr>
        <p:blipFill>
          <a:blip r:embed="rId3"/>
          <a:stretch>
            <a:fillRect/>
          </a:stretch>
        </p:blipFill>
        <p:spPr>
          <a:xfrm>
            <a:off x="3945582" y="920078"/>
            <a:ext cx="9492833" cy="4342733"/>
          </a:xfrm>
          <a:prstGeom prst="rect">
            <a:avLst/>
          </a:prstGeom>
        </p:spPr>
      </p:pic>
      <p:pic>
        <p:nvPicPr>
          <p:cNvPr id="10" name="Picture 9">
            <a:extLst>
              <a:ext uri="{FF2B5EF4-FFF2-40B4-BE49-F238E27FC236}">
                <a16:creationId xmlns:a16="http://schemas.microsoft.com/office/drawing/2014/main" id="{A4DC217D-AA2B-3813-AC1F-D82F5CE8409C}"/>
              </a:ext>
            </a:extLst>
          </p:cNvPr>
          <p:cNvPicPr>
            <a:picLocks noChangeAspect="1"/>
          </p:cNvPicPr>
          <p:nvPr/>
        </p:nvPicPr>
        <p:blipFill>
          <a:blip r:embed="rId4"/>
          <a:stretch>
            <a:fillRect/>
          </a:stretch>
        </p:blipFill>
        <p:spPr>
          <a:xfrm>
            <a:off x="3945581" y="5540263"/>
            <a:ext cx="9584577" cy="4343724"/>
          </a:xfrm>
          <a:prstGeom prst="rect">
            <a:avLst/>
          </a:prstGeom>
        </p:spPr>
      </p:pic>
    </p:spTree>
    <p:extLst>
      <p:ext uri="{BB962C8B-B14F-4D97-AF65-F5344CB8AC3E}">
        <p14:creationId xmlns:p14="http://schemas.microsoft.com/office/powerpoint/2010/main" val="2155121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p:cNvGrpSpPr/>
        <p:nvPr/>
      </p:nvGrpSpPr>
      <p:grpSpPr>
        <a:xfrm>
          <a:off x="0" y="0"/>
          <a:ext cx="0" cy="0"/>
          <a:chOff x="0" y="0"/>
          <a:chExt cx="0" cy="0"/>
        </a:xfrm>
      </p:grpSpPr>
      <p:sp>
        <p:nvSpPr>
          <p:cNvPr id="175" name="Google Shape;175;p14"/>
          <p:cNvSpPr txBox="1"/>
          <p:nvPr/>
        </p:nvSpPr>
        <p:spPr>
          <a:xfrm>
            <a:off x="1028700" y="1534431"/>
            <a:ext cx="16230600" cy="1354217"/>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8800" dirty="0">
                <a:solidFill>
                  <a:srgbClr val="253278"/>
                </a:solidFill>
                <a:latin typeface="Inter ExtraBold"/>
                <a:ea typeface="Inter ExtraBold"/>
                <a:cs typeface="Inter ExtraBold"/>
                <a:sym typeface="Inter ExtraBold"/>
              </a:rPr>
              <a:t>Overall Performance</a:t>
            </a:r>
            <a:endParaRPr dirty="0">
              <a:latin typeface="Inter ExtraBold"/>
              <a:ea typeface="Inter ExtraBold"/>
              <a:cs typeface="Inter ExtraBold"/>
              <a:sym typeface="Inter ExtraBold"/>
            </a:endParaRPr>
          </a:p>
        </p:txBody>
      </p:sp>
      <p:grpSp>
        <p:nvGrpSpPr>
          <p:cNvPr id="176" name="Google Shape;176;p14"/>
          <p:cNvGrpSpPr/>
          <p:nvPr/>
        </p:nvGrpSpPr>
        <p:grpSpPr>
          <a:xfrm>
            <a:off x="1468626" y="8151542"/>
            <a:ext cx="4264690" cy="1385029"/>
            <a:chOff x="0" y="57150"/>
            <a:chExt cx="5686253" cy="1846706"/>
          </a:xfrm>
        </p:grpSpPr>
        <p:sp>
          <p:nvSpPr>
            <p:cNvPr id="177" name="Google Shape;177;p14"/>
            <p:cNvSpPr txBox="1"/>
            <p:nvPr/>
          </p:nvSpPr>
          <p:spPr>
            <a:xfrm>
              <a:off x="0" y="57150"/>
              <a:ext cx="5686253"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002060"/>
                  </a:solidFill>
                  <a:latin typeface="Inter"/>
                  <a:ea typeface="Inter"/>
                  <a:sym typeface="Inter"/>
                </a:rPr>
                <a:t>RMSE</a:t>
              </a:r>
              <a:endParaRPr dirty="0">
                <a:solidFill>
                  <a:srgbClr val="002060"/>
                </a:solidFill>
              </a:endParaRPr>
            </a:p>
          </p:txBody>
        </p:sp>
        <p:sp>
          <p:nvSpPr>
            <p:cNvPr id="178" name="Google Shape;178;p14"/>
            <p:cNvSpPr txBox="1"/>
            <p:nvPr/>
          </p:nvSpPr>
          <p:spPr>
            <a:xfrm>
              <a:off x="0" y="721993"/>
              <a:ext cx="5686253" cy="1181863"/>
            </a:xfrm>
            <a:prstGeom prst="rect">
              <a:avLst/>
            </a:prstGeom>
            <a:noFill/>
            <a:ln>
              <a:noFill/>
            </a:ln>
          </p:spPr>
          <p:txBody>
            <a:bodyPr spcFirstLastPara="1" wrap="square" lIns="0" tIns="0" rIns="0" bIns="0" anchor="t" anchorCtr="0">
              <a:spAutoFit/>
            </a:bodyPr>
            <a:lstStyle/>
            <a:p>
              <a:pPr lvl="0" algn="ctr">
                <a:lnSpc>
                  <a:spcPct val="120000"/>
                </a:lnSpc>
              </a:pPr>
              <a:r>
                <a:rPr lang="en-US" sz="2400" dirty="0"/>
                <a:t>Indicates overall prediction error level.</a:t>
              </a:r>
              <a:r>
                <a:rPr lang="en-US" sz="2100" b="0" i="0" u="none" strike="noStrike" cap="none" dirty="0">
                  <a:solidFill>
                    <a:srgbClr val="253278"/>
                  </a:solidFill>
                  <a:latin typeface="Inter"/>
                  <a:ea typeface="Inter"/>
                  <a:cs typeface="Inter"/>
                  <a:sym typeface="Inter"/>
                </a:rPr>
                <a:t> </a:t>
              </a:r>
              <a:endParaRPr dirty="0"/>
            </a:p>
          </p:txBody>
        </p:sp>
      </p:grpSp>
      <p:grpSp>
        <p:nvGrpSpPr>
          <p:cNvPr id="179" name="Google Shape;179;p14"/>
          <p:cNvGrpSpPr/>
          <p:nvPr/>
        </p:nvGrpSpPr>
        <p:grpSpPr>
          <a:xfrm>
            <a:off x="7011655" y="8151542"/>
            <a:ext cx="4264690" cy="1385029"/>
            <a:chOff x="0" y="57150"/>
            <a:chExt cx="5686253" cy="1846707"/>
          </a:xfrm>
        </p:grpSpPr>
        <p:sp>
          <p:nvSpPr>
            <p:cNvPr id="180" name="Google Shape;180;p14"/>
            <p:cNvSpPr txBox="1"/>
            <p:nvPr/>
          </p:nvSpPr>
          <p:spPr>
            <a:xfrm>
              <a:off x="0" y="57150"/>
              <a:ext cx="5686253" cy="738665"/>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002060"/>
                  </a:solidFill>
                  <a:latin typeface="Inter"/>
                  <a:ea typeface="Inter"/>
                  <a:sym typeface="Inter"/>
                </a:rPr>
                <a:t>MAE</a:t>
              </a:r>
              <a:endParaRPr dirty="0">
                <a:solidFill>
                  <a:srgbClr val="002060"/>
                </a:solidFill>
              </a:endParaRPr>
            </a:p>
          </p:txBody>
        </p:sp>
        <p:sp>
          <p:nvSpPr>
            <p:cNvPr id="181" name="Google Shape;181;p14"/>
            <p:cNvSpPr txBox="1"/>
            <p:nvPr/>
          </p:nvSpPr>
          <p:spPr>
            <a:xfrm>
              <a:off x="0" y="721993"/>
              <a:ext cx="5686253" cy="1181864"/>
            </a:xfrm>
            <a:prstGeom prst="rect">
              <a:avLst/>
            </a:prstGeom>
            <a:noFill/>
            <a:ln>
              <a:noFill/>
            </a:ln>
          </p:spPr>
          <p:txBody>
            <a:bodyPr spcFirstLastPara="1" wrap="square" lIns="0" tIns="0" rIns="0" bIns="0" anchor="t" anchorCtr="0">
              <a:spAutoFit/>
            </a:bodyPr>
            <a:lstStyle/>
            <a:p>
              <a:pPr lvl="0" algn="ctr">
                <a:lnSpc>
                  <a:spcPct val="120000"/>
                </a:lnSpc>
              </a:pPr>
              <a:r>
                <a:rPr lang="en-US" sz="2400" dirty="0"/>
                <a:t>Shows average deviation in RUL prediction.</a:t>
              </a:r>
              <a:r>
                <a:rPr lang="en-US" sz="2100" b="0" i="0" u="none" strike="noStrike" cap="none" dirty="0">
                  <a:solidFill>
                    <a:srgbClr val="253278"/>
                  </a:solidFill>
                  <a:latin typeface="Inter"/>
                  <a:ea typeface="Inter"/>
                  <a:cs typeface="Inter"/>
                  <a:sym typeface="Inter"/>
                </a:rPr>
                <a:t> </a:t>
              </a:r>
              <a:endParaRPr dirty="0"/>
            </a:p>
          </p:txBody>
        </p:sp>
      </p:grpSp>
      <p:grpSp>
        <p:nvGrpSpPr>
          <p:cNvPr id="182" name="Google Shape;182;p14"/>
          <p:cNvGrpSpPr/>
          <p:nvPr/>
        </p:nvGrpSpPr>
        <p:grpSpPr>
          <a:xfrm>
            <a:off x="12105002" y="8151542"/>
            <a:ext cx="5160275" cy="1385029"/>
            <a:chOff x="-597056" y="57150"/>
            <a:chExt cx="6880366" cy="1846707"/>
          </a:xfrm>
        </p:grpSpPr>
        <p:sp>
          <p:nvSpPr>
            <p:cNvPr id="183" name="Google Shape;183;p14"/>
            <p:cNvSpPr txBox="1"/>
            <p:nvPr/>
          </p:nvSpPr>
          <p:spPr>
            <a:xfrm>
              <a:off x="-597056" y="57150"/>
              <a:ext cx="6880366" cy="738665"/>
            </a:xfrm>
            <a:prstGeom prst="rect">
              <a:avLst/>
            </a:prstGeom>
            <a:noFill/>
            <a:ln>
              <a:noFill/>
            </a:ln>
          </p:spPr>
          <p:txBody>
            <a:bodyPr spcFirstLastPara="1" wrap="square" lIns="0" tIns="0" rIns="0" bIns="0" anchor="t" anchorCtr="0">
              <a:spAutoFit/>
            </a:bodyPr>
            <a:lstStyle/>
            <a:p>
              <a:pPr lvl="0" algn="ctr"/>
              <a:r>
                <a:rPr lang="en-IN" sz="3600" b="1" dirty="0">
                  <a:solidFill>
                    <a:srgbClr val="002060"/>
                  </a:solidFill>
                  <a:latin typeface="Inter" panose="020B0604020202020204" charset="0"/>
                  <a:ea typeface="Inter" panose="020B0604020202020204" charset="0"/>
                </a:rPr>
                <a:t>R²</a:t>
              </a:r>
              <a:r>
                <a:rPr lang="en-IN" b="1" dirty="0">
                  <a:solidFill>
                    <a:srgbClr val="002060"/>
                  </a:solidFill>
                </a:rPr>
                <a:t> </a:t>
              </a:r>
              <a:r>
                <a:rPr lang="en-IN" sz="3600" b="1" dirty="0">
                  <a:solidFill>
                    <a:srgbClr val="002060"/>
                  </a:solidFill>
                  <a:latin typeface="Inter" panose="020B0604020202020204" charset="0"/>
                  <a:ea typeface="Inter" panose="020B0604020202020204" charset="0"/>
                </a:rPr>
                <a:t>Score</a:t>
              </a:r>
              <a:endParaRPr sz="3600" b="1" dirty="0">
                <a:solidFill>
                  <a:srgbClr val="002060"/>
                </a:solidFill>
                <a:latin typeface="Inter" panose="020B0604020202020204" charset="0"/>
                <a:ea typeface="Inter" panose="020B0604020202020204" charset="0"/>
              </a:endParaRPr>
            </a:p>
          </p:txBody>
        </p:sp>
        <p:sp>
          <p:nvSpPr>
            <p:cNvPr id="184" name="Google Shape;184;p14"/>
            <p:cNvSpPr txBox="1"/>
            <p:nvPr/>
          </p:nvSpPr>
          <p:spPr>
            <a:xfrm>
              <a:off x="0" y="721993"/>
              <a:ext cx="5686253" cy="1181864"/>
            </a:xfrm>
            <a:prstGeom prst="rect">
              <a:avLst/>
            </a:prstGeom>
            <a:noFill/>
            <a:ln>
              <a:noFill/>
            </a:ln>
          </p:spPr>
          <p:txBody>
            <a:bodyPr spcFirstLastPara="1" wrap="square" lIns="0" tIns="0" rIns="0" bIns="0" anchor="t" anchorCtr="0">
              <a:spAutoFit/>
            </a:bodyPr>
            <a:lstStyle/>
            <a:p>
              <a:pPr lvl="0" algn="ctr">
                <a:lnSpc>
                  <a:spcPct val="120000"/>
                </a:lnSpc>
              </a:pPr>
              <a:r>
                <a:rPr lang="en-IN" sz="2400" dirty="0"/>
                <a:t>Represents model’s prediction accuracy.</a:t>
              </a:r>
              <a:r>
                <a:rPr lang="en-US" sz="2100" b="0" i="0" u="none" strike="noStrike" cap="none" dirty="0">
                  <a:solidFill>
                    <a:srgbClr val="253278"/>
                  </a:solidFill>
                  <a:latin typeface="Inter"/>
                  <a:ea typeface="Inter"/>
                  <a:cs typeface="Inter"/>
                  <a:sym typeface="Inter"/>
                </a:rPr>
                <a:t>. </a:t>
              </a:r>
              <a:endParaRPr dirty="0"/>
            </a:p>
          </p:txBody>
        </p:sp>
      </p:grpSp>
      <p:pic>
        <p:nvPicPr>
          <p:cNvPr id="5" name="Picture 4">
            <a:extLst>
              <a:ext uri="{FF2B5EF4-FFF2-40B4-BE49-F238E27FC236}">
                <a16:creationId xmlns:a16="http://schemas.microsoft.com/office/drawing/2014/main" id="{40237CC0-7836-CBA1-C3BC-E3A468295C2E}"/>
              </a:ext>
            </a:extLst>
          </p:cNvPr>
          <p:cNvPicPr>
            <a:picLocks noChangeAspect="1"/>
          </p:cNvPicPr>
          <p:nvPr/>
        </p:nvPicPr>
        <p:blipFill>
          <a:blip r:embed="rId3"/>
          <a:stretch>
            <a:fillRect/>
          </a:stretch>
        </p:blipFill>
        <p:spPr>
          <a:xfrm>
            <a:off x="1203731" y="3557588"/>
            <a:ext cx="4705200" cy="3851925"/>
          </a:xfrm>
          <a:prstGeom prst="rect">
            <a:avLst/>
          </a:prstGeom>
        </p:spPr>
      </p:pic>
      <p:pic>
        <p:nvPicPr>
          <p:cNvPr id="7" name="Picture 6">
            <a:extLst>
              <a:ext uri="{FF2B5EF4-FFF2-40B4-BE49-F238E27FC236}">
                <a16:creationId xmlns:a16="http://schemas.microsoft.com/office/drawing/2014/main" id="{C9D78296-C8C9-ED78-56EB-40BDD398E397}"/>
              </a:ext>
            </a:extLst>
          </p:cNvPr>
          <p:cNvPicPr>
            <a:picLocks noChangeAspect="1"/>
          </p:cNvPicPr>
          <p:nvPr/>
        </p:nvPicPr>
        <p:blipFill>
          <a:blip r:embed="rId4"/>
          <a:stretch>
            <a:fillRect/>
          </a:stretch>
        </p:blipFill>
        <p:spPr>
          <a:xfrm>
            <a:off x="6400800" y="3547839"/>
            <a:ext cx="5362134" cy="4101175"/>
          </a:xfrm>
          <a:prstGeom prst="rect">
            <a:avLst/>
          </a:prstGeom>
        </p:spPr>
      </p:pic>
      <p:pic>
        <p:nvPicPr>
          <p:cNvPr id="9" name="Picture 8">
            <a:extLst>
              <a:ext uri="{FF2B5EF4-FFF2-40B4-BE49-F238E27FC236}">
                <a16:creationId xmlns:a16="http://schemas.microsoft.com/office/drawing/2014/main" id="{0D7D0A5F-FD9A-5646-EF19-1D03980A7F3C}"/>
              </a:ext>
            </a:extLst>
          </p:cNvPr>
          <p:cNvPicPr>
            <a:picLocks noChangeAspect="1"/>
          </p:cNvPicPr>
          <p:nvPr/>
        </p:nvPicPr>
        <p:blipFill>
          <a:blip r:embed="rId5"/>
          <a:stretch>
            <a:fillRect/>
          </a:stretch>
        </p:blipFill>
        <p:spPr>
          <a:xfrm>
            <a:off x="12552794" y="3566935"/>
            <a:ext cx="4705200" cy="40820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73A44D0A-38F9-02F0-B0F0-0B3AA42EB61E}"/>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D8FEE1B6-93E1-EC69-8750-9A119C9464A0}"/>
              </a:ext>
            </a:extLst>
          </p:cNvPr>
          <p:cNvSpPr txBox="1"/>
          <p:nvPr/>
        </p:nvSpPr>
        <p:spPr>
          <a:xfrm>
            <a:off x="1028700" y="248556"/>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Final Architecture Diagram</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AAB47A58-173A-9830-3860-98613F919A52}"/>
              </a:ext>
            </a:extLst>
          </p:cNvPr>
          <p:cNvSpPr/>
          <p:nvPr/>
        </p:nvSpPr>
        <p:spPr>
          <a:xfrm>
            <a:off x="1985962"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C-MAPS Dataset</a:t>
            </a:r>
            <a:endParaRPr lang="en-IN" sz="1800" dirty="0">
              <a:solidFill>
                <a:schemeClr val="bg1">
                  <a:lumMod val="95000"/>
                </a:schemeClr>
              </a:solidFill>
              <a:latin typeface="Inter SemiBold" panose="020B0604020202020204" charset="0"/>
              <a:ea typeface="Inter SemiBold" panose="020B0604020202020204" charset="0"/>
            </a:endParaRPr>
          </a:p>
        </p:txBody>
      </p:sp>
      <p:sp>
        <p:nvSpPr>
          <p:cNvPr id="4" name="Rectangle 3">
            <a:extLst>
              <a:ext uri="{FF2B5EF4-FFF2-40B4-BE49-F238E27FC236}">
                <a16:creationId xmlns:a16="http://schemas.microsoft.com/office/drawing/2014/main" id="{E49B57CD-C77F-E2E9-B38F-BA925F068AFA}"/>
              </a:ext>
            </a:extLst>
          </p:cNvPr>
          <p:cNvSpPr/>
          <p:nvPr/>
        </p:nvSpPr>
        <p:spPr>
          <a:xfrm>
            <a:off x="7058024"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Preprocessing</a:t>
            </a:r>
          </a:p>
        </p:txBody>
      </p:sp>
      <p:sp>
        <p:nvSpPr>
          <p:cNvPr id="6" name="Rectangle 5">
            <a:extLst>
              <a:ext uri="{FF2B5EF4-FFF2-40B4-BE49-F238E27FC236}">
                <a16:creationId xmlns:a16="http://schemas.microsoft.com/office/drawing/2014/main" id="{9DF1F08B-B027-3570-C8E1-D55EFB3663F8}"/>
              </a:ext>
            </a:extLst>
          </p:cNvPr>
          <p:cNvSpPr/>
          <p:nvPr/>
        </p:nvSpPr>
        <p:spPr>
          <a:xfrm>
            <a:off x="12130086"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Inter SemiBold" panose="020B0604020202020204" charset="0"/>
                <a:ea typeface="Inter SemiBold" panose="020B0604020202020204" charset="0"/>
              </a:rPr>
              <a:t>Model building</a:t>
            </a:r>
            <a:endParaRPr lang="en-IN" sz="1800" dirty="0">
              <a:latin typeface="Inter SemiBold" panose="020B0604020202020204" charset="0"/>
              <a:ea typeface="Inter SemiBold" panose="020B0604020202020204" charset="0"/>
            </a:endParaRPr>
          </a:p>
        </p:txBody>
      </p:sp>
      <p:sp>
        <p:nvSpPr>
          <p:cNvPr id="8" name="Rectangle 7">
            <a:extLst>
              <a:ext uri="{FF2B5EF4-FFF2-40B4-BE49-F238E27FC236}">
                <a16:creationId xmlns:a16="http://schemas.microsoft.com/office/drawing/2014/main" id="{07B44B30-95F5-AC3F-09C3-58E39D079A4D}"/>
              </a:ext>
            </a:extLst>
          </p:cNvPr>
          <p:cNvSpPr/>
          <p:nvPr/>
        </p:nvSpPr>
        <p:spPr>
          <a:xfrm>
            <a:off x="12158659" y="5873678"/>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Model Evaluation</a:t>
            </a:r>
            <a:endParaRPr lang="en-IN" sz="1800" dirty="0">
              <a:solidFill>
                <a:schemeClr val="bg1">
                  <a:lumMod val="95000"/>
                </a:schemeClr>
              </a:solidFill>
              <a:latin typeface="Inter SemiBold" panose="020B0604020202020204" charset="0"/>
              <a:ea typeface="Inter SemiBold" panose="020B0604020202020204" charset="0"/>
            </a:endParaRPr>
          </a:p>
        </p:txBody>
      </p:sp>
      <p:sp>
        <p:nvSpPr>
          <p:cNvPr id="10" name="Rectangle 9">
            <a:extLst>
              <a:ext uri="{FF2B5EF4-FFF2-40B4-BE49-F238E27FC236}">
                <a16:creationId xmlns:a16="http://schemas.microsoft.com/office/drawing/2014/main" id="{E5B61082-B89F-63B7-7622-9174D7DD5FE4}"/>
              </a:ext>
            </a:extLst>
          </p:cNvPr>
          <p:cNvSpPr/>
          <p:nvPr/>
        </p:nvSpPr>
        <p:spPr>
          <a:xfrm>
            <a:off x="7243762" y="5858633"/>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Inter SemiBold" panose="020B0604020202020204" charset="0"/>
                <a:ea typeface="Inter SemiBold" panose="020B0604020202020204" charset="0"/>
              </a:rPr>
              <a:t>Dash board deployment</a:t>
            </a:r>
            <a:endParaRPr lang="en-IN" sz="1800" dirty="0">
              <a:latin typeface="Inter SemiBold" panose="020B0604020202020204" charset="0"/>
              <a:ea typeface="Inter SemiBold" panose="020B0604020202020204" charset="0"/>
            </a:endParaRPr>
          </a:p>
        </p:txBody>
      </p:sp>
      <p:cxnSp>
        <p:nvCxnSpPr>
          <p:cNvPr id="12" name="Straight Arrow Connector 11">
            <a:extLst>
              <a:ext uri="{FF2B5EF4-FFF2-40B4-BE49-F238E27FC236}">
                <a16:creationId xmlns:a16="http://schemas.microsoft.com/office/drawing/2014/main" id="{C264BA2B-8231-9D70-D63A-B1AF43E42932}"/>
              </a:ext>
            </a:extLst>
          </p:cNvPr>
          <p:cNvCxnSpPr/>
          <p:nvPr/>
        </p:nvCxnSpPr>
        <p:spPr>
          <a:xfrm>
            <a:off x="5929313" y="3607592"/>
            <a:ext cx="957262"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3">
            <a:extLst>
              <a:ext uri="{FF2B5EF4-FFF2-40B4-BE49-F238E27FC236}">
                <a16:creationId xmlns:a16="http://schemas.microsoft.com/office/drawing/2014/main" id="{35A6B9C6-BF8F-47F2-9A53-3276D50BE7FC}"/>
              </a:ext>
            </a:extLst>
          </p:cNvPr>
          <p:cNvCxnSpPr/>
          <p:nvPr/>
        </p:nvCxnSpPr>
        <p:spPr>
          <a:xfrm>
            <a:off x="11044237" y="3607592"/>
            <a:ext cx="900113"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11DB589-FE11-B201-5D24-B0380647F948}"/>
              </a:ext>
            </a:extLst>
          </p:cNvPr>
          <p:cNvCxnSpPr/>
          <p:nvPr/>
        </p:nvCxnSpPr>
        <p:spPr>
          <a:xfrm>
            <a:off x="14030323" y="4729163"/>
            <a:ext cx="0" cy="95726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2" name="Straight Arrow Connector 21">
            <a:extLst>
              <a:ext uri="{FF2B5EF4-FFF2-40B4-BE49-F238E27FC236}">
                <a16:creationId xmlns:a16="http://schemas.microsoft.com/office/drawing/2014/main" id="{1B38ED72-32D5-15A0-0E30-47D7CEB8C018}"/>
              </a:ext>
            </a:extLst>
          </p:cNvPr>
          <p:cNvCxnSpPr/>
          <p:nvPr/>
        </p:nvCxnSpPr>
        <p:spPr>
          <a:xfrm flipH="1">
            <a:off x="11187113" y="6844470"/>
            <a:ext cx="757237"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2951902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5E31522A-CF7D-F69C-6594-D975D5F0A9BA}"/>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26C1EA49-01D0-8980-BDDB-DBCA94F89416}"/>
              </a:ext>
            </a:extLst>
          </p:cNvPr>
          <p:cNvSpPr txBox="1"/>
          <p:nvPr/>
        </p:nvSpPr>
        <p:spPr>
          <a:xfrm>
            <a:off x="514350" y="1120093"/>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Challenges Faced</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7DA3D853-C7BF-1F98-B732-28EB72BF5981}"/>
              </a:ext>
            </a:extLst>
          </p:cNvPr>
          <p:cNvSpPr>
            <a:spLocks noChangeArrowheads="1"/>
          </p:cNvSpPr>
          <p:nvPr/>
        </p:nvSpPr>
        <p:spPr bwMode="auto">
          <a:xfrm>
            <a:off x="1271587" y="5573587"/>
            <a:ext cx="150018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endParaRPr>
          </a:p>
        </p:txBody>
      </p:sp>
      <p:sp>
        <p:nvSpPr>
          <p:cNvPr id="2" name="Rectangle 1">
            <a:extLst>
              <a:ext uri="{FF2B5EF4-FFF2-40B4-BE49-F238E27FC236}">
                <a16:creationId xmlns:a16="http://schemas.microsoft.com/office/drawing/2014/main" id="{0D203A7E-1041-0A76-77B6-3E875186174A}"/>
              </a:ext>
            </a:extLst>
          </p:cNvPr>
          <p:cNvSpPr>
            <a:spLocks noChangeArrowheads="1"/>
          </p:cNvSpPr>
          <p:nvPr/>
        </p:nvSpPr>
        <p:spPr bwMode="auto">
          <a:xfrm>
            <a:off x="1514474" y="3095985"/>
            <a:ext cx="15259051" cy="4955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Sequence Length Selection:</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Chose a sequence length of 30 to capture sufficient temporal patterns for accurate RUL prediction.</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Model Training Stability:</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Designed the LSTM with multiple layers, dropout, and batch normalization to ensure stable training and prevent overfitting.</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Long Training Times &amp; Overfitting Risk:</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Managing the high computation time and potential overfitting due to large dataset and complex LSTM architecture.</a:t>
            </a:r>
          </a:p>
        </p:txBody>
      </p:sp>
    </p:spTree>
    <p:extLst>
      <p:ext uri="{BB962C8B-B14F-4D97-AF65-F5344CB8AC3E}">
        <p14:creationId xmlns:p14="http://schemas.microsoft.com/office/powerpoint/2010/main" val="2428182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7D0E000D-8C6D-9EE0-5388-8142FAF9F81F}"/>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E98B112D-964C-F950-C3E2-A8F2E25CBD19}"/>
              </a:ext>
            </a:extLst>
          </p:cNvPr>
          <p:cNvSpPr txBox="1"/>
          <p:nvPr/>
        </p:nvSpPr>
        <p:spPr>
          <a:xfrm>
            <a:off x="1028700" y="248556"/>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Future Enhancements</a:t>
            </a:r>
            <a:endParaRPr dirty="0">
              <a:latin typeface="Inter ExtraBold"/>
              <a:ea typeface="Inter ExtraBold"/>
              <a:cs typeface="Inter ExtraBold"/>
              <a:sym typeface="Inter ExtraBold"/>
            </a:endParaRPr>
          </a:p>
        </p:txBody>
      </p:sp>
      <p:sp>
        <p:nvSpPr>
          <p:cNvPr id="5" name="TextBox 4">
            <a:extLst>
              <a:ext uri="{FF2B5EF4-FFF2-40B4-BE49-F238E27FC236}">
                <a16:creationId xmlns:a16="http://schemas.microsoft.com/office/drawing/2014/main" id="{3CAF83B8-E466-B24B-12DF-F2B4D598BE32}"/>
              </a:ext>
            </a:extLst>
          </p:cNvPr>
          <p:cNvSpPr txBox="1"/>
          <p:nvPr/>
        </p:nvSpPr>
        <p:spPr>
          <a:xfrm>
            <a:off x="1243014" y="2143125"/>
            <a:ext cx="10944224" cy="618630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Integrate Transformer or Hybrid CNN-LSTM models</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for better long-range dependency learning and improved RUL accuracy.</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Enable real-time online learning</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so the model adapts continuously with new incoming sensor data.</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Develop a cloud-based monitoring pipeline</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to support real-time fleet-level RUL tracking and automated alerts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a:t>
            </a:r>
          </a:p>
        </p:txBody>
      </p:sp>
      <p:pic>
        <p:nvPicPr>
          <p:cNvPr id="9" name="Picture 8">
            <a:extLst>
              <a:ext uri="{FF2B5EF4-FFF2-40B4-BE49-F238E27FC236}">
                <a16:creationId xmlns:a16="http://schemas.microsoft.com/office/drawing/2014/main" id="{3D8F8179-FC65-3368-A61A-FBA11D733A8E}"/>
              </a:ext>
            </a:extLst>
          </p:cNvPr>
          <p:cNvPicPr>
            <a:picLocks noChangeAspect="1"/>
          </p:cNvPicPr>
          <p:nvPr/>
        </p:nvPicPr>
        <p:blipFill>
          <a:blip r:embed="rId3"/>
          <a:stretch>
            <a:fillRect/>
          </a:stretch>
        </p:blipFill>
        <p:spPr>
          <a:xfrm>
            <a:off x="13158788" y="3775984"/>
            <a:ext cx="3886198" cy="3053441"/>
          </a:xfrm>
          <a:prstGeom prst="rect">
            <a:avLst/>
          </a:prstGeom>
        </p:spPr>
      </p:pic>
    </p:spTree>
    <p:extLst>
      <p:ext uri="{BB962C8B-B14F-4D97-AF65-F5344CB8AC3E}">
        <p14:creationId xmlns:p14="http://schemas.microsoft.com/office/powerpoint/2010/main" val="4049004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223"/>
        <p:cNvGrpSpPr/>
        <p:nvPr/>
      </p:nvGrpSpPr>
      <p:grpSpPr>
        <a:xfrm>
          <a:off x="0" y="0"/>
          <a:ext cx="0" cy="0"/>
          <a:chOff x="0" y="0"/>
          <a:chExt cx="0" cy="0"/>
        </a:xfrm>
      </p:grpSpPr>
      <p:sp>
        <p:nvSpPr>
          <p:cNvPr id="225" name="Google Shape;225;p18"/>
          <p:cNvSpPr txBox="1"/>
          <p:nvPr/>
        </p:nvSpPr>
        <p:spPr>
          <a:xfrm>
            <a:off x="5228309" y="296041"/>
            <a:ext cx="7344691" cy="914096"/>
          </a:xfrm>
          <a:prstGeom prst="rect">
            <a:avLst/>
          </a:prstGeom>
          <a:noFill/>
          <a:ln>
            <a:noFill/>
          </a:ln>
        </p:spPr>
        <p:txBody>
          <a:bodyPr spcFirstLastPara="1" wrap="square" lIns="0" tIns="0" rIns="0" bIns="0" anchor="t" anchorCtr="0">
            <a:spAutoFit/>
          </a:bodyPr>
          <a:lstStyle/>
          <a:p>
            <a:pPr marL="0" marR="0" lvl="0" indent="0" algn="ctr" rtl="0">
              <a:lnSpc>
                <a:spcPct val="90000"/>
              </a:lnSpc>
              <a:spcBef>
                <a:spcPts val="0"/>
              </a:spcBef>
              <a:spcAft>
                <a:spcPts val="0"/>
              </a:spcAft>
              <a:buNone/>
            </a:pPr>
            <a:r>
              <a:rPr lang="en-US" sz="6600" dirty="0">
                <a:solidFill>
                  <a:srgbClr val="253278"/>
                </a:solidFill>
                <a:latin typeface="Inter ExtraBold"/>
                <a:ea typeface="Inter ExtraBold"/>
                <a:cs typeface="Inter ExtraBold"/>
                <a:sym typeface="Inter ExtraBold"/>
              </a:rPr>
              <a:t>References</a:t>
            </a:r>
            <a:endParaRPr dirty="0">
              <a:latin typeface="Inter ExtraBold"/>
              <a:ea typeface="Inter ExtraBold"/>
              <a:cs typeface="Inter ExtraBold"/>
              <a:sym typeface="Inter ExtraBold"/>
            </a:endParaRPr>
          </a:p>
        </p:txBody>
      </p:sp>
      <p:sp>
        <p:nvSpPr>
          <p:cNvPr id="2" name="Rectangle 1">
            <a:extLst>
              <a:ext uri="{FF2B5EF4-FFF2-40B4-BE49-F238E27FC236}">
                <a16:creationId xmlns:a16="http://schemas.microsoft.com/office/drawing/2014/main" id="{C78EBF55-A3E9-4B10-1FAE-0702D53B0108}"/>
              </a:ext>
            </a:extLst>
          </p:cNvPr>
          <p:cNvSpPr>
            <a:spLocks noChangeArrowheads="1"/>
          </p:cNvSpPr>
          <p:nvPr/>
        </p:nvSpPr>
        <p:spPr bwMode="auto">
          <a:xfrm>
            <a:off x="771525" y="1503897"/>
            <a:ext cx="1688782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Kaggle.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C-MAPS Turbofan </a:t>
            </a:r>
            <a:r>
              <a:rPr lang="en-US" altLang="en-US" sz="2000" dirty="0">
                <a:solidFill>
                  <a:schemeClr val="tx1"/>
                </a:solidFill>
                <a:latin typeface="Inter SemiBold" panose="020B0604020202020204" charset="0"/>
                <a:ea typeface="Inter SemiBold" panose="020B0604020202020204" charset="0"/>
              </a:rPr>
              <a:t>Dataset</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lvl="0" eaLnBrk="0" fontAlgn="base" hangingPunct="0">
              <a:spcBef>
                <a:spcPct val="0"/>
              </a:spcBef>
              <a:spcAft>
                <a:spcPct val="0"/>
              </a:spcAft>
              <a:buClrTx/>
              <a:buFontTx/>
              <a:buChar char="•"/>
            </a:pPr>
            <a:r>
              <a:rPr kumimoji="0" lang="en-US" altLang="en-US" sz="2000" b="0" i="0" u="none" strike="noStrike" cap="none" normalizeH="0" baseline="0" dirty="0" err="1">
                <a:ln>
                  <a:noFill/>
                </a:ln>
                <a:solidFill>
                  <a:schemeClr val="tx1"/>
                </a:solidFill>
                <a:effectLst/>
                <a:latin typeface="Inter SemiBold" panose="020B0604020202020204" charset="0"/>
                <a:ea typeface="Inter SemiBold" panose="020B0604020202020204" charset="0"/>
              </a:rPr>
              <a:t>GeeksforGeeks</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LSTM Neural Networks in Python.</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rPr>
              <a:t>https://www.geeksforgeeks.org/deep-learning/long-short-term-memory-networks-using-pytorch/</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TensorFlow Documentation. </a:t>
            </a:r>
            <a:r>
              <a:rPr kumimoji="0" lang="en-US" altLang="en-US" sz="2000" b="0" i="1" u="none" strike="noStrike" cap="none" normalizeH="0" baseline="0" dirty="0" err="1">
                <a:ln>
                  <a:noFill/>
                </a:ln>
                <a:solidFill>
                  <a:schemeClr val="tx1"/>
                </a:solidFill>
                <a:effectLst/>
                <a:latin typeface="Inter SemiBold" panose="020B0604020202020204" charset="0"/>
                <a:ea typeface="Inter SemiBold" panose="020B0604020202020204" charset="0"/>
              </a:rPr>
              <a:t>Keras</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 API Guide.</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hlinkClick r:id="rId3"/>
              </a:rPr>
              <a:t>https://www.tensorflow.org/guide/keras</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Scikit-learn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Preprocessing and Metrics Modules.</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hlinkClick r:id="rId4"/>
              </a:rPr>
              <a:t>https://scikit-learn.org/stable/modules/preprocessing.html</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Matplotlib and Seaborn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Data Visualization Libraries in Python.</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hlinkClick r:id="rId5"/>
              </a:rPr>
              <a:t>https://matplotlib.org/stable/contents.html</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and </a:t>
            </a:r>
            <a:r>
              <a:rPr lang="en-US" altLang="en-US" sz="2000" dirty="0">
                <a:solidFill>
                  <a:schemeClr val="tx1"/>
                </a:solidFill>
                <a:latin typeface="Inter SemiBold" panose="020B0604020202020204" charset="0"/>
                <a:ea typeface="Inter SemiBold" panose="020B0604020202020204" charset="0"/>
                <a:hlinkClick r:id="rId6"/>
              </a:rPr>
              <a:t>https://seaborn.pydata.org/</a:t>
            </a:r>
            <a:endParaRPr lang="en-US" altLang="en-US" sz="2000" dirty="0">
              <a:solidFill>
                <a:schemeClr val="tx1"/>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NumPy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Array and Numerical Computation Library.</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hlinkClick r:id="rId7"/>
              </a:rPr>
              <a:t>https://numpy.org/doc/</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p:txBody>
      </p:sp>
      <p:sp>
        <p:nvSpPr>
          <p:cNvPr id="4" name="TextBox 3">
            <a:extLst>
              <a:ext uri="{FF2B5EF4-FFF2-40B4-BE49-F238E27FC236}">
                <a16:creationId xmlns:a16="http://schemas.microsoft.com/office/drawing/2014/main" id="{5BEB04DE-99F6-3512-5727-97BFEAA2B73A}"/>
              </a:ext>
            </a:extLst>
          </p:cNvPr>
          <p:cNvSpPr txBox="1"/>
          <p:nvPr/>
        </p:nvSpPr>
        <p:spPr>
          <a:xfrm>
            <a:off x="1128713" y="6292257"/>
            <a:ext cx="16530637" cy="1938992"/>
          </a:xfrm>
          <a:prstGeom prst="rect">
            <a:avLst/>
          </a:prstGeom>
          <a:noFill/>
        </p:spPr>
        <p:txBody>
          <a:bodyPr wrap="square">
            <a:spAutoFit/>
          </a:bodyPr>
          <a:lstStyle/>
          <a:p>
            <a:pPr>
              <a:buNone/>
            </a:pPr>
            <a:r>
              <a:rPr lang="en-US" sz="2000" dirty="0">
                <a:latin typeface="Inter SemiBold" panose="020B0604020202020204" charset="0"/>
                <a:ea typeface="Inter SemiBold" panose="020B0604020202020204" charset="0"/>
              </a:rPr>
              <a:t>I would like to express my sincere gratitude to my mentor for their continuous guidance, encouragement, and insightful feedback throughout the course of this internship. I am also thankful to my peers and colleagues for their support, collaborative spirit, and valuable discussions.</a:t>
            </a:r>
          </a:p>
          <a:p>
            <a:pPr>
              <a:buNone/>
            </a:pPr>
            <a:r>
              <a:rPr lang="en-US" sz="2000" dirty="0">
                <a:latin typeface="Inter SemiBold" panose="020B0604020202020204" charset="0"/>
                <a:ea typeface="Inter SemiBold" panose="020B0604020202020204" charset="0"/>
              </a:rPr>
              <a:t>I acknowledge the use of open-source libraries such as </a:t>
            </a:r>
            <a:r>
              <a:rPr lang="en-US" sz="2000" b="1" dirty="0">
                <a:latin typeface="Inter SemiBold" panose="020B0604020202020204" charset="0"/>
                <a:ea typeface="Inter SemiBold" panose="020B0604020202020204" charset="0"/>
              </a:rPr>
              <a:t>NumPy</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Pandas</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Scikit-learn</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TensorFlow/</a:t>
            </a:r>
            <a:r>
              <a:rPr lang="en-US" sz="2000" b="1" dirty="0" err="1">
                <a:latin typeface="Inter SemiBold" panose="020B0604020202020204" charset="0"/>
                <a:ea typeface="Inter SemiBold" panose="020B0604020202020204" charset="0"/>
              </a:rPr>
              <a:t>Keras</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Matplotlib</a:t>
            </a:r>
            <a:r>
              <a:rPr lang="en-US" sz="2000" dirty="0">
                <a:latin typeface="Inter SemiBold" panose="020B0604020202020204" charset="0"/>
                <a:ea typeface="Inter SemiBold" panose="020B0604020202020204" charset="0"/>
              </a:rPr>
              <a:t>, and </a:t>
            </a:r>
            <a:r>
              <a:rPr lang="en-US" sz="2000" b="1" dirty="0">
                <a:latin typeface="Inter SemiBold" panose="020B0604020202020204" charset="0"/>
                <a:ea typeface="Inter SemiBold" panose="020B0604020202020204" charset="0"/>
              </a:rPr>
              <a:t>Seaborn</a:t>
            </a:r>
            <a:r>
              <a:rPr lang="en-US" sz="2000" dirty="0">
                <a:latin typeface="Inter SemiBold" panose="020B0604020202020204" charset="0"/>
                <a:ea typeface="Inter SemiBold" panose="020B0604020202020204" charset="0"/>
              </a:rPr>
              <a:t> that were instrumental in implementing preprocessing, model building, and evaluation pipelines. I also appreciate platforms like </a:t>
            </a:r>
            <a:r>
              <a:rPr lang="en-US" sz="2000" b="1" dirty="0">
                <a:latin typeface="Inter SemiBold" panose="020B0604020202020204" charset="0"/>
                <a:ea typeface="Inter SemiBold" panose="020B0604020202020204" charset="0"/>
              </a:rPr>
              <a:t>Kaggle</a:t>
            </a:r>
            <a:r>
              <a:rPr lang="en-US" sz="2000" dirty="0">
                <a:latin typeface="Inter SemiBold" panose="020B0604020202020204" charset="0"/>
                <a:ea typeface="Inter SemiBold" panose="020B0604020202020204" charset="0"/>
              </a:rPr>
              <a:t> for providing the C-MAPSS dataset and </a:t>
            </a:r>
            <a:r>
              <a:rPr lang="en-US" sz="2000" b="1" dirty="0" err="1">
                <a:latin typeface="Inter SemiBold" panose="020B0604020202020204" charset="0"/>
                <a:ea typeface="Inter SemiBold" panose="020B0604020202020204" charset="0"/>
              </a:rPr>
              <a:t>GeeksforGeeks</a:t>
            </a:r>
            <a:r>
              <a:rPr lang="en-US" sz="2000" dirty="0">
                <a:latin typeface="Inter SemiBold" panose="020B0604020202020204" charset="0"/>
                <a:ea typeface="Inter SemiBold" panose="020B0604020202020204" charset="0"/>
              </a:rPr>
              <a:t> for helpful tutorials and resources on LSTM model implementation.</a:t>
            </a:r>
          </a:p>
        </p:txBody>
      </p:sp>
      <p:sp>
        <p:nvSpPr>
          <p:cNvPr id="5" name="Google Shape;225;p18">
            <a:extLst>
              <a:ext uri="{FF2B5EF4-FFF2-40B4-BE49-F238E27FC236}">
                <a16:creationId xmlns:a16="http://schemas.microsoft.com/office/drawing/2014/main" id="{8E6C87BB-BAED-DC76-C7C2-BE788E9EE141}"/>
              </a:ext>
            </a:extLst>
          </p:cNvPr>
          <p:cNvSpPr txBox="1"/>
          <p:nvPr/>
        </p:nvSpPr>
        <p:spPr>
          <a:xfrm>
            <a:off x="4509629" y="4659979"/>
            <a:ext cx="8782049" cy="914096"/>
          </a:xfrm>
          <a:prstGeom prst="rect">
            <a:avLst/>
          </a:prstGeom>
          <a:noFill/>
          <a:ln>
            <a:noFill/>
          </a:ln>
        </p:spPr>
        <p:txBody>
          <a:bodyPr spcFirstLastPara="1" wrap="square" lIns="0" tIns="0" rIns="0" bIns="0" anchor="t" anchorCtr="0">
            <a:spAutoFit/>
          </a:bodyPr>
          <a:lstStyle/>
          <a:p>
            <a:pPr marL="0" marR="0" lvl="0" indent="0" algn="ctr" rtl="0">
              <a:lnSpc>
                <a:spcPct val="90000"/>
              </a:lnSpc>
              <a:spcBef>
                <a:spcPts val="0"/>
              </a:spcBef>
              <a:spcAft>
                <a:spcPts val="0"/>
              </a:spcAft>
              <a:buNone/>
            </a:pPr>
            <a:r>
              <a:rPr lang="en-US" sz="6600" dirty="0">
                <a:solidFill>
                  <a:srgbClr val="253278"/>
                </a:solidFill>
                <a:latin typeface="Inter ExtraBold"/>
                <a:ea typeface="Inter ExtraBold"/>
                <a:cs typeface="Inter ExtraBold"/>
                <a:sym typeface="Inter ExtraBold"/>
              </a:rPr>
              <a:t>Acknowledgements</a:t>
            </a:r>
            <a:endParaRPr dirty="0">
              <a:latin typeface="Inter ExtraBold"/>
              <a:ea typeface="Inter ExtraBold"/>
              <a:cs typeface="Inter ExtraBold"/>
              <a:sym typeface="Inter ExtraBo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8D8E483-38B3-7A6E-44F8-5E25FF534E2E}"/>
              </a:ext>
            </a:extLst>
          </p:cNvPr>
          <p:cNvPicPr>
            <a:picLocks noChangeAspect="1"/>
          </p:cNvPicPr>
          <p:nvPr/>
        </p:nvPicPr>
        <p:blipFill>
          <a:blip r:embed="rId2"/>
          <a:stretch>
            <a:fillRect/>
          </a:stretch>
        </p:blipFill>
        <p:spPr>
          <a:xfrm>
            <a:off x="6865614" y="4393869"/>
            <a:ext cx="3713536" cy="2442235"/>
          </a:xfrm>
          <a:prstGeom prst="rect">
            <a:avLst/>
          </a:prstGeom>
        </p:spPr>
      </p:pic>
      <p:sp>
        <p:nvSpPr>
          <p:cNvPr id="17" name="TextBox 16">
            <a:extLst>
              <a:ext uri="{FF2B5EF4-FFF2-40B4-BE49-F238E27FC236}">
                <a16:creationId xmlns:a16="http://schemas.microsoft.com/office/drawing/2014/main" id="{53940A5A-0AA6-2414-491F-6CF2C6DCAAF6}"/>
              </a:ext>
            </a:extLst>
          </p:cNvPr>
          <p:cNvSpPr txBox="1"/>
          <p:nvPr/>
        </p:nvSpPr>
        <p:spPr>
          <a:xfrm>
            <a:off x="5733142" y="2958193"/>
            <a:ext cx="5978479" cy="1323439"/>
          </a:xfrm>
          <a:prstGeom prst="rect">
            <a:avLst/>
          </a:prstGeom>
          <a:noFill/>
        </p:spPr>
        <p:txBody>
          <a:bodyPr wrap="square" rtlCol="0">
            <a:spAutoFit/>
          </a:bodyPr>
          <a:lstStyle/>
          <a:p>
            <a:r>
              <a:rPr lang="en-US" sz="8000" dirty="0">
                <a:solidFill>
                  <a:srgbClr val="FFC000"/>
                </a:solidFill>
                <a:latin typeface="Inter SemiBold" panose="020B0604020202020204" charset="0"/>
                <a:ea typeface="Inter SemiBold" panose="020B0604020202020204" charset="0"/>
              </a:rPr>
              <a:t>Thank You!</a:t>
            </a:r>
            <a:endParaRPr lang="en-IN" sz="8000" dirty="0">
              <a:solidFill>
                <a:srgbClr val="FFC000"/>
              </a:solidFill>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1283566318"/>
      </p:ext>
    </p:extLst>
  </p:cSld>
  <p:clrMapOvr>
    <a:masterClrMapping/>
  </p:clrMapOvr>
</p:sld>
</file>

<file path=ppt/theme/theme1.xml><?xml version="1.0" encoding="utf-8"?>
<a:theme xmlns:a="http://schemas.openxmlformats.org/drawingml/2006/main" name="Muted Minimal Year-End Review">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205</TotalTime>
  <Words>1267</Words>
  <Application>Microsoft Office PowerPoint</Application>
  <PresentationFormat>Custom</PresentationFormat>
  <Paragraphs>140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Inter SemiBold</vt:lpstr>
      <vt:lpstr>Inter</vt:lpstr>
      <vt:lpstr>Calibri</vt:lpstr>
      <vt:lpstr>Arial</vt:lpstr>
      <vt:lpstr>Inter ExtraBold</vt:lpstr>
      <vt:lpstr> inter semibold</vt:lpstr>
      <vt:lpstr>Gill Sans MT</vt:lpstr>
      <vt:lpstr>Muted Minimal Year-End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ch sairithivik</dc:creator>
  <cp:lastModifiedBy>ch sairithivik</cp:lastModifiedBy>
  <cp:revision>6</cp:revision>
  <dcterms:modified xsi:type="dcterms:W3CDTF">2025-11-19T10:35:29Z</dcterms:modified>
</cp:coreProperties>
</file>