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15"/>
  </p:notesMasterIdLst>
  <p:sldIdLst>
    <p:sldId id="256" r:id="rId2"/>
    <p:sldId id="257" r:id="rId3"/>
    <p:sldId id="258" r:id="rId4"/>
    <p:sldId id="259" r:id="rId5"/>
    <p:sldId id="270" r:id="rId6"/>
    <p:sldId id="271" r:id="rId7"/>
    <p:sldId id="264" r:id="rId8"/>
    <p:sldId id="272" r:id="rId9"/>
    <p:sldId id="273" r:id="rId10"/>
    <p:sldId id="263" r:id="rId11"/>
    <p:sldId id="274" r:id="rId12"/>
    <p:sldId id="267" r:id="rId13"/>
    <p:sldId id="276" r:id="rId14"/>
  </p:sldIdLst>
  <p:sldSz cx="18288000" cy="10287000"/>
  <p:notesSz cx="6858000" cy="9144000"/>
  <p:embeddedFontLst>
    <p:embeddedFont>
      <p:font typeface="Gill Sans MT" panose="020B0502020104020203" pitchFamily="34" charset="0"/>
      <p:regular r:id="rId16"/>
      <p:bold r:id="rId17"/>
      <p:italic r:id="rId18"/>
      <p:boldItalic r:id="rId19"/>
    </p:embeddedFont>
    <p:embeddedFont>
      <p:font typeface="Inter" panose="020B0604020202020204" charset="0"/>
      <p:regular r:id="rId20"/>
      <p:bold r:id="rId21"/>
      <p:italic r:id="rId22"/>
      <p:boldItalic r:id="rId23"/>
    </p:embeddedFont>
    <p:embeddedFont>
      <p:font typeface="Inter ExtraBold" panose="020B0604020202020204" charset="0"/>
      <p:bold r:id="rId24"/>
      <p:boldItalic r:id="rId25"/>
    </p:embeddedFont>
    <p:embeddedFont>
      <p:font typeface="Inter SemiBold"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5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 Id="rId4" Type="http://schemas.openxmlformats.org/officeDocument/2006/relationships/image" Target="../media/image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 Id="rId4"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4CA0A5-DCD3-4661-BF38-1A4F49A2BDF0}" type="doc">
      <dgm:prSet loTypeId="urn:microsoft.com/office/officeart/2008/layout/VerticalCurvedList" loCatId="list" qsTypeId="urn:microsoft.com/office/officeart/2005/8/quickstyle/3d3" qsCatId="3D" csTypeId="urn:microsoft.com/office/officeart/2005/8/colors/accent1_2" csCatId="accent1" phldr="1"/>
      <dgm:spPr/>
      <dgm:t>
        <a:bodyPr/>
        <a:lstStyle/>
        <a:p>
          <a:endParaRPr lang="en-IN"/>
        </a:p>
      </dgm:t>
    </dgm:pt>
    <dgm:pt modelId="{F8A06E58-BF0B-4C63-9D8D-09A75625B11B}">
      <dgm:prSet phldrT="[Text]" phldr="0"/>
      <dgm:spPr/>
      <dgm:t>
        <a:bodyPr/>
        <a:lstStyle/>
        <a:p>
          <a:r>
            <a:rPr lang="en-US" dirty="0"/>
            <a:t>Dashboard Deployment</a:t>
          </a:r>
          <a:endParaRPr lang="en-IN" dirty="0"/>
        </a:p>
      </dgm:t>
    </dgm:pt>
    <dgm:pt modelId="{84558E2A-3B1C-4A98-AB10-C7DE35A17E03}" type="parTrans" cxnId="{20E75271-C728-4FA6-88CF-2F83E56A2B8A}">
      <dgm:prSet/>
      <dgm:spPr/>
      <dgm:t>
        <a:bodyPr/>
        <a:lstStyle/>
        <a:p>
          <a:endParaRPr lang="en-IN"/>
        </a:p>
      </dgm:t>
    </dgm:pt>
    <dgm:pt modelId="{9240F8B2-87F8-4D84-9FD3-4E24BE4297B4}" type="sibTrans" cxnId="{20E75271-C728-4FA6-88CF-2F83E56A2B8A}">
      <dgm:prSet/>
      <dgm:spPr/>
      <dgm:t>
        <a:bodyPr/>
        <a:lstStyle/>
        <a:p>
          <a:endParaRPr lang="en-IN"/>
        </a:p>
      </dgm:t>
    </dgm:pt>
    <dgm:pt modelId="{24541D46-B733-40ED-8E83-6776E3401ECF}">
      <dgm:prSet/>
      <dgm:spPr/>
      <dgm:t>
        <a:bodyPr/>
        <a:lstStyle/>
        <a:p>
          <a:r>
            <a:rPr lang="en-US" dirty="0"/>
            <a:t>Model Building</a:t>
          </a:r>
          <a:endParaRPr lang="en-IN" dirty="0"/>
        </a:p>
      </dgm:t>
    </dgm:pt>
    <dgm:pt modelId="{43197670-56EC-4B1E-B7A3-9A8168444C2D}" type="parTrans" cxnId="{AC7B4E96-3E4C-4E28-B514-0C74A0AE2374}">
      <dgm:prSet/>
      <dgm:spPr/>
      <dgm:t>
        <a:bodyPr/>
        <a:lstStyle/>
        <a:p>
          <a:endParaRPr lang="en-IN"/>
        </a:p>
      </dgm:t>
    </dgm:pt>
    <dgm:pt modelId="{E07E6DC4-628C-43A5-8D04-86857DC3A22A}" type="sibTrans" cxnId="{AC7B4E96-3E4C-4E28-B514-0C74A0AE2374}">
      <dgm:prSet/>
      <dgm:spPr/>
      <dgm:t>
        <a:bodyPr/>
        <a:lstStyle/>
        <a:p>
          <a:endParaRPr lang="en-IN"/>
        </a:p>
      </dgm:t>
    </dgm:pt>
    <dgm:pt modelId="{A29AE841-6E29-49FE-A813-3DC65027226C}">
      <dgm:prSet phldrT="[Text]" phldr="0"/>
      <dgm:spPr/>
      <dgm:t>
        <a:bodyPr/>
        <a:lstStyle/>
        <a:p>
          <a:r>
            <a:rPr lang="en-US" dirty="0"/>
            <a:t>Model Evaluation</a:t>
          </a:r>
          <a:endParaRPr lang="en-IN" dirty="0"/>
        </a:p>
      </dgm:t>
    </dgm:pt>
    <dgm:pt modelId="{E551AF67-FB77-488A-9CEE-BC579EBB7D24}" type="sibTrans" cxnId="{39AF149F-F5EF-4EE1-B36C-3EFFC256426E}">
      <dgm:prSet/>
      <dgm:spPr/>
      <dgm:t>
        <a:bodyPr/>
        <a:lstStyle/>
        <a:p>
          <a:endParaRPr lang="en-IN"/>
        </a:p>
      </dgm:t>
    </dgm:pt>
    <dgm:pt modelId="{A8E30AD7-C804-45E1-90F7-B9CA168B343E}" type="parTrans" cxnId="{39AF149F-F5EF-4EE1-B36C-3EFFC256426E}">
      <dgm:prSet/>
      <dgm:spPr/>
      <dgm:t>
        <a:bodyPr/>
        <a:lstStyle/>
        <a:p>
          <a:endParaRPr lang="en-IN"/>
        </a:p>
      </dgm:t>
    </dgm:pt>
    <dgm:pt modelId="{C37DFCEB-7B4F-487C-9A57-AADECD0C9325}">
      <dgm:prSet phldrT="[Text]" phldr="0"/>
      <dgm:spPr/>
      <dgm:t>
        <a:bodyPr/>
        <a:lstStyle/>
        <a:p>
          <a:r>
            <a:rPr lang="en-US" dirty="0"/>
            <a:t>Preprocessing</a:t>
          </a:r>
          <a:endParaRPr lang="en-IN" dirty="0"/>
        </a:p>
      </dgm:t>
    </dgm:pt>
    <dgm:pt modelId="{89A6C725-435F-4DD8-AB52-7A5F513F2FCA}" type="sibTrans" cxnId="{57E38145-19E1-40DF-BDE6-0E8A5333122B}">
      <dgm:prSet/>
      <dgm:spPr/>
      <dgm:t>
        <a:bodyPr/>
        <a:lstStyle/>
        <a:p>
          <a:endParaRPr lang="en-IN"/>
        </a:p>
      </dgm:t>
    </dgm:pt>
    <dgm:pt modelId="{0E489652-0323-4DD9-B999-92728B4583FD}" type="parTrans" cxnId="{57E38145-19E1-40DF-BDE6-0E8A5333122B}">
      <dgm:prSet/>
      <dgm:spPr/>
      <dgm:t>
        <a:bodyPr/>
        <a:lstStyle/>
        <a:p>
          <a:endParaRPr lang="en-IN"/>
        </a:p>
      </dgm:t>
    </dgm:pt>
    <dgm:pt modelId="{BD918A1C-C938-4EB4-8A08-D2B99EB60FDE}" type="pres">
      <dgm:prSet presAssocID="{544CA0A5-DCD3-4661-BF38-1A4F49A2BDF0}" presName="Name0" presStyleCnt="0">
        <dgm:presLayoutVars>
          <dgm:chMax val="7"/>
          <dgm:chPref val="7"/>
          <dgm:dir/>
        </dgm:presLayoutVars>
      </dgm:prSet>
      <dgm:spPr/>
    </dgm:pt>
    <dgm:pt modelId="{BDBD783B-FE88-4160-BC97-30B515165964}" type="pres">
      <dgm:prSet presAssocID="{544CA0A5-DCD3-4661-BF38-1A4F49A2BDF0}" presName="Name1" presStyleCnt="0"/>
      <dgm:spPr/>
    </dgm:pt>
    <dgm:pt modelId="{86CE7A45-F6F1-4AB7-8A89-DE00840515C5}" type="pres">
      <dgm:prSet presAssocID="{544CA0A5-DCD3-4661-BF38-1A4F49A2BDF0}" presName="cycle" presStyleCnt="0"/>
      <dgm:spPr/>
    </dgm:pt>
    <dgm:pt modelId="{BE278FD5-8C6D-439A-826A-A48A40441D4D}" type="pres">
      <dgm:prSet presAssocID="{544CA0A5-DCD3-4661-BF38-1A4F49A2BDF0}" presName="srcNode" presStyleLbl="node1" presStyleIdx="0" presStyleCnt="4"/>
      <dgm:spPr/>
    </dgm:pt>
    <dgm:pt modelId="{3FCF07D0-177E-403A-8F71-66CE5A524797}" type="pres">
      <dgm:prSet presAssocID="{544CA0A5-DCD3-4661-BF38-1A4F49A2BDF0}" presName="conn" presStyleLbl="parChTrans1D2" presStyleIdx="0" presStyleCnt="1"/>
      <dgm:spPr/>
    </dgm:pt>
    <dgm:pt modelId="{DA9B24F3-8334-479F-A8E4-5A6BECC0B13E}" type="pres">
      <dgm:prSet presAssocID="{544CA0A5-DCD3-4661-BF38-1A4F49A2BDF0}" presName="extraNode" presStyleLbl="node1" presStyleIdx="0" presStyleCnt="4"/>
      <dgm:spPr/>
    </dgm:pt>
    <dgm:pt modelId="{A740DF65-B4C5-4F2D-96FC-E75FCFBF9D7D}" type="pres">
      <dgm:prSet presAssocID="{544CA0A5-DCD3-4661-BF38-1A4F49A2BDF0}" presName="dstNode" presStyleLbl="node1" presStyleIdx="0" presStyleCnt="4"/>
      <dgm:spPr/>
    </dgm:pt>
    <dgm:pt modelId="{FC831FE0-2637-494F-B96B-4E2BF1823F62}" type="pres">
      <dgm:prSet presAssocID="{C37DFCEB-7B4F-487C-9A57-AADECD0C9325}" presName="text_1" presStyleLbl="node1" presStyleIdx="0" presStyleCnt="4">
        <dgm:presLayoutVars>
          <dgm:bulletEnabled val="1"/>
        </dgm:presLayoutVars>
      </dgm:prSet>
      <dgm:spPr/>
    </dgm:pt>
    <dgm:pt modelId="{345A8FA5-955B-454F-8B8A-5E09F746CA06}" type="pres">
      <dgm:prSet presAssocID="{C37DFCEB-7B4F-487C-9A57-AADECD0C9325}" presName="accent_1" presStyleCnt="0"/>
      <dgm:spPr/>
    </dgm:pt>
    <dgm:pt modelId="{DB31F6DA-B6F5-4183-AB9E-62A572CE4E48}" type="pres">
      <dgm:prSet presAssocID="{C37DFCEB-7B4F-487C-9A57-AADECD0C9325}" presName="accentRepeatNode" presStyleLbl="solidFgAcc1" presStyleIdx="0" presStyleCnt="4"/>
      <dgm:spPr>
        <a:blipFill rotWithShape="0">
          <a:blip xmlns:r="http://schemas.openxmlformats.org/officeDocument/2006/relationships" r:embed="rId1"/>
          <a:stretch>
            <a:fillRect/>
          </a:stretch>
        </a:blipFill>
      </dgm:spPr>
    </dgm:pt>
    <dgm:pt modelId="{21ED3E2E-FD6E-4E4F-AE55-E17ED05D5BE3}" type="pres">
      <dgm:prSet presAssocID="{24541D46-B733-40ED-8E83-6776E3401ECF}" presName="text_2" presStyleLbl="node1" presStyleIdx="1" presStyleCnt="4">
        <dgm:presLayoutVars>
          <dgm:bulletEnabled val="1"/>
        </dgm:presLayoutVars>
      </dgm:prSet>
      <dgm:spPr/>
    </dgm:pt>
    <dgm:pt modelId="{0DF89D22-D0DB-4A93-A978-07A3D871B2FD}" type="pres">
      <dgm:prSet presAssocID="{24541D46-B733-40ED-8E83-6776E3401ECF}" presName="accent_2" presStyleCnt="0"/>
      <dgm:spPr/>
    </dgm:pt>
    <dgm:pt modelId="{89236780-273D-4B54-89AB-F3471C80880A}" type="pres">
      <dgm:prSet presAssocID="{24541D46-B733-40ED-8E83-6776E3401ECF}" presName="accentRepeatNode" presStyleLbl="solidFgAcc1" presStyleIdx="1" presStyleCnt="4"/>
      <dgm:spPr>
        <a:blipFill rotWithShape="0">
          <a:blip xmlns:r="http://schemas.openxmlformats.org/officeDocument/2006/relationships" r:embed="rId2"/>
          <a:stretch>
            <a:fillRect t="3000"/>
          </a:stretch>
        </a:blipFill>
      </dgm:spPr>
    </dgm:pt>
    <dgm:pt modelId="{78209049-E25E-48AD-A9F8-2C4D1CAF4C4A}" type="pres">
      <dgm:prSet presAssocID="{A29AE841-6E29-49FE-A813-3DC65027226C}" presName="text_3" presStyleLbl="node1" presStyleIdx="2" presStyleCnt="4">
        <dgm:presLayoutVars>
          <dgm:bulletEnabled val="1"/>
        </dgm:presLayoutVars>
      </dgm:prSet>
      <dgm:spPr/>
    </dgm:pt>
    <dgm:pt modelId="{BAF9624C-05B6-40A6-BAB5-B4989B608728}" type="pres">
      <dgm:prSet presAssocID="{A29AE841-6E29-49FE-A813-3DC65027226C}" presName="accent_3" presStyleCnt="0"/>
      <dgm:spPr/>
    </dgm:pt>
    <dgm:pt modelId="{B620E5A2-4441-45B5-A5DE-E881A30B2559}" type="pres">
      <dgm:prSet presAssocID="{A29AE841-6E29-49FE-A813-3DC65027226C}" presName="accentRepeatNode" presStyleLbl="solidFgAcc1" presStyleIdx="2" presStyleCnt="4"/>
      <dgm:spPr>
        <a:blipFill rotWithShape="0">
          <a:blip xmlns:r="http://schemas.openxmlformats.org/officeDocument/2006/relationships" r:embed="rId3"/>
          <a:stretch>
            <a:fillRect/>
          </a:stretch>
        </a:blipFill>
      </dgm:spPr>
    </dgm:pt>
    <dgm:pt modelId="{17401103-193A-439E-A518-AE0A56796F68}" type="pres">
      <dgm:prSet presAssocID="{F8A06E58-BF0B-4C63-9D8D-09A75625B11B}" presName="text_4" presStyleLbl="node1" presStyleIdx="3" presStyleCnt="4">
        <dgm:presLayoutVars>
          <dgm:bulletEnabled val="1"/>
        </dgm:presLayoutVars>
      </dgm:prSet>
      <dgm:spPr/>
    </dgm:pt>
    <dgm:pt modelId="{396CC8FF-1126-40D7-A810-C24D288653E8}" type="pres">
      <dgm:prSet presAssocID="{F8A06E58-BF0B-4C63-9D8D-09A75625B11B}" presName="accent_4" presStyleCnt="0"/>
      <dgm:spPr/>
    </dgm:pt>
    <dgm:pt modelId="{2EAADD20-261E-46EC-B720-D72A7F36CEDB}" type="pres">
      <dgm:prSet presAssocID="{F8A06E58-BF0B-4C63-9D8D-09A75625B11B}" presName="accentRepeatNode" presStyleLbl="solidFgAcc1" presStyleIdx="3" presStyleCnt="4"/>
      <dgm:spPr>
        <a:blipFill dpi="0" rotWithShape="0">
          <a:blip xmlns:r="http://schemas.openxmlformats.org/officeDocument/2006/relationships" r:embed="rId4"/>
          <a:srcRect/>
          <a:stretch>
            <a:fillRect/>
          </a:stretch>
        </a:blipFill>
        <a:ln>
          <a:noFill/>
        </a:ln>
      </dgm:spPr>
    </dgm:pt>
  </dgm:ptLst>
  <dgm:cxnLst>
    <dgm:cxn modelId="{15FAB23C-B198-4A1C-B382-6B62186034B6}" type="presOf" srcId="{A29AE841-6E29-49FE-A813-3DC65027226C}" destId="{78209049-E25E-48AD-A9F8-2C4D1CAF4C4A}" srcOrd="0" destOrd="0" presId="urn:microsoft.com/office/officeart/2008/layout/VerticalCurvedList"/>
    <dgm:cxn modelId="{2D23DB40-E148-419F-A2D3-1FB6E0CD95D9}" type="presOf" srcId="{24541D46-B733-40ED-8E83-6776E3401ECF}" destId="{21ED3E2E-FD6E-4E4F-AE55-E17ED05D5BE3}" srcOrd="0" destOrd="0" presId="urn:microsoft.com/office/officeart/2008/layout/VerticalCurvedList"/>
    <dgm:cxn modelId="{57E38145-19E1-40DF-BDE6-0E8A5333122B}" srcId="{544CA0A5-DCD3-4661-BF38-1A4F49A2BDF0}" destId="{C37DFCEB-7B4F-487C-9A57-AADECD0C9325}" srcOrd="0" destOrd="0" parTransId="{0E489652-0323-4DD9-B999-92728B4583FD}" sibTransId="{89A6C725-435F-4DD8-AB52-7A5F513F2FCA}"/>
    <dgm:cxn modelId="{20E75271-C728-4FA6-88CF-2F83E56A2B8A}" srcId="{544CA0A5-DCD3-4661-BF38-1A4F49A2BDF0}" destId="{F8A06E58-BF0B-4C63-9D8D-09A75625B11B}" srcOrd="3" destOrd="0" parTransId="{84558E2A-3B1C-4A98-AB10-C7DE35A17E03}" sibTransId="{9240F8B2-87F8-4D84-9FD3-4E24BE4297B4}"/>
    <dgm:cxn modelId="{A0C50A74-3721-439B-86CB-C21C8E9B3ED1}" type="presOf" srcId="{89A6C725-435F-4DD8-AB52-7A5F513F2FCA}" destId="{3FCF07D0-177E-403A-8F71-66CE5A524797}" srcOrd="0" destOrd="0" presId="urn:microsoft.com/office/officeart/2008/layout/VerticalCurvedList"/>
    <dgm:cxn modelId="{C7A53B78-7D30-471B-8424-4F0BE1C57E7D}" type="presOf" srcId="{544CA0A5-DCD3-4661-BF38-1A4F49A2BDF0}" destId="{BD918A1C-C938-4EB4-8A08-D2B99EB60FDE}" srcOrd="0" destOrd="0" presId="urn:microsoft.com/office/officeart/2008/layout/VerticalCurvedList"/>
    <dgm:cxn modelId="{AC7B4E96-3E4C-4E28-B514-0C74A0AE2374}" srcId="{544CA0A5-DCD3-4661-BF38-1A4F49A2BDF0}" destId="{24541D46-B733-40ED-8E83-6776E3401ECF}" srcOrd="1" destOrd="0" parTransId="{43197670-56EC-4B1E-B7A3-9A8168444C2D}" sibTransId="{E07E6DC4-628C-43A5-8D04-86857DC3A22A}"/>
    <dgm:cxn modelId="{1603689A-FE1B-436E-A84F-6733EA3359AD}" type="presOf" srcId="{C37DFCEB-7B4F-487C-9A57-AADECD0C9325}" destId="{FC831FE0-2637-494F-B96B-4E2BF1823F62}" srcOrd="0" destOrd="0" presId="urn:microsoft.com/office/officeart/2008/layout/VerticalCurvedList"/>
    <dgm:cxn modelId="{39AF149F-F5EF-4EE1-B36C-3EFFC256426E}" srcId="{544CA0A5-DCD3-4661-BF38-1A4F49A2BDF0}" destId="{A29AE841-6E29-49FE-A813-3DC65027226C}" srcOrd="2" destOrd="0" parTransId="{A8E30AD7-C804-45E1-90F7-B9CA168B343E}" sibTransId="{E551AF67-FB77-488A-9CEE-BC579EBB7D24}"/>
    <dgm:cxn modelId="{5215EEBD-8F7B-4060-9646-55A9A8FC0265}" type="presOf" srcId="{F8A06E58-BF0B-4C63-9D8D-09A75625B11B}" destId="{17401103-193A-439E-A518-AE0A56796F68}" srcOrd="0" destOrd="0" presId="urn:microsoft.com/office/officeart/2008/layout/VerticalCurvedList"/>
    <dgm:cxn modelId="{7FF8131F-8875-46FE-B0DB-330275C528F5}" type="presParOf" srcId="{BD918A1C-C938-4EB4-8A08-D2B99EB60FDE}" destId="{BDBD783B-FE88-4160-BC97-30B515165964}" srcOrd="0" destOrd="0" presId="urn:microsoft.com/office/officeart/2008/layout/VerticalCurvedList"/>
    <dgm:cxn modelId="{F8B9CDEB-93AA-4C85-BEE8-E7AD1DEA16F2}" type="presParOf" srcId="{BDBD783B-FE88-4160-BC97-30B515165964}" destId="{86CE7A45-F6F1-4AB7-8A89-DE00840515C5}" srcOrd="0" destOrd="0" presId="urn:microsoft.com/office/officeart/2008/layout/VerticalCurvedList"/>
    <dgm:cxn modelId="{01005F4E-9448-42A5-A82A-047CC0F83094}" type="presParOf" srcId="{86CE7A45-F6F1-4AB7-8A89-DE00840515C5}" destId="{BE278FD5-8C6D-439A-826A-A48A40441D4D}" srcOrd="0" destOrd="0" presId="urn:microsoft.com/office/officeart/2008/layout/VerticalCurvedList"/>
    <dgm:cxn modelId="{35851E31-BA12-44EB-A9FF-F5A777FD2965}" type="presParOf" srcId="{86CE7A45-F6F1-4AB7-8A89-DE00840515C5}" destId="{3FCF07D0-177E-403A-8F71-66CE5A524797}" srcOrd="1" destOrd="0" presId="urn:microsoft.com/office/officeart/2008/layout/VerticalCurvedList"/>
    <dgm:cxn modelId="{EBC6C55B-5501-4C9A-BD7A-E3F6DE361DCD}" type="presParOf" srcId="{86CE7A45-F6F1-4AB7-8A89-DE00840515C5}" destId="{DA9B24F3-8334-479F-A8E4-5A6BECC0B13E}" srcOrd="2" destOrd="0" presId="urn:microsoft.com/office/officeart/2008/layout/VerticalCurvedList"/>
    <dgm:cxn modelId="{E5E79035-51A5-4BBD-BD4B-5CE97E5BBC0B}" type="presParOf" srcId="{86CE7A45-F6F1-4AB7-8A89-DE00840515C5}" destId="{A740DF65-B4C5-4F2D-96FC-E75FCFBF9D7D}" srcOrd="3" destOrd="0" presId="urn:microsoft.com/office/officeart/2008/layout/VerticalCurvedList"/>
    <dgm:cxn modelId="{FA2614B4-26A1-458C-89C5-10707825671A}" type="presParOf" srcId="{BDBD783B-FE88-4160-BC97-30B515165964}" destId="{FC831FE0-2637-494F-B96B-4E2BF1823F62}" srcOrd="1" destOrd="0" presId="urn:microsoft.com/office/officeart/2008/layout/VerticalCurvedList"/>
    <dgm:cxn modelId="{3933B2D7-53B2-494D-99F1-1785C4772A46}" type="presParOf" srcId="{BDBD783B-FE88-4160-BC97-30B515165964}" destId="{345A8FA5-955B-454F-8B8A-5E09F746CA06}" srcOrd="2" destOrd="0" presId="urn:microsoft.com/office/officeart/2008/layout/VerticalCurvedList"/>
    <dgm:cxn modelId="{C20FE122-DCDE-4D8A-BB00-3CB76077FE2C}" type="presParOf" srcId="{345A8FA5-955B-454F-8B8A-5E09F746CA06}" destId="{DB31F6DA-B6F5-4183-AB9E-62A572CE4E48}" srcOrd="0" destOrd="0" presId="urn:microsoft.com/office/officeart/2008/layout/VerticalCurvedList"/>
    <dgm:cxn modelId="{A6EC2676-0220-4230-9A66-4E90B9CE8277}" type="presParOf" srcId="{BDBD783B-FE88-4160-BC97-30B515165964}" destId="{21ED3E2E-FD6E-4E4F-AE55-E17ED05D5BE3}" srcOrd="3" destOrd="0" presId="urn:microsoft.com/office/officeart/2008/layout/VerticalCurvedList"/>
    <dgm:cxn modelId="{FF08DCC0-C1CF-42E7-A867-ED759F51647F}" type="presParOf" srcId="{BDBD783B-FE88-4160-BC97-30B515165964}" destId="{0DF89D22-D0DB-4A93-A978-07A3D871B2FD}" srcOrd="4" destOrd="0" presId="urn:microsoft.com/office/officeart/2008/layout/VerticalCurvedList"/>
    <dgm:cxn modelId="{86E8419E-016E-4327-882F-5731FF4C38E3}" type="presParOf" srcId="{0DF89D22-D0DB-4A93-A978-07A3D871B2FD}" destId="{89236780-273D-4B54-89AB-F3471C80880A}" srcOrd="0" destOrd="0" presId="urn:microsoft.com/office/officeart/2008/layout/VerticalCurvedList"/>
    <dgm:cxn modelId="{83E6005A-F3D5-491E-B605-883484BC4663}" type="presParOf" srcId="{BDBD783B-FE88-4160-BC97-30B515165964}" destId="{78209049-E25E-48AD-A9F8-2C4D1CAF4C4A}" srcOrd="5" destOrd="0" presId="urn:microsoft.com/office/officeart/2008/layout/VerticalCurvedList"/>
    <dgm:cxn modelId="{3E05CCAC-3438-48CE-B63D-BC1D3609396A}" type="presParOf" srcId="{BDBD783B-FE88-4160-BC97-30B515165964}" destId="{BAF9624C-05B6-40A6-BAB5-B4989B608728}" srcOrd="6" destOrd="0" presId="urn:microsoft.com/office/officeart/2008/layout/VerticalCurvedList"/>
    <dgm:cxn modelId="{D2C0DBD7-B039-4C8C-8C4C-AE7BDCA166C5}" type="presParOf" srcId="{BAF9624C-05B6-40A6-BAB5-B4989B608728}" destId="{B620E5A2-4441-45B5-A5DE-E881A30B2559}" srcOrd="0" destOrd="0" presId="urn:microsoft.com/office/officeart/2008/layout/VerticalCurvedList"/>
    <dgm:cxn modelId="{5E108462-3EA9-43A9-B291-D776C8BEE039}" type="presParOf" srcId="{BDBD783B-FE88-4160-BC97-30B515165964}" destId="{17401103-193A-439E-A518-AE0A56796F68}" srcOrd="7" destOrd="0" presId="urn:microsoft.com/office/officeart/2008/layout/VerticalCurvedList"/>
    <dgm:cxn modelId="{D8B9E6DB-C495-4533-8873-13D82E54F798}" type="presParOf" srcId="{BDBD783B-FE88-4160-BC97-30B515165964}" destId="{396CC8FF-1126-40D7-A810-C24D288653E8}" srcOrd="8" destOrd="0" presId="urn:microsoft.com/office/officeart/2008/layout/VerticalCurvedList"/>
    <dgm:cxn modelId="{A0F96A40-A281-407F-8100-24F31DE295B3}" type="presParOf" srcId="{396CC8FF-1126-40D7-A810-C24D288653E8}" destId="{2EAADD20-261E-46EC-B720-D72A7F36CED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CF07D0-177E-403A-8F71-66CE5A524797}">
      <dsp:nvSpPr>
        <dsp:cNvPr id="0" name=""/>
        <dsp:cNvSpPr/>
      </dsp:nvSpPr>
      <dsp:spPr>
        <a:xfrm>
          <a:off x="-9192271" y="-1403415"/>
          <a:ext cx="10934832" cy="10934832"/>
        </a:xfrm>
        <a:prstGeom prst="blockArc">
          <a:avLst>
            <a:gd name="adj1" fmla="val 18900000"/>
            <a:gd name="adj2" fmla="val 2700000"/>
            <a:gd name="adj3" fmla="val 198"/>
          </a:avLst>
        </a:prstGeom>
        <a:noFill/>
        <a:ln w="25400" cap="flat" cmpd="sng" algn="ctr">
          <a:solidFill>
            <a:schemeClr val="accent1">
              <a:shade val="60000"/>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FC831FE0-2637-494F-B96B-4E2BF1823F62}">
      <dsp:nvSpPr>
        <dsp:cNvPr id="0" name=""/>
        <dsp:cNvSpPr/>
      </dsp:nvSpPr>
      <dsp:spPr>
        <a:xfrm>
          <a:off x="911257" y="624880"/>
          <a:ext cx="11161369" cy="1250411"/>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2514" tIns="165100" rIns="165100" bIns="165100" numCol="1" spcCol="1270" anchor="ctr" anchorCtr="0">
          <a:noAutofit/>
        </a:bodyPr>
        <a:lstStyle/>
        <a:p>
          <a:pPr marL="0" lvl="0" indent="0" algn="l" defTabSz="2889250">
            <a:lnSpc>
              <a:spcPct val="90000"/>
            </a:lnSpc>
            <a:spcBef>
              <a:spcPct val="0"/>
            </a:spcBef>
            <a:spcAft>
              <a:spcPct val="35000"/>
            </a:spcAft>
            <a:buNone/>
          </a:pPr>
          <a:r>
            <a:rPr lang="en-US" sz="6500" kern="1200" dirty="0"/>
            <a:t>Preprocessing</a:t>
          </a:r>
          <a:endParaRPr lang="en-IN" sz="6500" kern="1200" dirty="0"/>
        </a:p>
      </dsp:txBody>
      <dsp:txXfrm>
        <a:off x="911257" y="624880"/>
        <a:ext cx="11161369" cy="1250411"/>
      </dsp:txXfrm>
    </dsp:sp>
    <dsp:sp modelId="{DB31F6DA-B6F5-4183-AB9E-62A572CE4E48}">
      <dsp:nvSpPr>
        <dsp:cNvPr id="0" name=""/>
        <dsp:cNvSpPr/>
      </dsp:nvSpPr>
      <dsp:spPr>
        <a:xfrm>
          <a:off x="129750" y="468579"/>
          <a:ext cx="1563014" cy="1563014"/>
        </a:xfrm>
        <a:prstGeom prst="ellipse">
          <a:avLst/>
        </a:prstGeom>
        <a:blipFill rotWithShape="0">
          <a:blip xmlns:r="http://schemas.openxmlformats.org/officeDocument/2006/relationships" r:embed="rId1"/>
          <a:stretch>
            <a:fillRect/>
          </a:stretch>
        </a:blip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21ED3E2E-FD6E-4E4F-AE55-E17ED05D5BE3}">
      <dsp:nvSpPr>
        <dsp:cNvPr id="0" name=""/>
        <dsp:cNvSpPr/>
      </dsp:nvSpPr>
      <dsp:spPr>
        <a:xfrm>
          <a:off x="1628146" y="2500823"/>
          <a:ext cx="10444480" cy="1250411"/>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2514" tIns="165100" rIns="165100" bIns="165100" numCol="1" spcCol="1270" anchor="ctr" anchorCtr="0">
          <a:noAutofit/>
        </a:bodyPr>
        <a:lstStyle/>
        <a:p>
          <a:pPr marL="0" lvl="0" indent="0" algn="l" defTabSz="2889250">
            <a:lnSpc>
              <a:spcPct val="90000"/>
            </a:lnSpc>
            <a:spcBef>
              <a:spcPct val="0"/>
            </a:spcBef>
            <a:spcAft>
              <a:spcPct val="35000"/>
            </a:spcAft>
            <a:buNone/>
          </a:pPr>
          <a:r>
            <a:rPr lang="en-US" sz="6500" kern="1200" dirty="0"/>
            <a:t>Model Building</a:t>
          </a:r>
          <a:endParaRPr lang="en-IN" sz="6500" kern="1200" dirty="0"/>
        </a:p>
      </dsp:txBody>
      <dsp:txXfrm>
        <a:off x="1628146" y="2500823"/>
        <a:ext cx="10444480" cy="1250411"/>
      </dsp:txXfrm>
    </dsp:sp>
    <dsp:sp modelId="{89236780-273D-4B54-89AB-F3471C80880A}">
      <dsp:nvSpPr>
        <dsp:cNvPr id="0" name=""/>
        <dsp:cNvSpPr/>
      </dsp:nvSpPr>
      <dsp:spPr>
        <a:xfrm>
          <a:off x="846639" y="2344521"/>
          <a:ext cx="1563014" cy="1563014"/>
        </a:xfrm>
        <a:prstGeom prst="ellipse">
          <a:avLst/>
        </a:prstGeom>
        <a:blipFill rotWithShape="0">
          <a:blip xmlns:r="http://schemas.openxmlformats.org/officeDocument/2006/relationships" r:embed="rId2"/>
          <a:stretch>
            <a:fillRect t="3000"/>
          </a:stretch>
        </a:blip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78209049-E25E-48AD-A9F8-2C4D1CAF4C4A}">
      <dsp:nvSpPr>
        <dsp:cNvPr id="0" name=""/>
        <dsp:cNvSpPr/>
      </dsp:nvSpPr>
      <dsp:spPr>
        <a:xfrm>
          <a:off x="1628146" y="4376765"/>
          <a:ext cx="10444480" cy="1250411"/>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2514" tIns="165100" rIns="165100" bIns="165100" numCol="1" spcCol="1270" anchor="ctr" anchorCtr="0">
          <a:noAutofit/>
        </a:bodyPr>
        <a:lstStyle/>
        <a:p>
          <a:pPr marL="0" lvl="0" indent="0" algn="l" defTabSz="2889250">
            <a:lnSpc>
              <a:spcPct val="90000"/>
            </a:lnSpc>
            <a:spcBef>
              <a:spcPct val="0"/>
            </a:spcBef>
            <a:spcAft>
              <a:spcPct val="35000"/>
            </a:spcAft>
            <a:buNone/>
          </a:pPr>
          <a:r>
            <a:rPr lang="en-US" sz="6500" kern="1200" dirty="0"/>
            <a:t>Model Evaluation</a:t>
          </a:r>
          <a:endParaRPr lang="en-IN" sz="6500" kern="1200" dirty="0"/>
        </a:p>
      </dsp:txBody>
      <dsp:txXfrm>
        <a:off x="1628146" y="4376765"/>
        <a:ext cx="10444480" cy="1250411"/>
      </dsp:txXfrm>
    </dsp:sp>
    <dsp:sp modelId="{B620E5A2-4441-45B5-A5DE-E881A30B2559}">
      <dsp:nvSpPr>
        <dsp:cNvPr id="0" name=""/>
        <dsp:cNvSpPr/>
      </dsp:nvSpPr>
      <dsp:spPr>
        <a:xfrm>
          <a:off x="846639" y="4220464"/>
          <a:ext cx="1563014" cy="1563014"/>
        </a:xfrm>
        <a:prstGeom prst="ellipse">
          <a:avLst/>
        </a:prstGeom>
        <a:blipFill rotWithShape="0">
          <a:blip xmlns:r="http://schemas.openxmlformats.org/officeDocument/2006/relationships" r:embed="rId3"/>
          <a:stretch>
            <a:fillRect/>
          </a:stretch>
        </a:blip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17401103-193A-439E-A518-AE0A56796F68}">
      <dsp:nvSpPr>
        <dsp:cNvPr id="0" name=""/>
        <dsp:cNvSpPr/>
      </dsp:nvSpPr>
      <dsp:spPr>
        <a:xfrm>
          <a:off x="911257" y="6252707"/>
          <a:ext cx="11161369" cy="1250411"/>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92514" tIns="165100" rIns="165100" bIns="165100" numCol="1" spcCol="1270" anchor="ctr" anchorCtr="0">
          <a:noAutofit/>
        </a:bodyPr>
        <a:lstStyle/>
        <a:p>
          <a:pPr marL="0" lvl="0" indent="0" algn="l" defTabSz="2889250">
            <a:lnSpc>
              <a:spcPct val="90000"/>
            </a:lnSpc>
            <a:spcBef>
              <a:spcPct val="0"/>
            </a:spcBef>
            <a:spcAft>
              <a:spcPct val="35000"/>
            </a:spcAft>
            <a:buNone/>
          </a:pPr>
          <a:r>
            <a:rPr lang="en-US" sz="6500" kern="1200" dirty="0"/>
            <a:t>Dashboard Deployment</a:t>
          </a:r>
          <a:endParaRPr lang="en-IN" sz="6500" kern="1200" dirty="0"/>
        </a:p>
      </dsp:txBody>
      <dsp:txXfrm>
        <a:off x="911257" y="6252707"/>
        <a:ext cx="11161369" cy="1250411"/>
      </dsp:txXfrm>
    </dsp:sp>
    <dsp:sp modelId="{2EAADD20-261E-46EC-B720-D72A7F36CEDB}">
      <dsp:nvSpPr>
        <dsp:cNvPr id="0" name=""/>
        <dsp:cNvSpPr/>
      </dsp:nvSpPr>
      <dsp:spPr>
        <a:xfrm>
          <a:off x="129750" y="6096406"/>
          <a:ext cx="1563014" cy="1563014"/>
        </a:xfrm>
        <a:prstGeom prst="ellipse">
          <a:avLst/>
        </a:prstGeom>
        <a:blipFill dpi="0" rotWithShape="0">
          <a:blip xmlns:r="http://schemas.openxmlformats.org/officeDocument/2006/relationships" r:embed="rId4"/>
          <a:srcRect/>
          <a:stretch>
            <a:fillRect/>
          </a:stretch>
        </a:blip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E98A3D2D-F9BF-21A5-362A-FAE600FAC8FC}"/>
            </a:ext>
          </a:extLst>
        </p:cNvPr>
        <p:cNvGrpSpPr/>
        <p:nvPr/>
      </p:nvGrpSpPr>
      <p:grpSpPr>
        <a:xfrm>
          <a:off x="0" y="0"/>
          <a:ext cx="0" cy="0"/>
          <a:chOff x="0" y="0"/>
          <a:chExt cx="0" cy="0"/>
        </a:xfrm>
      </p:grpSpPr>
      <p:sp>
        <p:nvSpPr>
          <p:cNvPr id="88" name="Google Shape;88;p4:notes">
            <a:extLst>
              <a:ext uri="{FF2B5EF4-FFF2-40B4-BE49-F238E27FC236}">
                <a16:creationId xmlns:a16="http://schemas.microsoft.com/office/drawing/2014/main" id="{82BE0F27-0B9E-FA43-C14F-FE1528C210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4:notes">
            <a:extLst>
              <a:ext uri="{FF2B5EF4-FFF2-40B4-BE49-F238E27FC236}">
                <a16:creationId xmlns:a16="http://schemas.microsoft.com/office/drawing/2014/main" id="{BF95D144-8AA8-7C34-7E32-0D54C690E9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97530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5A400342-6075-18AD-ECC6-EEDCFE407861}"/>
            </a:ext>
          </a:extLst>
        </p:cNvPr>
        <p:cNvGrpSpPr/>
        <p:nvPr/>
      </p:nvGrpSpPr>
      <p:grpSpPr>
        <a:xfrm>
          <a:off x="0" y="0"/>
          <a:ext cx="0" cy="0"/>
          <a:chOff x="0" y="0"/>
          <a:chExt cx="0" cy="0"/>
        </a:xfrm>
      </p:grpSpPr>
      <p:sp>
        <p:nvSpPr>
          <p:cNvPr id="88" name="Google Shape;88;p4:notes">
            <a:extLst>
              <a:ext uri="{FF2B5EF4-FFF2-40B4-BE49-F238E27FC236}">
                <a16:creationId xmlns:a16="http://schemas.microsoft.com/office/drawing/2014/main" id="{186CBD1E-2FF5-40AF-3326-7CAC0327A1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4:notes">
            <a:extLst>
              <a:ext uri="{FF2B5EF4-FFF2-40B4-BE49-F238E27FC236}">
                <a16:creationId xmlns:a16="http://schemas.microsoft.com/office/drawing/2014/main" id="{D3F4F4E9-A20D-278C-DF6F-695E68D183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80426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B98AD57B-120D-B32C-A2B9-E21BAFEFD074}"/>
            </a:ext>
          </a:extLst>
        </p:cNvPr>
        <p:cNvGrpSpPr/>
        <p:nvPr/>
      </p:nvGrpSpPr>
      <p:grpSpPr>
        <a:xfrm>
          <a:off x="0" y="0"/>
          <a:ext cx="0" cy="0"/>
          <a:chOff x="0" y="0"/>
          <a:chExt cx="0" cy="0"/>
        </a:xfrm>
      </p:grpSpPr>
      <p:sp>
        <p:nvSpPr>
          <p:cNvPr id="88" name="Google Shape;88;p4:notes">
            <a:extLst>
              <a:ext uri="{FF2B5EF4-FFF2-40B4-BE49-F238E27FC236}">
                <a16:creationId xmlns:a16="http://schemas.microsoft.com/office/drawing/2014/main" id="{847AAA0A-E920-A57B-9EEA-831E504DD5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4:notes">
            <a:extLst>
              <a:ext uri="{FF2B5EF4-FFF2-40B4-BE49-F238E27FC236}">
                <a16:creationId xmlns:a16="http://schemas.microsoft.com/office/drawing/2014/main" id="{E4FB9B1A-2019-BE01-C6A7-0AEA337653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2761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1C75AE12-74EC-072B-F0E7-0A73C4B534A2}"/>
            </a:ext>
          </a:extLst>
        </p:cNvPr>
        <p:cNvGrpSpPr/>
        <p:nvPr/>
      </p:nvGrpSpPr>
      <p:grpSpPr>
        <a:xfrm>
          <a:off x="0" y="0"/>
          <a:ext cx="0" cy="0"/>
          <a:chOff x="0" y="0"/>
          <a:chExt cx="0" cy="0"/>
        </a:xfrm>
      </p:grpSpPr>
      <p:sp>
        <p:nvSpPr>
          <p:cNvPr id="188" name="Google Shape;188;p9:notes">
            <a:extLst>
              <a:ext uri="{FF2B5EF4-FFF2-40B4-BE49-F238E27FC236}">
                <a16:creationId xmlns:a16="http://schemas.microsoft.com/office/drawing/2014/main" id="{CD37370C-837F-98D0-DD1E-E464D76FC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p9:notes">
            <a:extLst>
              <a:ext uri="{FF2B5EF4-FFF2-40B4-BE49-F238E27FC236}">
                <a16:creationId xmlns:a16="http://schemas.microsoft.com/office/drawing/2014/main" id="{7EDFBAAC-4267-C96B-197D-9D06AB3FCD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64118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9FEDE845-CBAC-6C0E-F8B9-8BA2BB506955}"/>
            </a:ext>
          </a:extLst>
        </p:cNvPr>
        <p:cNvGrpSpPr/>
        <p:nvPr/>
      </p:nvGrpSpPr>
      <p:grpSpPr>
        <a:xfrm>
          <a:off x="0" y="0"/>
          <a:ext cx="0" cy="0"/>
          <a:chOff x="0" y="0"/>
          <a:chExt cx="0" cy="0"/>
        </a:xfrm>
      </p:grpSpPr>
      <p:sp>
        <p:nvSpPr>
          <p:cNvPr id="169" name="Google Shape;169;p8:notes">
            <a:extLst>
              <a:ext uri="{FF2B5EF4-FFF2-40B4-BE49-F238E27FC236}">
                <a16:creationId xmlns:a16="http://schemas.microsoft.com/office/drawing/2014/main" id="{0B392084-5071-C98F-8BA1-97A04407DC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8:notes">
            <a:extLst>
              <a:ext uri="{FF2B5EF4-FFF2-40B4-BE49-F238E27FC236}">
                <a16:creationId xmlns:a16="http://schemas.microsoft.com/office/drawing/2014/main" id="{2B01E06A-2012-4BA6-8598-9A374A3A9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37790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Gallery" type="twoObj">
  <p:cSld name="TWO_OBJECTS">
    <p:bg>
      <p:bgPr>
        <a:solidFill>
          <a:srgbClr val="253278"/>
        </a:solidFill>
        <a:effectLst/>
      </p:bgPr>
    </p:bg>
    <p:spTree>
      <p:nvGrpSpPr>
        <p:cNvPr id="1" name="Shape 45"/>
        <p:cNvGrpSpPr/>
        <p:nvPr/>
      </p:nvGrpSpPr>
      <p:grpSpPr>
        <a:xfrm>
          <a:off x="0" y="0"/>
          <a:ext cx="0" cy="0"/>
          <a:chOff x="0" y="0"/>
          <a:chExt cx="0" cy="0"/>
        </a:xfrm>
      </p:grpSpPr>
      <p:sp>
        <p:nvSpPr>
          <p:cNvPr id="46" name="Google Shape;46;p6"/>
          <p:cNvSpPr>
            <a:spLocks noGrp="1"/>
          </p:cNvSpPr>
          <p:nvPr>
            <p:ph type="pic" idx="2"/>
          </p:nvPr>
        </p:nvSpPr>
        <p:spPr>
          <a:xfrm>
            <a:off x="1051450" y="1219775"/>
            <a:ext cx="5058600" cy="3942900"/>
          </a:xfrm>
          <a:prstGeom prst="rect">
            <a:avLst/>
          </a:prstGeom>
          <a:noFill/>
          <a:ln>
            <a:noFill/>
          </a:ln>
        </p:spPr>
        <p:txBody>
          <a:bodyPr/>
          <a:lstStyle/>
          <a:p>
            <a:endParaRPr lang="en-IN"/>
          </a:p>
        </p:txBody>
      </p:sp>
      <p:sp>
        <p:nvSpPr>
          <p:cNvPr id="47" name="Google Shape;47;p6"/>
          <p:cNvSpPr>
            <a:spLocks noGrp="1"/>
          </p:cNvSpPr>
          <p:nvPr>
            <p:ph type="pic" idx="3"/>
          </p:nvPr>
        </p:nvSpPr>
        <p:spPr>
          <a:xfrm>
            <a:off x="6637450" y="1219775"/>
            <a:ext cx="5058600" cy="3942900"/>
          </a:xfrm>
          <a:prstGeom prst="rect">
            <a:avLst/>
          </a:prstGeom>
          <a:noFill/>
          <a:ln>
            <a:noFill/>
          </a:ln>
        </p:spPr>
        <p:txBody>
          <a:bodyPr/>
          <a:lstStyle/>
          <a:p>
            <a:endParaRPr lang="en-IN"/>
          </a:p>
        </p:txBody>
      </p:sp>
      <p:sp>
        <p:nvSpPr>
          <p:cNvPr id="48" name="Google Shape;48;p6"/>
          <p:cNvSpPr>
            <a:spLocks noGrp="1"/>
          </p:cNvSpPr>
          <p:nvPr>
            <p:ph type="pic" idx="4"/>
          </p:nvPr>
        </p:nvSpPr>
        <p:spPr>
          <a:xfrm>
            <a:off x="12176563" y="1219775"/>
            <a:ext cx="5058600" cy="3942900"/>
          </a:xfrm>
          <a:prstGeom prst="rect">
            <a:avLst/>
          </a:prstGeom>
          <a:noFill/>
          <a:ln>
            <a:noFill/>
          </a:ln>
        </p:spPr>
        <p:txBody>
          <a:bodyPr/>
          <a:lstStyle/>
          <a:p>
            <a:endParaRPr lang="en-IN"/>
          </a:p>
        </p:txBody>
      </p:sp>
      <p:sp>
        <p:nvSpPr>
          <p:cNvPr id="49" name="Google Shape;49;p6"/>
          <p:cNvSpPr>
            <a:spLocks noGrp="1"/>
          </p:cNvSpPr>
          <p:nvPr>
            <p:ph type="pic" idx="5"/>
          </p:nvPr>
        </p:nvSpPr>
        <p:spPr>
          <a:xfrm>
            <a:off x="1050825" y="5529725"/>
            <a:ext cx="5058600" cy="3942900"/>
          </a:xfrm>
          <a:prstGeom prst="rect">
            <a:avLst/>
          </a:prstGeom>
          <a:noFill/>
          <a:ln>
            <a:noFill/>
          </a:ln>
        </p:spPr>
        <p:txBody>
          <a:bodyPr/>
          <a:lstStyle/>
          <a:p>
            <a:endParaRPr lang="en-IN"/>
          </a:p>
        </p:txBody>
      </p:sp>
      <p:sp>
        <p:nvSpPr>
          <p:cNvPr id="50" name="Google Shape;50;p6"/>
          <p:cNvSpPr>
            <a:spLocks noGrp="1"/>
          </p:cNvSpPr>
          <p:nvPr>
            <p:ph type="pic" idx="6"/>
          </p:nvPr>
        </p:nvSpPr>
        <p:spPr>
          <a:xfrm>
            <a:off x="6636825" y="5529725"/>
            <a:ext cx="5058600" cy="3942900"/>
          </a:xfrm>
          <a:prstGeom prst="rect">
            <a:avLst/>
          </a:prstGeom>
          <a:noFill/>
          <a:ln>
            <a:noFill/>
          </a:ln>
        </p:spPr>
        <p:txBody>
          <a:bodyPr/>
          <a:lstStyle/>
          <a:p>
            <a:endParaRPr lang="en-IN"/>
          </a:p>
        </p:txBody>
      </p:sp>
      <p:sp>
        <p:nvSpPr>
          <p:cNvPr id="51" name="Google Shape;51;p6"/>
          <p:cNvSpPr>
            <a:spLocks noGrp="1"/>
          </p:cNvSpPr>
          <p:nvPr>
            <p:ph type="pic" idx="7"/>
          </p:nvPr>
        </p:nvSpPr>
        <p:spPr>
          <a:xfrm>
            <a:off x="12175938" y="5529725"/>
            <a:ext cx="5058600" cy="3942900"/>
          </a:xfrm>
          <a:prstGeom prst="rect">
            <a:avLst/>
          </a:prstGeom>
          <a:noFill/>
          <a:ln>
            <a:no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53278"/>
              </a:buClr>
              <a:buSzPts val="4400"/>
              <a:buFont typeface="Inter"/>
              <a:buNone/>
              <a:defRPr sz="4400" i="0" u="none" strike="noStrike" cap="none">
                <a:solidFill>
                  <a:srgbClr val="253278"/>
                </a:solidFill>
                <a:latin typeface="Inter"/>
                <a:ea typeface="Inter"/>
                <a:cs typeface="Inter"/>
                <a:sym typeface="Inter"/>
              </a:defRPr>
            </a:lvl1pPr>
            <a:lvl2pPr lvl="1">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2pPr>
            <a:lvl3pPr lvl="2">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3pPr>
            <a:lvl4pPr lvl="3">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4pPr>
            <a:lvl5pPr lvl="4">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5pPr>
            <a:lvl6pPr lvl="5">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6pPr>
            <a:lvl7pPr lvl="6">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7pPr>
            <a:lvl8pPr lvl="7">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8pPr>
            <a:lvl9pPr lvl="8">
              <a:spcBef>
                <a:spcPts val="0"/>
              </a:spcBef>
              <a:spcAft>
                <a:spcPts val="0"/>
              </a:spcAft>
              <a:buClr>
                <a:srgbClr val="253278"/>
              </a:buClr>
              <a:buSzPts val="1400"/>
              <a:buFont typeface="Inter"/>
              <a:buNone/>
              <a:defRPr sz="1800">
                <a:solidFill>
                  <a:srgbClr val="253278"/>
                </a:solidFill>
                <a:latin typeface="Inter"/>
                <a:ea typeface="Inter"/>
                <a:cs typeface="Inter"/>
                <a:sym typeface="Inter"/>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rgbClr val="253278"/>
              </a:buClr>
              <a:buSzPts val="3200"/>
              <a:buFont typeface="Inter"/>
              <a:buChar char="•"/>
              <a:defRPr sz="3200" i="0" u="none" strike="noStrike" cap="none">
                <a:solidFill>
                  <a:srgbClr val="253278"/>
                </a:solidFill>
                <a:latin typeface="Inter"/>
                <a:ea typeface="Inter"/>
                <a:cs typeface="Inter"/>
                <a:sym typeface="Inter"/>
              </a:defRPr>
            </a:lvl1pPr>
            <a:lvl2pPr marL="914400" marR="0" lvl="1" indent="-406400" algn="l" rtl="0">
              <a:spcBef>
                <a:spcPts val="560"/>
              </a:spcBef>
              <a:spcAft>
                <a:spcPts val="0"/>
              </a:spcAft>
              <a:buClr>
                <a:srgbClr val="253278"/>
              </a:buClr>
              <a:buSzPts val="2800"/>
              <a:buFont typeface="Inter"/>
              <a:buChar char="–"/>
              <a:defRPr sz="2800" i="0" u="none" strike="noStrike" cap="none">
                <a:solidFill>
                  <a:srgbClr val="253278"/>
                </a:solidFill>
                <a:latin typeface="Inter"/>
                <a:ea typeface="Inter"/>
                <a:cs typeface="Inter"/>
                <a:sym typeface="Inter"/>
              </a:defRPr>
            </a:lvl2pPr>
            <a:lvl3pPr marL="1371600" marR="0" lvl="2" indent="-381000" algn="l" rtl="0">
              <a:spcBef>
                <a:spcPts val="480"/>
              </a:spcBef>
              <a:spcAft>
                <a:spcPts val="0"/>
              </a:spcAft>
              <a:buClr>
                <a:srgbClr val="253278"/>
              </a:buClr>
              <a:buSzPts val="2400"/>
              <a:buFont typeface="Inter"/>
              <a:buChar char="•"/>
              <a:defRPr sz="2400" i="0" u="none" strike="noStrike" cap="none">
                <a:solidFill>
                  <a:srgbClr val="253278"/>
                </a:solidFill>
                <a:latin typeface="Inter"/>
                <a:ea typeface="Inter"/>
                <a:cs typeface="Inter"/>
                <a:sym typeface="Inter"/>
              </a:defRPr>
            </a:lvl3pPr>
            <a:lvl4pPr marL="1828800" marR="0" lvl="3" indent="-355600" algn="l" rtl="0">
              <a:spcBef>
                <a:spcPts val="400"/>
              </a:spcBef>
              <a:spcAft>
                <a:spcPts val="0"/>
              </a:spcAft>
              <a:buClr>
                <a:srgbClr val="253278"/>
              </a:buClr>
              <a:buSzPts val="2000"/>
              <a:buFont typeface="Inter"/>
              <a:buChar char="–"/>
              <a:defRPr sz="2000" i="0" u="none" strike="noStrike" cap="none">
                <a:solidFill>
                  <a:srgbClr val="253278"/>
                </a:solidFill>
                <a:latin typeface="Inter"/>
                <a:ea typeface="Inter"/>
                <a:cs typeface="Inter"/>
                <a:sym typeface="Inter"/>
              </a:defRPr>
            </a:lvl4pPr>
            <a:lvl5pPr marL="2286000" marR="0" lvl="4" indent="-355600" algn="l" rtl="0">
              <a:spcBef>
                <a:spcPts val="400"/>
              </a:spcBef>
              <a:spcAft>
                <a:spcPts val="0"/>
              </a:spcAft>
              <a:buClr>
                <a:srgbClr val="253278"/>
              </a:buClr>
              <a:buSzPts val="2000"/>
              <a:buFont typeface="Inter"/>
              <a:buChar char="»"/>
              <a:defRPr sz="2000" i="0" u="none" strike="noStrike" cap="none">
                <a:solidFill>
                  <a:srgbClr val="253278"/>
                </a:solidFill>
                <a:latin typeface="Inter"/>
                <a:ea typeface="Inter"/>
                <a:cs typeface="Inter"/>
                <a:sym typeface="Inter"/>
              </a:defRPr>
            </a:lvl5pPr>
            <a:lvl6pPr marL="2743200" marR="0" lvl="5" indent="-355600" algn="l" rtl="0">
              <a:spcBef>
                <a:spcPts val="400"/>
              </a:spcBef>
              <a:spcAft>
                <a:spcPts val="0"/>
              </a:spcAft>
              <a:buClr>
                <a:srgbClr val="253278"/>
              </a:buClr>
              <a:buSzPts val="2000"/>
              <a:buFont typeface="Inter"/>
              <a:buChar char="•"/>
              <a:defRPr sz="2000" i="0" u="none" strike="noStrike" cap="none">
                <a:solidFill>
                  <a:srgbClr val="253278"/>
                </a:solidFill>
                <a:latin typeface="Inter"/>
                <a:ea typeface="Inter"/>
                <a:cs typeface="Inter"/>
                <a:sym typeface="Inter"/>
              </a:defRPr>
            </a:lvl6pPr>
            <a:lvl7pPr marL="3200400" marR="0" lvl="6" indent="-355600" algn="l" rtl="0">
              <a:spcBef>
                <a:spcPts val="400"/>
              </a:spcBef>
              <a:spcAft>
                <a:spcPts val="0"/>
              </a:spcAft>
              <a:buClr>
                <a:srgbClr val="253278"/>
              </a:buClr>
              <a:buSzPts val="2000"/>
              <a:buFont typeface="Inter"/>
              <a:buChar char="•"/>
              <a:defRPr sz="2000" i="0" u="none" strike="noStrike" cap="none">
                <a:solidFill>
                  <a:srgbClr val="253278"/>
                </a:solidFill>
                <a:latin typeface="Inter"/>
                <a:ea typeface="Inter"/>
                <a:cs typeface="Inter"/>
                <a:sym typeface="Inter"/>
              </a:defRPr>
            </a:lvl7pPr>
            <a:lvl8pPr marL="3657600" marR="0" lvl="7" indent="-355600" algn="l" rtl="0">
              <a:spcBef>
                <a:spcPts val="400"/>
              </a:spcBef>
              <a:spcAft>
                <a:spcPts val="0"/>
              </a:spcAft>
              <a:buClr>
                <a:srgbClr val="253278"/>
              </a:buClr>
              <a:buSzPts val="2000"/>
              <a:buFont typeface="Inter"/>
              <a:buChar char="•"/>
              <a:defRPr sz="2000" i="0" u="none" strike="noStrike" cap="none">
                <a:solidFill>
                  <a:srgbClr val="253278"/>
                </a:solidFill>
                <a:latin typeface="Inter"/>
                <a:ea typeface="Inter"/>
                <a:cs typeface="Inter"/>
                <a:sym typeface="Inter"/>
              </a:defRPr>
            </a:lvl8pPr>
            <a:lvl9pPr marL="4114800" marR="0" lvl="8" indent="-355600" algn="l" rtl="0">
              <a:spcBef>
                <a:spcPts val="400"/>
              </a:spcBef>
              <a:spcAft>
                <a:spcPts val="0"/>
              </a:spcAft>
              <a:buClr>
                <a:srgbClr val="253278"/>
              </a:buClr>
              <a:buSzPts val="2000"/>
              <a:buFont typeface="Inter"/>
              <a:buChar char="•"/>
              <a:defRPr sz="2000" i="0" u="none" strike="noStrike" cap="none">
                <a:solidFill>
                  <a:srgbClr val="253278"/>
                </a:solidFill>
                <a:latin typeface="Inter"/>
                <a:ea typeface="Inter"/>
                <a:cs typeface="Inter"/>
                <a:sym typeface="Inter"/>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127.0.0.1:8050/"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tensorflow.org/guide/keras" TargetMode="External"/><Relationship Id="rId7" Type="http://schemas.openxmlformats.org/officeDocument/2006/relationships/hyperlink" Target="https://numpy.org/doc/"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seaborn.pydata.org/" TargetMode="External"/><Relationship Id="rId5" Type="http://schemas.openxmlformats.org/officeDocument/2006/relationships/hyperlink" Target="https://matplotlib.org/stable/contents.html" TargetMode="External"/><Relationship Id="rId4" Type="http://schemas.openxmlformats.org/officeDocument/2006/relationships/hyperlink" Target="https://scikit-learn.org/stable/modules/preprocessing.html"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55"/>
        <p:cNvGrpSpPr/>
        <p:nvPr/>
      </p:nvGrpSpPr>
      <p:grpSpPr>
        <a:xfrm>
          <a:off x="0" y="0"/>
          <a:ext cx="0" cy="0"/>
          <a:chOff x="0" y="0"/>
          <a:chExt cx="0" cy="0"/>
        </a:xfrm>
      </p:grpSpPr>
      <p:pic>
        <p:nvPicPr>
          <p:cNvPr id="56" name="Google Shape;56;p7"/>
          <p:cNvPicPr preferRelativeResize="0"/>
          <p:nvPr/>
        </p:nvPicPr>
        <p:blipFill>
          <a:blip r:embed="rId3">
            <a:alphaModFix/>
          </a:blip>
          <a:stretch>
            <a:fillRect/>
          </a:stretch>
        </p:blipFill>
        <p:spPr>
          <a:xfrm>
            <a:off x="260574" y="297887"/>
            <a:ext cx="4238074" cy="4111176"/>
          </a:xfrm>
          <a:prstGeom prst="rect">
            <a:avLst/>
          </a:prstGeom>
          <a:noFill/>
          <a:ln>
            <a:noFill/>
          </a:ln>
        </p:spPr>
      </p:pic>
      <p:sp>
        <p:nvSpPr>
          <p:cNvPr id="57" name="Google Shape;57;p7"/>
          <p:cNvSpPr txBox="1"/>
          <p:nvPr/>
        </p:nvSpPr>
        <p:spPr>
          <a:xfrm>
            <a:off x="3929063" y="4631443"/>
            <a:ext cx="13215937" cy="373948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5400" dirty="0">
                <a:solidFill>
                  <a:srgbClr val="253278"/>
                </a:solidFill>
                <a:latin typeface="Inter ExtraBold"/>
                <a:ea typeface="Inter ExtraBold"/>
                <a:cs typeface="Inter ExtraBold"/>
                <a:sym typeface="Inter ExtraBold"/>
              </a:rPr>
              <a:t>PrognosAI: AI-Driven Predictive Maintenance System Using Time-Series Sensor Data</a:t>
            </a:r>
            <a:endParaRPr lang="en-US" sz="3600" dirty="0">
              <a:solidFill>
                <a:srgbClr val="002060"/>
              </a:solidFill>
              <a:latin typeface="Gill Sans MT" panose="020B0502020104020203" pitchFamily="34" charset="0"/>
              <a:ea typeface="Inter ExtraBold"/>
              <a:cs typeface="Inter ExtraBold"/>
              <a:sym typeface="Inter ExtraBold"/>
            </a:endParaRPr>
          </a:p>
          <a:p>
            <a:pPr marL="0" marR="0" lvl="0" indent="0" algn="l" rtl="0">
              <a:lnSpc>
                <a:spcPct val="90000"/>
              </a:lnSpc>
              <a:spcBef>
                <a:spcPts val="0"/>
              </a:spcBef>
              <a:spcAft>
                <a:spcPts val="0"/>
              </a:spcAft>
              <a:buNone/>
            </a:pPr>
            <a:r>
              <a:rPr lang="en-US" sz="3600" dirty="0">
                <a:solidFill>
                  <a:srgbClr val="002060"/>
                </a:solidFill>
                <a:latin typeface="Gill Sans MT" panose="020B0502020104020203" pitchFamily="34" charset="0"/>
                <a:ea typeface="Inter ExtraBold"/>
                <a:cs typeface="Inter ExtraBold"/>
                <a:sym typeface="Inter ExtraBold"/>
              </a:rPr>
              <a:t>Internship: Infosys Virtual Internship 6.0</a:t>
            </a:r>
          </a:p>
          <a:p>
            <a:pPr marL="0" marR="0" lvl="0" indent="0" algn="l" rtl="0">
              <a:lnSpc>
                <a:spcPct val="90000"/>
              </a:lnSpc>
              <a:spcBef>
                <a:spcPts val="0"/>
              </a:spcBef>
              <a:spcAft>
                <a:spcPts val="0"/>
              </a:spcAft>
              <a:buNone/>
            </a:pPr>
            <a:r>
              <a:rPr lang="en-US" sz="3600" dirty="0">
                <a:solidFill>
                  <a:srgbClr val="002060"/>
                </a:solidFill>
                <a:latin typeface="Gill Sans MT" panose="020B0502020104020203" pitchFamily="34" charset="0"/>
                <a:ea typeface="Inter ExtraBold"/>
                <a:cs typeface="Inter ExtraBold"/>
                <a:sym typeface="Inter ExtraBold"/>
              </a:rPr>
              <a:t>Name: Chivukula Sai Rithivik</a:t>
            </a:r>
          </a:p>
          <a:p>
            <a:pPr marL="0" marR="0" lvl="0" indent="0" algn="l" rtl="0">
              <a:lnSpc>
                <a:spcPct val="90000"/>
              </a:lnSpc>
              <a:spcBef>
                <a:spcPts val="0"/>
              </a:spcBef>
              <a:spcAft>
                <a:spcPts val="0"/>
              </a:spcAft>
              <a:buNone/>
            </a:pPr>
            <a:r>
              <a:rPr lang="en-US" sz="3600" dirty="0">
                <a:solidFill>
                  <a:srgbClr val="002060"/>
                </a:solidFill>
                <a:latin typeface="Gill Sans MT" panose="020B0502020104020203" pitchFamily="34" charset="0"/>
                <a:ea typeface="Inter ExtraBold"/>
                <a:cs typeface="Inter ExtraBold"/>
                <a:sym typeface="Inter ExtraBold"/>
              </a:rPr>
              <a:t>Data-Set: NASA C-MAPPS </a:t>
            </a:r>
            <a:endParaRPr sz="3600" dirty="0">
              <a:solidFill>
                <a:srgbClr val="002060"/>
              </a:solidFill>
              <a:latin typeface="Gill Sans MT" panose="020B0502020104020203" pitchFamily="34" charset="0"/>
              <a:ea typeface="Inter ExtraBold"/>
              <a:cs typeface="Inter ExtraBold"/>
              <a:sym typeface="Inter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64"/>
        <p:cNvGrpSpPr/>
        <p:nvPr/>
      </p:nvGrpSpPr>
      <p:grpSpPr>
        <a:xfrm>
          <a:off x="0" y="0"/>
          <a:ext cx="0" cy="0"/>
          <a:chOff x="0" y="0"/>
          <a:chExt cx="0" cy="0"/>
        </a:xfrm>
      </p:grpSpPr>
      <p:grpSp>
        <p:nvGrpSpPr>
          <p:cNvPr id="66" name="Google Shape;66;p8"/>
          <p:cNvGrpSpPr/>
          <p:nvPr/>
        </p:nvGrpSpPr>
        <p:grpSpPr>
          <a:xfrm>
            <a:off x="1506170" y="4586288"/>
            <a:ext cx="14967318" cy="4868253"/>
            <a:chOff x="0" y="-9525"/>
            <a:chExt cx="4274726" cy="1260348"/>
          </a:xfrm>
        </p:grpSpPr>
        <p:sp>
          <p:nvSpPr>
            <p:cNvPr id="67" name="Google Shape;67;p8"/>
            <p:cNvSpPr/>
            <p:nvPr/>
          </p:nvSpPr>
          <p:spPr>
            <a:xfrm>
              <a:off x="0" y="0"/>
              <a:ext cx="4274726" cy="1250823"/>
            </a:xfrm>
            <a:custGeom>
              <a:avLst/>
              <a:gdLst/>
              <a:ahLst/>
              <a:cxnLst/>
              <a:rect l="l" t="t" r="r" b="b"/>
              <a:pathLst>
                <a:path w="4274726" h="1250823" extrusionOk="0">
                  <a:moveTo>
                    <a:pt x="0" y="0"/>
                  </a:moveTo>
                  <a:lnTo>
                    <a:pt x="4274726" y="0"/>
                  </a:lnTo>
                  <a:lnTo>
                    <a:pt x="4274726" y="1250823"/>
                  </a:lnTo>
                  <a:lnTo>
                    <a:pt x="0" y="1250823"/>
                  </a:lnTo>
                  <a:close/>
                </a:path>
              </a:pathLst>
            </a:custGeom>
            <a:solidFill>
              <a:srgbClr val="253278"/>
            </a:solidFill>
            <a:ln>
              <a:noFill/>
            </a:ln>
          </p:spPr>
          <p:txBody>
            <a:bodyPr/>
            <a:lstStyle/>
            <a:p>
              <a:endParaRPr lang="en-IN"/>
            </a:p>
          </p:txBody>
        </p:sp>
        <p:sp>
          <p:nvSpPr>
            <p:cNvPr id="68" name="Google Shape;68;p8"/>
            <p:cNvSpPr txBox="1"/>
            <p:nvPr/>
          </p:nvSpPr>
          <p:spPr>
            <a:xfrm>
              <a:off x="0" y="-9525"/>
              <a:ext cx="4274726" cy="1260348"/>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br>
                <a:rPr lang="en-US" sz="1800" b="0" i="0" u="none" strike="noStrike" cap="none" dirty="0">
                  <a:solidFill>
                    <a:schemeClr val="dk1"/>
                  </a:solidFill>
                  <a:latin typeface="Calibri"/>
                  <a:ea typeface="Calibri"/>
                  <a:cs typeface="Calibri"/>
                  <a:sym typeface="Calibri"/>
                </a:rPr>
              </a:br>
              <a:endParaRPr lang="en-US" sz="1800" b="0" i="0" u="none" strike="noStrike" cap="none" dirty="0">
                <a:solidFill>
                  <a:schemeClr val="dk1"/>
                </a:solidFill>
                <a:latin typeface="Calibri"/>
                <a:ea typeface="Calibri"/>
                <a:cs typeface="Calibri"/>
                <a:sym typeface="Calibri"/>
              </a:endParaRPr>
            </a:p>
            <a:p>
              <a:pPr marL="0" marR="0" lvl="0" indent="0" algn="ctr" rtl="0">
                <a:lnSpc>
                  <a:spcPct val="140000"/>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69" name="Google Shape;69;p8"/>
          <p:cNvSpPr txBox="1"/>
          <p:nvPr/>
        </p:nvSpPr>
        <p:spPr>
          <a:xfrm>
            <a:off x="1028700" y="1603985"/>
            <a:ext cx="8653200" cy="2216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400" i="0" u="none" strike="noStrike" cap="none" dirty="0">
                <a:solidFill>
                  <a:srgbClr val="253278"/>
                </a:solidFill>
                <a:latin typeface="Inter ExtraBold"/>
                <a:ea typeface="Inter ExtraBold"/>
                <a:cs typeface="Inter ExtraBold"/>
                <a:sym typeface="Inter ExtraBold"/>
              </a:rPr>
              <a:t>AGENDA</a:t>
            </a:r>
            <a:endParaRPr dirty="0">
              <a:latin typeface="Inter ExtraBold"/>
              <a:ea typeface="Inter ExtraBold"/>
              <a:cs typeface="Inter ExtraBold"/>
              <a:sym typeface="Inter ExtraBold"/>
            </a:endParaRPr>
          </a:p>
        </p:txBody>
      </p:sp>
      <p:sp>
        <p:nvSpPr>
          <p:cNvPr id="71" name="Google Shape;71;p8"/>
          <p:cNvSpPr txBox="1"/>
          <p:nvPr/>
        </p:nvSpPr>
        <p:spPr>
          <a:xfrm>
            <a:off x="1814512" y="5869605"/>
            <a:ext cx="14287501" cy="2585323"/>
          </a:xfrm>
          <a:prstGeom prst="rect">
            <a:avLst/>
          </a:prstGeom>
          <a:noFill/>
          <a:ln>
            <a:noFill/>
          </a:ln>
        </p:spPr>
        <p:txBody>
          <a:bodyPr spcFirstLastPara="1" wrap="square" lIns="0" tIns="0" rIns="0" bIns="0" anchor="t" anchorCtr="0">
            <a:spAutoFit/>
          </a:bodyPr>
          <a:lstStyle/>
          <a:p>
            <a:pPr lvl="0"/>
            <a:r>
              <a:rPr lang="en-US" sz="2800" dirty="0">
                <a:solidFill>
                  <a:schemeClr val="bg1">
                    <a:lumMod val="95000"/>
                  </a:schemeClr>
                </a:solidFill>
                <a:latin typeface="Inter SemiBold" panose="020B0604020202020204" charset="0"/>
                <a:ea typeface="Inter SemiBold" panose="020B0604020202020204" charset="0"/>
              </a:rPr>
              <a:t>The internship focuses on predicting the </a:t>
            </a:r>
            <a:r>
              <a:rPr lang="en-US" sz="2800" dirty="0">
                <a:solidFill>
                  <a:srgbClr val="92D050"/>
                </a:solidFill>
                <a:latin typeface="Inter SemiBold" panose="020B0604020202020204" charset="0"/>
                <a:ea typeface="Inter SemiBold" panose="020B0604020202020204" charset="0"/>
              </a:rPr>
              <a:t>Remaining Useful Life (RUL) </a:t>
            </a:r>
            <a:r>
              <a:rPr lang="en-US" sz="2800" dirty="0">
                <a:solidFill>
                  <a:schemeClr val="bg1">
                    <a:lumMod val="95000"/>
                  </a:schemeClr>
                </a:solidFill>
                <a:latin typeface="Inter SemiBold" panose="020B0604020202020204" charset="0"/>
                <a:ea typeface="Inter SemiBold" panose="020B0604020202020204" charset="0"/>
              </a:rPr>
              <a:t>of turbofan engines using an </a:t>
            </a:r>
            <a:r>
              <a:rPr lang="en-US" sz="2800" dirty="0">
                <a:solidFill>
                  <a:srgbClr val="92D050"/>
                </a:solidFill>
                <a:latin typeface="Inter SemiBold" panose="020B0604020202020204" charset="0"/>
                <a:ea typeface="Inter SemiBold" panose="020B0604020202020204" charset="0"/>
              </a:rPr>
              <a:t>LSTM-based model. </a:t>
            </a:r>
            <a:r>
              <a:rPr lang="en-US" sz="2800" dirty="0">
                <a:solidFill>
                  <a:schemeClr val="bg1">
                    <a:lumMod val="95000"/>
                  </a:schemeClr>
                </a:solidFill>
                <a:latin typeface="Inter SemiBold" panose="020B0604020202020204" charset="0"/>
                <a:ea typeface="Inter SemiBold" panose="020B0604020202020204" charset="0"/>
              </a:rPr>
              <a:t>This enables proactive maintenance, reducing downtime and improving engine reliability and safety. The model analyzes historical sensor data to capture temporal patterns, and results are visualized through dashboards for easy monitoring. The project demonstrates the application of deep learning for real-world predictive maintenance.</a:t>
            </a:r>
            <a:endParaRPr sz="2800" dirty="0">
              <a:solidFill>
                <a:schemeClr val="bg1">
                  <a:lumMod val="95000"/>
                </a:schemeClr>
              </a:solidFill>
              <a:latin typeface="Inter SemiBold" panose="020B0604020202020204" charset="0"/>
              <a:ea typeface="Inter SemiBold" panose="020B0604020202020204" charset="0"/>
            </a:endParaRPr>
          </a:p>
        </p:txBody>
      </p:sp>
      <p:sp>
        <p:nvSpPr>
          <p:cNvPr id="2" name="Google Shape;116;p11">
            <a:extLst>
              <a:ext uri="{FF2B5EF4-FFF2-40B4-BE49-F238E27FC236}">
                <a16:creationId xmlns:a16="http://schemas.microsoft.com/office/drawing/2014/main" id="{242E730F-F1C8-67CA-3142-D55D72016392}"/>
              </a:ext>
            </a:extLst>
          </p:cNvPr>
          <p:cNvSpPr txBox="1"/>
          <p:nvPr/>
        </p:nvSpPr>
        <p:spPr>
          <a:xfrm>
            <a:off x="6628597" y="5020059"/>
            <a:ext cx="3402300"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dirty="0">
                <a:solidFill>
                  <a:srgbClr val="F8EFE5"/>
                </a:solidFill>
                <a:latin typeface="Inter"/>
                <a:ea typeface="Inter"/>
                <a:sym typeface="Inter"/>
              </a:rPr>
              <a:t>Objective</a:t>
            </a:r>
            <a:endParaRPr dirty="0"/>
          </a:p>
        </p:txBody>
      </p:sp>
      <p:pic>
        <p:nvPicPr>
          <p:cNvPr id="4" name="Picture 3">
            <a:extLst>
              <a:ext uri="{FF2B5EF4-FFF2-40B4-BE49-F238E27FC236}">
                <a16:creationId xmlns:a16="http://schemas.microsoft.com/office/drawing/2014/main" id="{815113B2-6E57-3FB8-CC80-BCD8D35AEAE3}"/>
              </a:ext>
            </a:extLst>
          </p:cNvPr>
          <p:cNvPicPr>
            <a:picLocks noChangeAspect="1"/>
          </p:cNvPicPr>
          <p:nvPr/>
        </p:nvPicPr>
        <p:blipFill>
          <a:blip r:embed="rId3"/>
          <a:stretch>
            <a:fillRect/>
          </a:stretch>
        </p:blipFill>
        <p:spPr>
          <a:xfrm>
            <a:off x="11682006" y="475561"/>
            <a:ext cx="5811061" cy="396295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53278"/>
        </a:solidFill>
        <a:effectLst/>
      </p:bgPr>
    </p:bg>
    <p:spTree>
      <p:nvGrpSpPr>
        <p:cNvPr id="1" name="Shape 83"/>
        <p:cNvGrpSpPr/>
        <p:nvPr/>
      </p:nvGrpSpPr>
      <p:grpSpPr>
        <a:xfrm>
          <a:off x="0" y="0"/>
          <a:ext cx="0" cy="0"/>
          <a:chOff x="0" y="0"/>
          <a:chExt cx="0" cy="0"/>
        </a:xfrm>
      </p:grpSpPr>
      <p:sp>
        <p:nvSpPr>
          <p:cNvPr id="84" name="Google Shape;84;p9"/>
          <p:cNvSpPr txBox="1"/>
          <p:nvPr/>
        </p:nvSpPr>
        <p:spPr>
          <a:xfrm>
            <a:off x="6329363" y="2014538"/>
            <a:ext cx="4529138" cy="4985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600" dirty="0">
                <a:solidFill>
                  <a:srgbClr val="F8EFE5"/>
                </a:solidFill>
                <a:latin typeface="Inter SemiBold" panose="020B0604020202020204" charset="0"/>
                <a:ea typeface="Inter SemiBold" panose="020B0604020202020204" charset="0"/>
                <a:cs typeface="Inter ExtraBold"/>
                <a:sym typeface="Inter ExtraBold"/>
              </a:rPr>
              <a:t>Internship Overview</a:t>
            </a:r>
            <a:endParaRPr sz="3600" dirty="0">
              <a:latin typeface="Inter SemiBold" panose="020B0604020202020204" charset="0"/>
              <a:ea typeface="Inter SemiBold" panose="020B0604020202020204" charset="0"/>
              <a:cs typeface="Inter ExtraBold"/>
              <a:sym typeface="Inter ExtraBold"/>
            </a:endParaRPr>
          </a:p>
        </p:txBody>
      </p:sp>
      <p:graphicFrame>
        <p:nvGraphicFramePr>
          <p:cNvPr id="3" name="Diagram 2">
            <a:extLst>
              <a:ext uri="{FF2B5EF4-FFF2-40B4-BE49-F238E27FC236}">
                <a16:creationId xmlns:a16="http://schemas.microsoft.com/office/drawing/2014/main" id="{5B9E7248-D4EB-86E6-46C8-983A0FE6ECF0}"/>
              </a:ext>
            </a:extLst>
          </p:cNvPr>
          <p:cNvGraphicFramePr/>
          <p:nvPr>
            <p:extLst>
              <p:ext uri="{D42A27DB-BD31-4B8C-83A1-F6EECF244321}">
                <p14:modId xmlns:p14="http://schemas.microsoft.com/office/powerpoint/2010/main" val="3494249852"/>
              </p:ext>
            </p:extLst>
          </p:nvPr>
        </p:nvGraphicFramePr>
        <p:xfrm>
          <a:off x="5719762" y="1079500"/>
          <a:ext cx="12192000"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190BBF8C-DFCF-F5FB-63A3-D51F96669364}"/>
              </a:ext>
            </a:extLst>
          </p:cNvPr>
          <p:cNvSpPr txBox="1"/>
          <p:nvPr/>
        </p:nvSpPr>
        <p:spPr>
          <a:xfrm>
            <a:off x="1285875" y="3900488"/>
            <a:ext cx="4433887" cy="2123658"/>
          </a:xfrm>
          <a:prstGeom prst="rect">
            <a:avLst/>
          </a:prstGeom>
          <a:noFill/>
        </p:spPr>
        <p:txBody>
          <a:bodyPr wrap="square" rtlCol="0">
            <a:spAutoFit/>
          </a:bodyPr>
          <a:lstStyle/>
          <a:p>
            <a:r>
              <a:rPr lang="en-US" sz="4400" dirty="0">
                <a:solidFill>
                  <a:schemeClr val="bg1">
                    <a:lumMod val="95000"/>
                  </a:schemeClr>
                </a:solidFill>
                <a:latin typeface="Inter SemiBold" panose="020B0604020202020204" charset="0"/>
                <a:ea typeface="Inter SemiBold" panose="020B0604020202020204" charset="0"/>
              </a:rPr>
              <a:t>RUL Prediction</a:t>
            </a:r>
          </a:p>
          <a:p>
            <a:r>
              <a:rPr lang="en-US" sz="4400" dirty="0">
                <a:solidFill>
                  <a:schemeClr val="bg1">
                    <a:lumMod val="95000"/>
                  </a:schemeClr>
                </a:solidFill>
                <a:latin typeface="Inter SemiBold" panose="020B0604020202020204" charset="0"/>
                <a:ea typeface="Inter SemiBold" panose="020B0604020202020204" charset="0"/>
              </a:rPr>
              <a:t>For CMAPS </a:t>
            </a:r>
          </a:p>
          <a:p>
            <a:r>
              <a:rPr lang="en-US" sz="4400" dirty="0">
                <a:solidFill>
                  <a:schemeClr val="bg1">
                    <a:lumMod val="95000"/>
                  </a:schemeClr>
                </a:solidFill>
                <a:latin typeface="Inter SemiBold" panose="020B0604020202020204" charset="0"/>
                <a:ea typeface="Inter SemiBold" panose="020B0604020202020204" charset="0"/>
              </a:rPr>
              <a:t>Dataset</a:t>
            </a:r>
            <a:endParaRPr lang="en-IN" sz="4400" dirty="0">
              <a:solidFill>
                <a:schemeClr val="bg1">
                  <a:lumMod val="95000"/>
                </a:schemeClr>
              </a:solidFill>
              <a:latin typeface="Inter SemiBold" panose="020B0604020202020204" charset="0"/>
              <a:ea typeface="Inter SemiBold" panose="020B06040202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90"/>
        <p:cNvGrpSpPr/>
        <p:nvPr/>
      </p:nvGrpSpPr>
      <p:grpSpPr>
        <a:xfrm>
          <a:off x="0" y="0"/>
          <a:ext cx="0" cy="0"/>
          <a:chOff x="0" y="0"/>
          <a:chExt cx="0" cy="0"/>
        </a:xfrm>
      </p:grpSpPr>
      <p:sp>
        <p:nvSpPr>
          <p:cNvPr id="93" name="Google Shape;93;p10"/>
          <p:cNvSpPr txBox="1"/>
          <p:nvPr/>
        </p:nvSpPr>
        <p:spPr>
          <a:xfrm>
            <a:off x="6320057" y="406400"/>
            <a:ext cx="4594685"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dirty="0">
                <a:solidFill>
                  <a:srgbClr val="253278"/>
                </a:solidFill>
                <a:latin typeface="Inter SemiBold" panose="020B0604020202020204" charset="0"/>
                <a:ea typeface="Inter SemiBold" panose="020B0604020202020204" charset="0"/>
                <a:cs typeface="Inter ExtraBold"/>
                <a:sym typeface="Inter ExtraBold"/>
              </a:rPr>
              <a:t>Milestone 1</a:t>
            </a:r>
            <a:endParaRPr sz="4800" b="1" dirty="0">
              <a:latin typeface="Inter SemiBold" panose="020B0604020202020204" charset="0"/>
              <a:ea typeface="Inter SemiBold" panose="020B0604020202020204" charset="0"/>
              <a:cs typeface="Inter ExtraBold"/>
              <a:sym typeface="Inter ExtraBold"/>
            </a:endParaRPr>
          </a:p>
        </p:txBody>
      </p:sp>
      <p:sp>
        <p:nvSpPr>
          <p:cNvPr id="4" name="Rectangle 3">
            <a:extLst>
              <a:ext uri="{FF2B5EF4-FFF2-40B4-BE49-F238E27FC236}">
                <a16:creationId xmlns:a16="http://schemas.microsoft.com/office/drawing/2014/main" id="{3A3B1713-4DF6-BB27-D5CC-708BFBEDCD1D}"/>
              </a:ext>
            </a:extLst>
          </p:cNvPr>
          <p:cNvSpPr/>
          <p:nvPr/>
        </p:nvSpPr>
        <p:spPr>
          <a:xfrm>
            <a:off x="450056" y="1885950"/>
            <a:ext cx="12358687" cy="76009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E823098-CAFE-297B-3422-DE1A2C502DBC}"/>
              </a:ext>
            </a:extLst>
          </p:cNvPr>
          <p:cNvSpPr txBox="1"/>
          <p:nvPr/>
        </p:nvSpPr>
        <p:spPr>
          <a:xfrm>
            <a:off x="828675" y="2116614"/>
            <a:ext cx="11601450" cy="6986528"/>
          </a:xfrm>
          <a:prstGeom prst="rect">
            <a:avLst/>
          </a:prstGeom>
          <a:noFill/>
        </p:spPr>
        <p:txBody>
          <a:bodyPr wrap="square">
            <a:spAutoFit/>
          </a:bodyPr>
          <a:lstStyle/>
          <a:p>
            <a:pPr>
              <a:buNone/>
            </a:pPr>
            <a:r>
              <a:rPr lang="en-IN" sz="2800" b="1" dirty="0">
                <a:solidFill>
                  <a:schemeClr val="accent6">
                    <a:lumMod val="75000"/>
                  </a:schemeClr>
                </a:solidFill>
                <a:latin typeface="Inter SemiBold" panose="020B0604020202020204" charset="0"/>
                <a:ea typeface="Inter SemiBold" panose="020B0604020202020204" charset="0"/>
              </a:rPr>
              <a:t>1. Load Data</a:t>
            </a:r>
            <a:endParaRPr lang="en-IN" sz="2400" dirty="0">
              <a:solidFill>
                <a:schemeClr val="accent6">
                  <a:lumMod val="75000"/>
                </a:schemeClr>
              </a:solidFill>
              <a:latin typeface="Inter SemiBold" panose="020B0604020202020204" charset="0"/>
              <a:ea typeface="Inter SemiBold" panose="020B0604020202020204" charset="0"/>
            </a:endParaRPr>
          </a:p>
          <a:p>
            <a:pPr marL="342900" lvl="5" indent="-342900">
              <a:buFont typeface="Arial" panose="020B0604020202020204" pitchFamily="34" charset="0"/>
              <a:buChar char="•"/>
            </a:pPr>
            <a:r>
              <a:rPr lang="en-IN" sz="2400" dirty="0">
                <a:solidFill>
                  <a:schemeClr val="bg1"/>
                </a:solidFill>
                <a:latin typeface="Inter SemiBold" panose="020B0604020202020204" charset="0"/>
                <a:ea typeface="Inter SemiBold" panose="020B0604020202020204" charset="0"/>
              </a:rPr>
              <a:t>Imported training (train_FD001.txt) and test (test_FD001.txt) datasets, along with true RUL labels (RUL_FD001.txt).</a:t>
            </a:r>
          </a:p>
          <a:p>
            <a:pPr marL="342900" lvl="7" indent="-342900">
              <a:buFont typeface="Arial" panose="020B0604020202020204" pitchFamily="34" charset="0"/>
              <a:buChar char="•"/>
            </a:pPr>
            <a:r>
              <a:rPr lang="en-IN" sz="2400" dirty="0">
                <a:solidFill>
                  <a:schemeClr val="bg1"/>
                </a:solidFill>
                <a:latin typeface="Inter SemiBold" panose="020B0604020202020204" charset="0"/>
                <a:ea typeface="Inter SemiBold" panose="020B0604020202020204" charset="0"/>
              </a:rPr>
              <a:t>Defined column names for engine settings and sensor readings.</a:t>
            </a:r>
          </a:p>
          <a:p>
            <a:pPr>
              <a:buNone/>
            </a:pPr>
            <a:r>
              <a:rPr lang="en-IN" sz="2800" b="1" dirty="0">
                <a:solidFill>
                  <a:schemeClr val="accent6">
                    <a:lumMod val="75000"/>
                  </a:schemeClr>
                </a:solidFill>
                <a:latin typeface="Inter SemiBold" panose="020B0604020202020204" charset="0"/>
                <a:ea typeface="Inter SemiBold" panose="020B0604020202020204" charset="0"/>
              </a:rPr>
              <a:t>2. Preprocessing</a:t>
            </a:r>
            <a:endParaRPr lang="en-IN" sz="2400" dirty="0">
              <a:solidFill>
                <a:schemeClr val="accent6">
                  <a:lumMod val="75000"/>
                </a:schemeClr>
              </a:solidFill>
              <a:latin typeface="Inter SemiBold" panose="020B0604020202020204" charset="0"/>
              <a:ea typeface="Inter SemiBold" panose="020B0604020202020204" charset="0"/>
            </a:endParaRPr>
          </a:p>
          <a:p>
            <a:pPr marL="342900" indent="-342900">
              <a:buFont typeface="Arial" panose="020B0604020202020204" pitchFamily="34" charset="0"/>
              <a:buChar char="•"/>
            </a:pPr>
            <a:r>
              <a:rPr lang="en-IN" sz="2400" b="1" dirty="0">
                <a:solidFill>
                  <a:srgbClr val="92D050"/>
                </a:solidFill>
                <a:latin typeface="Inter SemiBold" panose="020B0604020202020204" charset="0"/>
                <a:ea typeface="Inter SemiBold" panose="020B0604020202020204" charset="0"/>
              </a:rPr>
              <a:t>RUL Calculation:</a:t>
            </a:r>
            <a:r>
              <a:rPr lang="en-IN" sz="2400" dirty="0">
                <a:solidFill>
                  <a:srgbClr val="92D050"/>
                </a:solidFill>
                <a:latin typeface="Inter SemiBold" panose="020B0604020202020204" charset="0"/>
                <a:ea typeface="Inter SemiBold" panose="020B0604020202020204" charset="0"/>
              </a:rPr>
              <a:t> </a:t>
            </a:r>
            <a:r>
              <a:rPr lang="en-IN" sz="2400" dirty="0">
                <a:solidFill>
                  <a:schemeClr val="bg1"/>
                </a:solidFill>
                <a:latin typeface="Inter SemiBold" panose="020B0604020202020204" charset="0"/>
                <a:ea typeface="Inter SemiBold" panose="020B0604020202020204" charset="0"/>
              </a:rPr>
              <a:t>Added Remaining Useful Life (RUL) to training data (RUL = max_cycle - current_cycle, capped at 125).</a:t>
            </a:r>
          </a:p>
          <a:p>
            <a:pPr marL="342900" indent="-342900">
              <a:buFont typeface="Arial" panose="020B0604020202020204" pitchFamily="34" charset="0"/>
              <a:buChar char="•"/>
            </a:pPr>
            <a:r>
              <a:rPr lang="en-IN" sz="2400" b="1" dirty="0">
                <a:solidFill>
                  <a:srgbClr val="92D050"/>
                </a:solidFill>
                <a:latin typeface="Inter SemiBold" panose="020B0604020202020204" charset="0"/>
                <a:ea typeface="Inter SemiBold" panose="020B0604020202020204" charset="0"/>
              </a:rPr>
              <a:t>Sensor Selection:</a:t>
            </a:r>
            <a:r>
              <a:rPr lang="en-IN" sz="2400" dirty="0">
                <a:solidFill>
                  <a:srgbClr val="92D050"/>
                </a:solidFill>
                <a:latin typeface="Inter SemiBold" panose="020B0604020202020204" charset="0"/>
                <a:ea typeface="Inter SemiBold" panose="020B0604020202020204" charset="0"/>
              </a:rPr>
              <a:t> </a:t>
            </a:r>
            <a:r>
              <a:rPr lang="en-IN" sz="2400" dirty="0">
                <a:solidFill>
                  <a:schemeClr val="bg1"/>
                </a:solidFill>
                <a:latin typeface="Inter SemiBold" panose="020B0604020202020204" charset="0"/>
                <a:ea typeface="Inter SemiBold" panose="020B0604020202020204" charset="0"/>
              </a:rPr>
              <a:t>Dropped constant sensors to reduce noise.</a:t>
            </a:r>
          </a:p>
          <a:p>
            <a:pPr marL="342900" indent="-342900">
              <a:buFont typeface="Arial" panose="020B0604020202020204" pitchFamily="34" charset="0"/>
              <a:buChar char="•"/>
            </a:pPr>
            <a:r>
              <a:rPr lang="en-IN" sz="2400" b="1" dirty="0">
                <a:solidFill>
                  <a:srgbClr val="92D050"/>
                </a:solidFill>
                <a:latin typeface="Inter SemiBold" panose="020B0604020202020204" charset="0"/>
                <a:ea typeface="Inter SemiBold" panose="020B0604020202020204" charset="0"/>
              </a:rPr>
              <a:t>Feature Engineering:</a:t>
            </a:r>
            <a:r>
              <a:rPr lang="en-IN" sz="2400" dirty="0">
                <a:solidFill>
                  <a:schemeClr val="bg1"/>
                </a:solidFill>
                <a:latin typeface="Inter SemiBold" panose="020B0604020202020204" charset="0"/>
                <a:ea typeface="Inter SemiBold" panose="020B0604020202020204" charset="0"/>
              </a:rPr>
              <a:t> Added rolling mean &amp; standard deviation (window=5) for each sensor.</a:t>
            </a:r>
          </a:p>
          <a:p>
            <a:pPr marL="342900" indent="-342900">
              <a:buFont typeface="Arial" panose="020B0604020202020204" pitchFamily="34" charset="0"/>
              <a:buChar char="•"/>
            </a:pPr>
            <a:r>
              <a:rPr lang="en-IN" sz="2400" b="1" dirty="0">
                <a:solidFill>
                  <a:srgbClr val="92D050"/>
                </a:solidFill>
                <a:latin typeface="Inter SemiBold" panose="020B0604020202020204" charset="0"/>
                <a:ea typeface="Inter SemiBold" panose="020B0604020202020204" charset="0"/>
              </a:rPr>
              <a:t>Scaling:</a:t>
            </a:r>
            <a:r>
              <a:rPr lang="en-IN" sz="2400" dirty="0">
                <a:solidFill>
                  <a:schemeClr val="bg1"/>
                </a:solidFill>
                <a:latin typeface="Inter SemiBold" panose="020B0604020202020204" charset="0"/>
                <a:ea typeface="Inter SemiBold" panose="020B0604020202020204" charset="0"/>
              </a:rPr>
              <a:t> Min-Max normalization applied to all features.</a:t>
            </a:r>
          </a:p>
          <a:p>
            <a:pPr>
              <a:buNone/>
            </a:pPr>
            <a:r>
              <a:rPr lang="en-IN" sz="2800" b="1" dirty="0">
                <a:solidFill>
                  <a:schemeClr val="accent6">
                    <a:lumMod val="75000"/>
                  </a:schemeClr>
                </a:solidFill>
                <a:latin typeface="Inter SemiBold" panose="020B0604020202020204" charset="0"/>
                <a:ea typeface="Inter SemiBold" panose="020B0604020202020204" charset="0"/>
              </a:rPr>
              <a:t>3. Sequence Generation</a:t>
            </a:r>
            <a:endParaRPr lang="en-IN" sz="2800" dirty="0">
              <a:solidFill>
                <a:schemeClr val="accent6">
                  <a:lumMod val="75000"/>
                </a:schemeClr>
              </a:solidFill>
              <a:latin typeface="Inter SemiBold" panose="020B0604020202020204" charset="0"/>
              <a:ea typeface="Inter SemiBold" panose="020B0604020202020204" charset="0"/>
            </a:endParaRPr>
          </a:p>
          <a:p>
            <a:pPr marL="342900" indent="-342900">
              <a:buFont typeface="Arial" panose="020B0604020202020204" pitchFamily="34" charset="0"/>
              <a:buChar char="•"/>
            </a:pPr>
            <a:r>
              <a:rPr lang="en-IN" sz="2400" dirty="0">
                <a:solidFill>
                  <a:schemeClr val="bg1"/>
                </a:solidFill>
                <a:latin typeface="Inter SemiBold" panose="020B0604020202020204" charset="0"/>
                <a:ea typeface="Inter SemiBold" panose="020B0604020202020204" charset="0"/>
              </a:rPr>
              <a:t>Generated sequences of length 30 for LSTM input.</a:t>
            </a:r>
          </a:p>
          <a:p>
            <a:pPr marL="342900" indent="-342900">
              <a:buFont typeface="Arial" panose="020B0604020202020204" pitchFamily="34" charset="0"/>
              <a:buChar char="•"/>
            </a:pPr>
            <a:r>
              <a:rPr lang="en-IN" sz="2400" dirty="0">
                <a:solidFill>
                  <a:schemeClr val="bg1"/>
                </a:solidFill>
                <a:latin typeface="Inter SemiBold" panose="020B0604020202020204" charset="0"/>
                <a:ea typeface="Inter SemiBold" panose="020B0604020202020204" charset="0"/>
              </a:rPr>
              <a:t>Each sequence contains sensor features + RUL label.</a:t>
            </a:r>
          </a:p>
          <a:p>
            <a:pPr marL="342900" indent="-342900">
              <a:buFont typeface="Arial" panose="020B0604020202020204" pitchFamily="34" charset="0"/>
              <a:buChar char="•"/>
            </a:pPr>
            <a:r>
              <a:rPr lang="en-IN" sz="2400" dirty="0">
                <a:solidFill>
                  <a:schemeClr val="bg1"/>
                </a:solidFill>
                <a:latin typeface="Inter SemiBold" panose="020B0604020202020204" charset="0"/>
                <a:ea typeface="Inter SemiBold" panose="020B0604020202020204" charset="0"/>
              </a:rPr>
              <a:t>Training sequences from all cycles, test sequences aligned with true RUL.</a:t>
            </a:r>
          </a:p>
          <a:p>
            <a:pPr>
              <a:buNone/>
            </a:pPr>
            <a:r>
              <a:rPr lang="en-IN" sz="2800" b="1" dirty="0">
                <a:solidFill>
                  <a:schemeClr val="accent6">
                    <a:lumMod val="75000"/>
                  </a:schemeClr>
                </a:solidFill>
                <a:latin typeface="Inter SemiBold" panose="020B0604020202020204" charset="0"/>
                <a:ea typeface="Inter SemiBold" panose="020B0604020202020204" charset="0"/>
              </a:rPr>
              <a:t>4. Save Processed Data</a:t>
            </a:r>
            <a:endParaRPr lang="en-IN" sz="2800" dirty="0">
              <a:solidFill>
                <a:schemeClr val="accent6">
                  <a:lumMod val="75000"/>
                </a:schemeClr>
              </a:solidFill>
              <a:latin typeface="Inter SemiBold" panose="020B0604020202020204" charset="0"/>
              <a:ea typeface="Inter SemiBold" panose="020B0604020202020204" charset="0"/>
            </a:endParaRPr>
          </a:p>
          <a:p>
            <a:pPr marL="342900" indent="-342900">
              <a:buFont typeface="Arial" panose="020B0604020202020204" pitchFamily="34" charset="0"/>
              <a:buChar char="•"/>
            </a:pPr>
            <a:r>
              <a:rPr lang="en-IN" sz="2400" dirty="0">
                <a:solidFill>
                  <a:schemeClr val="bg1"/>
                </a:solidFill>
                <a:latin typeface="Inter SemiBold" panose="020B0604020202020204" charset="0"/>
                <a:ea typeface="Inter SemiBold" panose="020B0604020202020204" charset="0"/>
              </a:rPr>
              <a:t>All sequences saved as a compressed .npz file for model training (FD004_sequences.npz).</a:t>
            </a:r>
          </a:p>
        </p:txBody>
      </p:sp>
      <p:pic>
        <p:nvPicPr>
          <p:cNvPr id="8" name="Picture 7">
            <a:extLst>
              <a:ext uri="{FF2B5EF4-FFF2-40B4-BE49-F238E27FC236}">
                <a16:creationId xmlns:a16="http://schemas.microsoft.com/office/drawing/2014/main" id="{990114F9-6946-CF3C-4AB1-FFFB4AE646D5}"/>
              </a:ext>
            </a:extLst>
          </p:cNvPr>
          <p:cNvPicPr>
            <a:picLocks noChangeAspect="1"/>
          </p:cNvPicPr>
          <p:nvPr/>
        </p:nvPicPr>
        <p:blipFill>
          <a:blip r:embed="rId3"/>
          <a:stretch>
            <a:fillRect/>
          </a:stretch>
        </p:blipFill>
        <p:spPr>
          <a:xfrm>
            <a:off x="14177760" y="2466565"/>
            <a:ext cx="2905530" cy="58682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90">
          <a:extLst>
            <a:ext uri="{FF2B5EF4-FFF2-40B4-BE49-F238E27FC236}">
              <a16:creationId xmlns:a16="http://schemas.microsoft.com/office/drawing/2014/main" id="{328C2FA0-D23C-95CE-3C88-67FAF36FBBB2}"/>
            </a:ext>
          </a:extLst>
        </p:cNvPr>
        <p:cNvGrpSpPr/>
        <p:nvPr/>
      </p:nvGrpSpPr>
      <p:grpSpPr>
        <a:xfrm>
          <a:off x="0" y="0"/>
          <a:ext cx="0" cy="0"/>
          <a:chOff x="0" y="0"/>
          <a:chExt cx="0" cy="0"/>
        </a:xfrm>
      </p:grpSpPr>
      <p:sp>
        <p:nvSpPr>
          <p:cNvPr id="93" name="Google Shape;93;p10">
            <a:extLst>
              <a:ext uri="{FF2B5EF4-FFF2-40B4-BE49-F238E27FC236}">
                <a16:creationId xmlns:a16="http://schemas.microsoft.com/office/drawing/2014/main" id="{FAF03E3C-E86D-DB8E-C2A1-4EF0870EFA2E}"/>
              </a:ext>
            </a:extLst>
          </p:cNvPr>
          <p:cNvSpPr txBox="1"/>
          <p:nvPr/>
        </p:nvSpPr>
        <p:spPr>
          <a:xfrm>
            <a:off x="6320057" y="406400"/>
            <a:ext cx="4594685"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dirty="0">
                <a:solidFill>
                  <a:srgbClr val="253278"/>
                </a:solidFill>
                <a:latin typeface="Inter SemiBold" panose="020B0604020202020204" charset="0"/>
                <a:ea typeface="Inter SemiBold" panose="020B0604020202020204" charset="0"/>
                <a:cs typeface="Inter ExtraBold"/>
                <a:sym typeface="Inter ExtraBold"/>
              </a:rPr>
              <a:t>Milestone 2</a:t>
            </a:r>
            <a:endParaRPr sz="4800" b="1" dirty="0">
              <a:latin typeface="Inter SemiBold" panose="020B0604020202020204" charset="0"/>
              <a:ea typeface="Inter SemiBold" panose="020B0604020202020204" charset="0"/>
              <a:cs typeface="Inter ExtraBold"/>
              <a:sym typeface="Inter ExtraBold"/>
            </a:endParaRPr>
          </a:p>
        </p:txBody>
      </p:sp>
      <p:sp>
        <p:nvSpPr>
          <p:cNvPr id="4" name="Rectangle 3">
            <a:extLst>
              <a:ext uri="{FF2B5EF4-FFF2-40B4-BE49-F238E27FC236}">
                <a16:creationId xmlns:a16="http://schemas.microsoft.com/office/drawing/2014/main" id="{86E61566-F46E-B7E3-CCF7-48DE965F6D18}"/>
              </a:ext>
            </a:extLst>
          </p:cNvPr>
          <p:cNvSpPr/>
          <p:nvPr/>
        </p:nvSpPr>
        <p:spPr>
          <a:xfrm>
            <a:off x="450056" y="1885950"/>
            <a:ext cx="12358687" cy="76009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DA90AC3-4E22-E9AF-225E-706CEC3F1A93}"/>
              </a:ext>
            </a:extLst>
          </p:cNvPr>
          <p:cNvSpPr txBox="1"/>
          <p:nvPr/>
        </p:nvSpPr>
        <p:spPr>
          <a:xfrm>
            <a:off x="942975" y="1993106"/>
            <a:ext cx="11601450" cy="7386638"/>
          </a:xfrm>
          <a:prstGeom prst="rect">
            <a:avLst/>
          </a:prstGeom>
          <a:noFill/>
        </p:spPr>
        <p:txBody>
          <a:bodyPr wrap="square">
            <a:spAutoFit/>
          </a:bodyPr>
          <a:lstStyle/>
          <a:p>
            <a:r>
              <a:rPr lang="en-IN" sz="2000" b="1" dirty="0">
                <a:solidFill>
                  <a:schemeClr val="accent6">
                    <a:lumMod val="75000"/>
                  </a:schemeClr>
                </a:solidFill>
                <a:latin typeface="Inter SemiBold" panose="020B0604020202020204" charset="0"/>
                <a:ea typeface="Inter SemiBold" panose="020B0604020202020204" charset="0"/>
              </a:rPr>
              <a:t>1. Model Architecture</a:t>
            </a:r>
            <a:endParaRPr lang="en-IN" sz="1800" dirty="0">
              <a:solidFill>
                <a:schemeClr val="accent6">
                  <a:lumMod val="7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b="1" dirty="0">
                <a:solidFill>
                  <a:schemeClr val="bg1">
                    <a:lumMod val="95000"/>
                  </a:schemeClr>
                </a:solidFill>
                <a:latin typeface="Inter SemiBold" panose="020B0604020202020204" charset="0"/>
                <a:ea typeface="Inter SemiBold" panose="020B0604020202020204" charset="0"/>
              </a:rPr>
              <a:t>Input:</a:t>
            </a:r>
            <a:r>
              <a:rPr lang="en-IN" sz="1800" dirty="0">
                <a:solidFill>
                  <a:schemeClr val="bg1">
                    <a:lumMod val="95000"/>
                  </a:schemeClr>
                </a:solidFill>
                <a:latin typeface="Inter SemiBold" panose="020B0604020202020204" charset="0"/>
                <a:ea typeface="Inter SemiBold" panose="020B0604020202020204" charset="0"/>
              </a:rPr>
              <a:t> Sequences of length 30 × number of sensor features.</a:t>
            </a:r>
          </a:p>
          <a:p>
            <a:pPr marL="285750" indent="-285750">
              <a:buClr>
                <a:schemeClr val="bg1">
                  <a:lumMod val="95000"/>
                </a:schemeClr>
              </a:buClr>
              <a:buFont typeface="Arial" panose="020B0604020202020204" pitchFamily="34" charset="0"/>
              <a:buChar char="•"/>
            </a:pPr>
            <a:r>
              <a:rPr lang="en-IN" sz="1800" b="1" dirty="0">
                <a:solidFill>
                  <a:srgbClr val="92D050"/>
                </a:solidFill>
                <a:latin typeface="Inter SemiBold" panose="020B0604020202020204" charset="0"/>
                <a:ea typeface="Inter SemiBold" panose="020B0604020202020204" charset="0"/>
              </a:rPr>
              <a:t>LSTM Layers:</a:t>
            </a:r>
          </a:p>
          <a:p>
            <a:pPr>
              <a:buClr>
                <a:schemeClr val="bg1">
                  <a:lumMod val="95000"/>
                </a:schemeClr>
              </a:buClr>
            </a:pPr>
            <a:r>
              <a:rPr lang="en-IN" sz="1800" b="1" dirty="0">
                <a:solidFill>
                  <a:srgbClr val="92D050"/>
                </a:solidFill>
                <a:latin typeface="Inter SemiBold" panose="020B0604020202020204" charset="0"/>
                <a:ea typeface="Inter SemiBold" panose="020B0604020202020204" charset="0"/>
              </a:rPr>
              <a:t>                </a:t>
            </a:r>
            <a:r>
              <a:rPr lang="en-IN" sz="1800" dirty="0">
                <a:solidFill>
                  <a:schemeClr val="bg1">
                    <a:lumMod val="95000"/>
                  </a:schemeClr>
                </a:solidFill>
                <a:latin typeface="Inter SemiBold" panose="020B0604020202020204" charset="0"/>
                <a:ea typeface="Inter SemiBold" panose="020B0604020202020204" charset="0"/>
              </a:rPr>
              <a:t>128 units → Dropout 0.3 → </a:t>
            </a:r>
            <a:r>
              <a:rPr lang="en-IN" sz="1800" dirty="0" err="1">
                <a:solidFill>
                  <a:schemeClr val="bg1">
                    <a:lumMod val="95000"/>
                  </a:schemeClr>
                </a:solidFill>
                <a:latin typeface="Inter SemiBold" panose="020B0604020202020204" charset="0"/>
                <a:ea typeface="Inter SemiBold" panose="020B0604020202020204" charset="0"/>
              </a:rPr>
              <a:t>BatchNorm</a:t>
            </a:r>
            <a:endParaRPr lang="en-IN" sz="1800" dirty="0">
              <a:solidFill>
                <a:schemeClr val="bg1">
                  <a:lumMod val="95000"/>
                </a:schemeClr>
              </a:solidFill>
              <a:latin typeface="Inter SemiBold" panose="020B0604020202020204" charset="0"/>
              <a:ea typeface="Inter SemiBold" panose="020B0604020202020204" charset="0"/>
            </a:endParaRPr>
          </a:p>
          <a:p>
            <a:pPr lvl="4">
              <a:buClr>
                <a:schemeClr val="bg1">
                  <a:lumMod val="95000"/>
                </a:schemeClr>
              </a:buClr>
            </a:pPr>
            <a:r>
              <a:rPr lang="en-IN" sz="1800" dirty="0">
                <a:solidFill>
                  <a:schemeClr val="bg1">
                    <a:lumMod val="95000"/>
                  </a:schemeClr>
                </a:solidFill>
                <a:latin typeface="Inter SemiBold" panose="020B0604020202020204" charset="0"/>
                <a:ea typeface="Inter SemiBold" panose="020B0604020202020204" charset="0"/>
              </a:rPr>
              <a:t>               64 units → Dropout 0.3 → </a:t>
            </a:r>
            <a:r>
              <a:rPr lang="en-IN" sz="1800" dirty="0" err="1">
                <a:solidFill>
                  <a:schemeClr val="bg1">
                    <a:lumMod val="95000"/>
                  </a:schemeClr>
                </a:solidFill>
                <a:latin typeface="Inter SemiBold" panose="020B0604020202020204" charset="0"/>
                <a:ea typeface="Inter SemiBold" panose="020B0604020202020204" charset="0"/>
              </a:rPr>
              <a:t>BatchNorm</a:t>
            </a:r>
            <a:endParaRPr lang="en-IN" sz="1800" dirty="0">
              <a:solidFill>
                <a:schemeClr val="bg1">
                  <a:lumMod val="95000"/>
                </a:schemeClr>
              </a:solidFill>
              <a:latin typeface="Inter SemiBold" panose="020B0604020202020204" charset="0"/>
              <a:ea typeface="Inter SemiBold" panose="020B0604020202020204" charset="0"/>
            </a:endParaRPr>
          </a:p>
          <a:p>
            <a:pPr lvl="4">
              <a:buClr>
                <a:schemeClr val="bg1">
                  <a:lumMod val="95000"/>
                </a:schemeClr>
              </a:buClr>
            </a:pPr>
            <a:r>
              <a:rPr lang="en-IN" sz="1800" dirty="0">
                <a:solidFill>
                  <a:schemeClr val="bg1">
                    <a:lumMod val="95000"/>
                  </a:schemeClr>
                </a:solidFill>
                <a:latin typeface="Inter SemiBold" panose="020B0604020202020204" charset="0"/>
                <a:ea typeface="Inter SemiBold" panose="020B0604020202020204" charset="0"/>
              </a:rPr>
              <a:t>               32 units → Dropout 0.3 → </a:t>
            </a:r>
            <a:r>
              <a:rPr lang="en-IN" sz="1800" dirty="0" err="1">
                <a:solidFill>
                  <a:schemeClr val="bg1">
                    <a:lumMod val="95000"/>
                  </a:schemeClr>
                </a:solidFill>
                <a:latin typeface="Inter SemiBold" panose="020B0604020202020204" charset="0"/>
                <a:ea typeface="Inter SemiBold" panose="020B0604020202020204" charset="0"/>
              </a:rPr>
              <a:t>BatchNorm</a:t>
            </a:r>
            <a:br>
              <a:rPr lang="en-IN" sz="1800" dirty="0">
                <a:solidFill>
                  <a:schemeClr val="bg1">
                    <a:lumMod val="95000"/>
                  </a:schemeClr>
                </a:solidFill>
                <a:latin typeface="Inter SemiBold" panose="020B0604020202020204" charset="0"/>
                <a:ea typeface="Inter SemiBold" panose="020B0604020202020204" charset="0"/>
              </a:rPr>
            </a:br>
            <a:r>
              <a:rPr lang="en-IN" sz="1800" dirty="0">
                <a:solidFill>
                  <a:schemeClr val="bg1">
                    <a:lumMod val="95000"/>
                  </a:schemeClr>
                </a:solidFill>
                <a:latin typeface="Inter SemiBold" panose="020B0604020202020204" charset="0"/>
                <a:ea typeface="Inter SemiBold" panose="020B0604020202020204" charset="0"/>
              </a:rPr>
              <a:t>               </a:t>
            </a:r>
            <a:r>
              <a:rPr lang="en-IN" sz="1800" i="1" dirty="0">
                <a:solidFill>
                  <a:schemeClr val="bg1">
                    <a:lumMod val="95000"/>
                  </a:schemeClr>
                </a:solidFill>
                <a:latin typeface="Inter SemiBold" panose="020B0604020202020204" charset="0"/>
                <a:ea typeface="Inter SemiBold" panose="020B0604020202020204" charset="0"/>
              </a:rPr>
              <a:t>Batch Normalization stabilizes learning by normalizing layer inputs, improving convergence.</a:t>
            </a:r>
            <a:endParaRPr lang="en-IN" sz="1800" dirty="0">
              <a:solidFill>
                <a:schemeClr val="bg1">
                  <a:lumMod val="9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b="1" dirty="0">
                <a:solidFill>
                  <a:srgbClr val="92D050"/>
                </a:solidFill>
                <a:latin typeface="Inter SemiBold" panose="020B0604020202020204" charset="0"/>
                <a:ea typeface="Inter SemiBold" panose="020B0604020202020204" charset="0"/>
              </a:rPr>
              <a:t>Dense Layers:</a:t>
            </a:r>
          </a:p>
          <a:p>
            <a:pPr>
              <a:buClr>
                <a:schemeClr val="bg1">
                  <a:lumMod val="95000"/>
                </a:schemeClr>
              </a:buClr>
            </a:pPr>
            <a:r>
              <a:rPr lang="en-IN" sz="1800" b="1" dirty="0">
                <a:solidFill>
                  <a:srgbClr val="92D050"/>
                </a:solidFill>
                <a:latin typeface="Inter SemiBold" panose="020B0604020202020204" charset="0"/>
                <a:ea typeface="Inter SemiBold" panose="020B0604020202020204" charset="0"/>
              </a:rPr>
              <a:t>              </a:t>
            </a:r>
            <a:r>
              <a:rPr lang="en-IN" sz="1800" dirty="0">
                <a:solidFill>
                  <a:schemeClr val="bg1">
                    <a:lumMod val="95000"/>
                  </a:schemeClr>
                </a:solidFill>
                <a:latin typeface="Inter SemiBold" panose="020B0604020202020204" charset="0"/>
                <a:ea typeface="Inter SemiBold" panose="020B0604020202020204" charset="0"/>
              </a:rPr>
              <a:t> 64 → </a:t>
            </a:r>
            <a:r>
              <a:rPr lang="en-IN" sz="1800" dirty="0" err="1">
                <a:solidFill>
                  <a:schemeClr val="bg1">
                    <a:lumMod val="95000"/>
                  </a:schemeClr>
                </a:solidFill>
                <a:latin typeface="Inter SemiBold" panose="020B0604020202020204" charset="0"/>
                <a:ea typeface="Inter SemiBold" panose="020B0604020202020204" charset="0"/>
              </a:rPr>
              <a:t>ReLU</a:t>
            </a:r>
            <a:r>
              <a:rPr lang="en-IN" sz="1800" dirty="0">
                <a:solidFill>
                  <a:schemeClr val="bg1">
                    <a:lumMod val="95000"/>
                  </a:schemeClr>
                </a:solidFill>
                <a:latin typeface="Inter SemiBold" panose="020B0604020202020204" charset="0"/>
                <a:ea typeface="Inter SemiBold" panose="020B0604020202020204" charset="0"/>
              </a:rPr>
              <a:t> → Dropout 0.2</a:t>
            </a:r>
          </a:p>
          <a:p>
            <a:pPr lvl="1">
              <a:buClr>
                <a:schemeClr val="bg1">
                  <a:lumMod val="95000"/>
                </a:schemeClr>
              </a:buClr>
            </a:pPr>
            <a:r>
              <a:rPr lang="en-IN" sz="1800" dirty="0">
                <a:solidFill>
                  <a:schemeClr val="bg1">
                    <a:lumMod val="95000"/>
                  </a:schemeClr>
                </a:solidFill>
                <a:latin typeface="Inter SemiBold" panose="020B0604020202020204" charset="0"/>
                <a:ea typeface="Inter SemiBold" panose="020B0604020202020204" charset="0"/>
              </a:rPr>
              <a:t>              32 → </a:t>
            </a:r>
            <a:r>
              <a:rPr lang="en-IN" sz="1800" dirty="0" err="1">
                <a:solidFill>
                  <a:schemeClr val="bg1">
                    <a:lumMod val="95000"/>
                  </a:schemeClr>
                </a:solidFill>
                <a:latin typeface="Inter SemiBold" panose="020B0604020202020204" charset="0"/>
                <a:ea typeface="Inter SemiBold" panose="020B0604020202020204" charset="0"/>
              </a:rPr>
              <a:t>ReLU</a:t>
            </a:r>
            <a:r>
              <a:rPr lang="en-IN" sz="1800" dirty="0">
                <a:solidFill>
                  <a:schemeClr val="bg1">
                    <a:lumMod val="95000"/>
                  </a:schemeClr>
                </a:solidFill>
                <a:latin typeface="Inter SemiBold" panose="020B0604020202020204" charset="0"/>
                <a:ea typeface="Inter SemiBold" panose="020B0604020202020204" charset="0"/>
              </a:rPr>
              <a:t> → Dropout 0.2</a:t>
            </a:r>
          </a:p>
          <a:p>
            <a:pPr marL="285750" lvl="1" indent="-285750">
              <a:buClr>
                <a:schemeClr val="bg1">
                  <a:lumMod val="95000"/>
                </a:schemeClr>
              </a:buClr>
              <a:buFont typeface="Arial" panose="020B0604020202020204" pitchFamily="34" charset="0"/>
              <a:buChar char="•"/>
            </a:pPr>
            <a:r>
              <a:rPr lang="en-IN" sz="1800" dirty="0">
                <a:solidFill>
                  <a:srgbClr val="92D050"/>
                </a:solidFill>
                <a:latin typeface="Inter SemiBold" panose="020B0604020202020204" charset="0"/>
                <a:ea typeface="Inter SemiBold" panose="020B0604020202020204" charset="0"/>
              </a:rPr>
              <a:t>1 output neuron (RUL prediction)</a:t>
            </a:r>
            <a:br>
              <a:rPr lang="en-IN" sz="1800" dirty="0">
                <a:solidFill>
                  <a:schemeClr val="bg1">
                    <a:lumMod val="95000"/>
                  </a:schemeClr>
                </a:solidFill>
                <a:latin typeface="Inter SemiBold" panose="020B0604020202020204" charset="0"/>
                <a:ea typeface="Inter SemiBold" panose="020B0604020202020204" charset="0"/>
              </a:rPr>
            </a:br>
            <a:r>
              <a:rPr lang="en-IN" sz="1800" i="1" dirty="0">
                <a:solidFill>
                  <a:schemeClr val="bg1">
                    <a:lumMod val="95000"/>
                  </a:schemeClr>
                </a:solidFill>
                <a:latin typeface="Inter SemiBold" panose="020B0604020202020204" charset="0"/>
                <a:ea typeface="Inter SemiBold" panose="020B0604020202020204" charset="0"/>
              </a:rPr>
              <a:t>Dense layers map extracted sequential features to RUL; </a:t>
            </a:r>
            <a:r>
              <a:rPr lang="en-IN" sz="1800" i="1" dirty="0" err="1">
                <a:solidFill>
                  <a:schemeClr val="bg1">
                    <a:lumMod val="95000"/>
                  </a:schemeClr>
                </a:solidFill>
                <a:latin typeface="Inter SemiBold" panose="020B0604020202020204" charset="0"/>
                <a:ea typeface="Inter SemiBold" panose="020B0604020202020204" charset="0"/>
              </a:rPr>
              <a:t>ReLU</a:t>
            </a:r>
            <a:r>
              <a:rPr lang="en-IN" sz="1800" i="1" dirty="0">
                <a:solidFill>
                  <a:schemeClr val="bg1">
                    <a:lumMod val="95000"/>
                  </a:schemeClr>
                </a:solidFill>
                <a:latin typeface="Inter SemiBold" panose="020B0604020202020204" charset="0"/>
                <a:ea typeface="Inter SemiBold" panose="020B0604020202020204" charset="0"/>
              </a:rPr>
              <a:t> adds non-linearity, dropout prevents overfitting.</a:t>
            </a:r>
            <a:endParaRPr lang="en-IN" sz="1800" dirty="0">
              <a:solidFill>
                <a:schemeClr val="bg1">
                  <a:lumMod val="95000"/>
                </a:schemeClr>
              </a:solidFill>
              <a:latin typeface="Inter SemiBold" panose="020B0604020202020204" charset="0"/>
              <a:ea typeface="Inter SemiBold" panose="020B0604020202020204" charset="0"/>
            </a:endParaRPr>
          </a:p>
          <a:p>
            <a:r>
              <a:rPr lang="en-IN" sz="2000" b="1" dirty="0">
                <a:solidFill>
                  <a:schemeClr val="accent6">
                    <a:lumMod val="75000"/>
                  </a:schemeClr>
                </a:solidFill>
                <a:latin typeface="Inter SemiBold" panose="020B0604020202020204" charset="0"/>
                <a:ea typeface="Inter SemiBold" panose="020B0604020202020204" charset="0"/>
              </a:rPr>
              <a:t>2. Compilation &amp; Loss</a:t>
            </a:r>
            <a:endParaRPr lang="en-IN" sz="2000" dirty="0">
              <a:solidFill>
                <a:schemeClr val="accent6">
                  <a:lumMod val="7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dirty="0">
                <a:solidFill>
                  <a:srgbClr val="92D050"/>
                </a:solidFill>
                <a:latin typeface="Inter SemiBold" panose="020B0604020202020204" charset="0"/>
                <a:ea typeface="Inter SemiBold" panose="020B0604020202020204" charset="0"/>
              </a:rPr>
              <a:t>Optimizer:</a:t>
            </a:r>
            <a:r>
              <a:rPr lang="en-IN" sz="1800" dirty="0">
                <a:solidFill>
                  <a:schemeClr val="bg1">
                    <a:lumMod val="95000"/>
                  </a:schemeClr>
                </a:solidFill>
                <a:latin typeface="Inter SemiBold" panose="020B0604020202020204" charset="0"/>
                <a:ea typeface="Inter SemiBold" panose="020B0604020202020204" charset="0"/>
              </a:rPr>
              <a:t> </a:t>
            </a:r>
            <a:r>
              <a:rPr lang="en-IN" sz="1800" b="1" dirty="0">
                <a:solidFill>
                  <a:schemeClr val="bg1">
                    <a:lumMod val="95000"/>
                  </a:schemeClr>
                </a:solidFill>
                <a:latin typeface="Inter SemiBold" panose="020B0604020202020204" charset="0"/>
                <a:ea typeface="Inter SemiBold" panose="020B0604020202020204" charset="0"/>
              </a:rPr>
              <a:t>Adam</a:t>
            </a:r>
            <a:endParaRPr lang="en-IN" sz="1800" dirty="0">
              <a:solidFill>
                <a:schemeClr val="bg1">
                  <a:lumMod val="9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dirty="0">
                <a:solidFill>
                  <a:srgbClr val="92D050"/>
                </a:solidFill>
                <a:latin typeface="Inter SemiBold" panose="020B0604020202020204" charset="0"/>
                <a:ea typeface="Inter SemiBold" panose="020B0604020202020204" charset="0"/>
              </a:rPr>
              <a:t>Loss:</a:t>
            </a:r>
            <a:r>
              <a:rPr lang="en-IN" sz="1800" dirty="0">
                <a:solidFill>
                  <a:schemeClr val="bg1">
                    <a:lumMod val="95000"/>
                  </a:schemeClr>
                </a:solidFill>
                <a:latin typeface="Inter SemiBold" panose="020B0604020202020204" charset="0"/>
                <a:ea typeface="Inter SemiBold" panose="020B0604020202020204" charset="0"/>
              </a:rPr>
              <a:t> </a:t>
            </a:r>
            <a:r>
              <a:rPr lang="en-IN" sz="1800" b="1" dirty="0">
                <a:solidFill>
                  <a:schemeClr val="bg1">
                    <a:lumMod val="95000"/>
                  </a:schemeClr>
                </a:solidFill>
                <a:latin typeface="Inter SemiBold" panose="020B0604020202020204" charset="0"/>
                <a:ea typeface="Inter SemiBold" panose="020B0604020202020204" charset="0"/>
              </a:rPr>
              <a:t>Mean Squared Error (MSE)</a:t>
            </a:r>
            <a:endParaRPr lang="en-IN" sz="1800" dirty="0">
              <a:solidFill>
                <a:schemeClr val="bg1">
                  <a:lumMod val="9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dirty="0">
                <a:solidFill>
                  <a:srgbClr val="92D050"/>
                </a:solidFill>
                <a:latin typeface="Inter SemiBold" panose="020B0604020202020204" charset="0"/>
                <a:ea typeface="Inter SemiBold" panose="020B0604020202020204" charset="0"/>
              </a:rPr>
              <a:t>Metric</a:t>
            </a:r>
            <a:r>
              <a:rPr lang="en-IN" sz="1800" dirty="0">
                <a:solidFill>
                  <a:schemeClr val="bg1">
                    <a:lumMod val="95000"/>
                  </a:schemeClr>
                </a:solidFill>
                <a:latin typeface="Inter SemiBold" panose="020B0604020202020204" charset="0"/>
                <a:ea typeface="Inter SemiBold" panose="020B0604020202020204" charset="0"/>
              </a:rPr>
              <a:t>: </a:t>
            </a:r>
            <a:r>
              <a:rPr lang="en-IN" sz="1800" b="1" dirty="0">
                <a:solidFill>
                  <a:schemeClr val="bg1">
                    <a:lumMod val="95000"/>
                  </a:schemeClr>
                </a:solidFill>
                <a:latin typeface="Inter SemiBold" panose="020B0604020202020204" charset="0"/>
                <a:ea typeface="Inter SemiBold" panose="020B0604020202020204" charset="0"/>
              </a:rPr>
              <a:t>Mean Absolute Error (MAE)</a:t>
            </a:r>
            <a:endParaRPr lang="en-IN" sz="1800" dirty="0">
              <a:solidFill>
                <a:schemeClr val="bg1">
                  <a:lumMod val="95000"/>
                </a:schemeClr>
              </a:solidFill>
              <a:latin typeface="Inter SemiBold" panose="020B0604020202020204" charset="0"/>
              <a:ea typeface="Inter SemiBold" panose="020B0604020202020204" charset="0"/>
            </a:endParaRPr>
          </a:p>
          <a:p>
            <a:r>
              <a:rPr lang="en-IN" sz="2000" b="1" dirty="0">
                <a:solidFill>
                  <a:schemeClr val="accent6">
                    <a:lumMod val="75000"/>
                  </a:schemeClr>
                </a:solidFill>
                <a:latin typeface="Inter SemiBold" panose="020B0604020202020204" charset="0"/>
                <a:ea typeface="Inter SemiBold" panose="020B0604020202020204" charset="0"/>
              </a:rPr>
              <a:t>3. Training Strategy</a:t>
            </a:r>
            <a:endParaRPr lang="en-IN" sz="1800" dirty="0">
              <a:solidFill>
                <a:schemeClr val="accent6">
                  <a:lumMod val="7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dirty="0">
                <a:solidFill>
                  <a:schemeClr val="bg1">
                    <a:lumMod val="95000"/>
                  </a:schemeClr>
                </a:solidFill>
                <a:latin typeface="Inter SemiBold" panose="020B0604020202020204" charset="0"/>
                <a:ea typeface="Inter SemiBold" panose="020B0604020202020204" charset="0"/>
              </a:rPr>
              <a:t>Epochs: 100, Batch size: 64, Validation split: 15%</a:t>
            </a:r>
          </a:p>
          <a:p>
            <a:pPr marL="285750" indent="-285750">
              <a:buClr>
                <a:schemeClr val="bg1">
                  <a:lumMod val="95000"/>
                </a:schemeClr>
              </a:buClr>
              <a:buFont typeface="Arial" panose="020B0604020202020204" pitchFamily="34" charset="0"/>
              <a:buChar char="•"/>
            </a:pPr>
            <a:r>
              <a:rPr lang="en-IN" sz="1800" b="1" dirty="0">
                <a:solidFill>
                  <a:srgbClr val="92D050"/>
                </a:solidFill>
                <a:latin typeface="Inter SemiBold" panose="020B0604020202020204" charset="0"/>
                <a:ea typeface="Inter SemiBold" panose="020B0604020202020204" charset="0"/>
              </a:rPr>
              <a:t>Callbacks:</a:t>
            </a:r>
            <a:endParaRPr lang="en-IN" sz="1800" dirty="0">
              <a:solidFill>
                <a:srgbClr val="92D050"/>
              </a:solidFill>
              <a:latin typeface="Inter SemiBold" panose="020B0604020202020204" charset="0"/>
              <a:ea typeface="Inter SemiBold" panose="020B0604020202020204" charset="0"/>
            </a:endParaRPr>
          </a:p>
          <a:p>
            <a:pPr lvl="2">
              <a:buClr>
                <a:schemeClr val="bg1">
                  <a:lumMod val="95000"/>
                </a:schemeClr>
              </a:buClr>
            </a:pPr>
            <a:r>
              <a:rPr lang="en-IN" sz="1800" b="1" dirty="0">
                <a:solidFill>
                  <a:schemeClr val="bg1">
                    <a:lumMod val="95000"/>
                  </a:schemeClr>
                </a:solidFill>
                <a:latin typeface="Inter SemiBold" panose="020B0604020202020204" charset="0"/>
                <a:ea typeface="Inter SemiBold" panose="020B0604020202020204" charset="0"/>
              </a:rPr>
              <a:t>             </a:t>
            </a:r>
            <a:r>
              <a:rPr lang="en-IN" sz="1800" b="1" dirty="0" err="1">
                <a:solidFill>
                  <a:schemeClr val="bg1">
                    <a:lumMod val="95000"/>
                  </a:schemeClr>
                </a:solidFill>
                <a:latin typeface="Inter SemiBold" panose="020B0604020202020204" charset="0"/>
                <a:ea typeface="Inter SemiBold" panose="020B0604020202020204" charset="0"/>
              </a:rPr>
              <a:t>EarlyStopping</a:t>
            </a:r>
            <a:r>
              <a:rPr lang="en-IN" sz="1800" b="1" dirty="0">
                <a:solidFill>
                  <a:schemeClr val="bg1">
                    <a:lumMod val="95000"/>
                  </a:schemeClr>
                </a:solidFill>
                <a:latin typeface="Inter SemiBold" panose="020B0604020202020204" charset="0"/>
                <a:ea typeface="Inter SemiBold" panose="020B0604020202020204" charset="0"/>
              </a:rPr>
              <a:t>:</a:t>
            </a:r>
            <a:r>
              <a:rPr lang="en-IN" sz="1800" dirty="0">
                <a:solidFill>
                  <a:schemeClr val="bg1">
                    <a:lumMod val="95000"/>
                  </a:schemeClr>
                </a:solidFill>
                <a:latin typeface="Inter SemiBold" panose="020B0604020202020204" charset="0"/>
                <a:ea typeface="Inter SemiBold" panose="020B0604020202020204" charset="0"/>
              </a:rPr>
              <a:t> Stops training if validation loss doesn’t improve, preventing overfitting.</a:t>
            </a:r>
          </a:p>
          <a:p>
            <a:pPr lvl="2">
              <a:buClr>
                <a:schemeClr val="bg1">
                  <a:lumMod val="95000"/>
                </a:schemeClr>
              </a:buClr>
            </a:pPr>
            <a:r>
              <a:rPr lang="en-IN" sz="1800" b="1" dirty="0">
                <a:solidFill>
                  <a:schemeClr val="bg1">
                    <a:lumMod val="95000"/>
                  </a:schemeClr>
                </a:solidFill>
                <a:latin typeface="Inter SemiBold" panose="020B0604020202020204" charset="0"/>
                <a:ea typeface="Inter SemiBold" panose="020B0604020202020204" charset="0"/>
              </a:rPr>
              <a:t>             </a:t>
            </a:r>
            <a:r>
              <a:rPr lang="en-IN" sz="1800" b="1" dirty="0" err="1">
                <a:solidFill>
                  <a:schemeClr val="bg1">
                    <a:lumMod val="95000"/>
                  </a:schemeClr>
                </a:solidFill>
                <a:latin typeface="Inter SemiBold" panose="020B0604020202020204" charset="0"/>
                <a:ea typeface="Inter SemiBold" panose="020B0604020202020204" charset="0"/>
              </a:rPr>
              <a:t>ReduceLROnPlateau</a:t>
            </a:r>
            <a:r>
              <a:rPr lang="en-IN" sz="1800" b="1" dirty="0">
                <a:solidFill>
                  <a:schemeClr val="bg1">
                    <a:lumMod val="95000"/>
                  </a:schemeClr>
                </a:solidFill>
                <a:latin typeface="Inter SemiBold" panose="020B0604020202020204" charset="0"/>
                <a:ea typeface="Inter SemiBold" panose="020B0604020202020204" charset="0"/>
              </a:rPr>
              <a:t>:</a:t>
            </a:r>
            <a:r>
              <a:rPr lang="en-IN" sz="1800" dirty="0">
                <a:solidFill>
                  <a:schemeClr val="bg1">
                    <a:lumMod val="95000"/>
                  </a:schemeClr>
                </a:solidFill>
                <a:latin typeface="Inter SemiBold" panose="020B0604020202020204" charset="0"/>
                <a:ea typeface="Inter SemiBold" panose="020B0604020202020204" charset="0"/>
              </a:rPr>
              <a:t> Reduces learning rate when loss plateaus for stable convergence.</a:t>
            </a:r>
          </a:p>
          <a:p>
            <a:r>
              <a:rPr lang="en-IN" sz="2000" b="1" dirty="0">
                <a:solidFill>
                  <a:schemeClr val="accent6">
                    <a:lumMod val="75000"/>
                  </a:schemeClr>
                </a:solidFill>
                <a:latin typeface="Inter SemiBold" panose="020B0604020202020204" charset="0"/>
                <a:ea typeface="Inter SemiBold" panose="020B0604020202020204" charset="0"/>
              </a:rPr>
              <a:t>4. Evaluation Metrics</a:t>
            </a:r>
            <a:endParaRPr lang="en-IN" sz="2000" dirty="0">
              <a:solidFill>
                <a:schemeClr val="accent6">
                  <a:lumMod val="75000"/>
                </a:schemeClr>
              </a:solidFill>
              <a:latin typeface="Inter SemiBold" panose="020B0604020202020204" charset="0"/>
              <a:ea typeface="Inter SemiBold" panose="020B0604020202020204" charset="0"/>
            </a:endParaRPr>
          </a:p>
          <a:p>
            <a:pPr marL="285750" indent="-285750">
              <a:buClr>
                <a:schemeClr val="bg1">
                  <a:lumMod val="95000"/>
                </a:schemeClr>
              </a:buClr>
              <a:buFont typeface="Arial" panose="020B0604020202020204" pitchFamily="34" charset="0"/>
              <a:buChar char="•"/>
            </a:pPr>
            <a:r>
              <a:rPr lang="en-IN" sz="1800" b="1" dirty="0">
                <a:solidFill>
                  <a:schemeClr val="bg1">
                    <a:lumMod val="95000"/>
                  </a:schemeClr>
                </a:solidFill>
                <a:latin typeface="Inter SemiBold" panose="020B0604020202020204" charset="0"/>
                <a:ea typeface="Inter SemiBold" panose="020B0604020202020204" charset="0"/>
              </a:rPr>
              <a:t>RMSE:</a:t>
            </a:r>
            <a:r>
              <a:rPr lang="en-IN" sz="1800" dirty="0">
                <a:solidFill>
                  <a:schemeClr val="bg1">
                    <a:lumMod val="95000"/>
                  </a:schemeClr>
                </a:solidFill>
                <a:latin typeface="Inter SemiBold" panose="020B0604020202020204" charset="0"/>
                <a:ea typeface="Inter SemiBold" panose="020B0604020202020204" charset="0"/>
              </a:rPr>
              <a:t> Measures prediction error magnitude</a:t>
            </a:r>
          </a:p>
          <a:p>
            <a:pPr marL="285750" indent="-285750">
              <a:buClr>
                <a:schemeClr val="bg1">
                  <a:lumMod val="95000"/>
                </a:schemeClr>
              </a:buClr>
              <a:buFont typeface="Arial" panose="020B0604020202020204" pitchFamily="34" charset="0"/>
              <a:buChar char="•"/>
            </a:pPr>
            <a:r>
              <a:rPr lang="en-IN" sz="1800" b="1" dirty="0">
                <a:solidFill>
                  <a:schemeClr val="bg1">
                    <a:lumMod val="95000"/>
                  </a:schemeClr>
                </a:solidFill>
                <a:latin typeface="Inter SemiBold" panose="020B0604020202020204" charset="0"/>
                <a:ea typeface="Inter SemiBold" panose="020B0604020202020204" charset="0"/>
              </a:rPr>
              <a:t>R² Score:</a:t>
            </a:r>
            <a:r>
              <a:rPr lang="en-IN" sz="1800" dirty="0">
                <a:solidFill>
                  <a:schemeClr val="bg1">
                    <a:lumMod val="95000"/>
                  </a:schemeClr>
                </a:solidFill>
                <a:latin typeface="Inter SemiBold" panose="020B0604020202020204" charset="0"/>
                <a:ea typeface="Inter SemiBold" panose="020B0604020202020204" charset="0"/>
              </a:rPr>
              <a:t> Indicates how well predicted RUL matches actual values</a:t>
            </a:r>
          </a:p>
          <a:p>
            <a:pPr>
              <a:buNone/>
            </a:pPr>
            <a:endParaRPr lang="en-IN" sz="1800" dirty="0">
              <a:solidFill>
                <a:schemeClr val="bg1">
                  <a:lumMod val="95000"/>
                </a:schemeClr>
              </a:solidFill>
              <a:latin typeface="Inter SemiBold" panose="020B0604020202020204" charset="0"/>
              <a:ea typeface="Inter SemiBold" panose="020B0604020202020204" charset="0"/>
            </a:endParaRPr>
          </a:p>
        </p:txBody>
      </p:sp>
    </p:spTree>
    <p:extLst>
      <p:ext uri="{BB962C8B-B14F-4D97-AF65-F5344CB8AC3E}">
        <p14:creationId xmlns:p14="http://schemas.microsoft.com/office/powerpoint/2010/main" val="837795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90">
          <a:extLst>
            <a:ext uri="{FF2B5EF4-FFF2-40B4-BE49-F238E27FC236}">
              <a16:creationId xmlns:a16="http://schemas.microsoft.com/office/drawing/2014/main" id="{7E729ED0-C467-869B-C061-38BDE81EFF99}"/>
            </a:ext>
          </a:extLst>
        </p:cNvPr>
        <p:cNvGrpSpPr/>
        <p:nvPr/>
      </p:nvGrpSpPr>
      <p:grpSpPr>
        <a:xfrm>
          <a:off x="0" y="0"/>
          <a:ext cx="0" cy="0"/>
          <a:chOff x="0" y="0"/>
          <a:chExt cx="0" cy="0"/>
        </a:xfrm>
      </p:grpSpPr>
      <p:sp>
        <p:nvSpPr>
          <p:cNvPr id="93" name="Google Shape;93;p10">
            <a:extLst>
              <a:ext uri="{FF2B5EF4-FFF2-40B4-BE49-F238E27FC236}">
                <a16:creationId xmlns:a16="http://schemas.microsoft.com/office/drawing/2014/main" id="{D8A1C149-CD64-46F8-5E09-5920514BC7D0}"/>
              </a:ext>
            </a:extLst>
          </p:cNvPr>
          <p:cNvSpPr txBox="1"/>
          <p:nvPr/>
        </p:nvSpPr>
        <p:spPr>
          <a:xfrm>
            <a:off x="6320057" y="406400"/>
            <a:ext cx="4594685"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dirty="0">
                <a:solidFill>
                  <a:srgbClr val="253278"/>
                </a:solidFill>
                <a:latin typeface="Inter SemiBold" panose="020B0604020202020204" charset="0"/>
                <a:ea typeface="Inter SemiBold" panose="020B0604020202020204" charset="0"/>
                <a:cs typeface="Inter ExtraBold"/>
                <a:sym typeface="Inter ExtraBold"/>
              </a:rPr>
              <a:t>Milestone 3</a:t>
            </a:r>
            <a:endParaRPr sz="4800" b="1" dirty="0">
              <a:latin typeface="Inter SemiBold" panose="020B0604020202020204" charset="0"/>
              <a:ea typeface="Inter SemiBold" panose="020B0604020202020204" charset="0"/>
              <a:cs typeface="Inter ExtraBold"/>
              <a:sym typeface="Inter ExtraBold"/>
            </a:endParaRPr>
          </a:p>
        </p:txBody>
      </p:sp>
      <p:sp>
        <p:nvSpPr>
          <p:cNvPr id="4" name="Rectangle 3">
            <a:extLst>
              <a:ext uri="{FF2B5EF4-FFF2-40B4-BE49-F238E27FC236}">
                <a16:creationId xmlns:a16="http://schemas.microsoft.com/office/drawing/2014/main" id="{00B12B2C-0D25-A48C-0778-EF68D7D302E9}"/>
              </a:ext>
            </a:extLst>
          </p:cNvPr>
          <p:cNvSpPr/>
          <p:nvPr/>
        </p:nvSpPr>
        <p:spPr>
          <a:xfrm>
            <a:off x="350043" y="1902301"/>
            <a:ext cx="12358687" cy="76009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6" name="Rectangle 3">
            <a:extLst>
              <a:ext uri="{FF2B5EF4-FFF2-40B4-BE49-F238E27FC236}">
                <a16:creationId xmlns:a16="http://schemas.microsoft.com/office/drawing/2014/main" id="{790A4D25-23BC-B261-F99A-AA86A6B88699}"/>
              </a:ext>
            </a:extLst>
          </p:cNvPr>
          <p:cNvSpPr>
            <a:spLocks noChangeArrowheads="1"/>
          </p:cNvSpPr>
          <p:nvPr/>
        </p:nvSpPr>
        <p:spPr bwMode="auto">
          <a:xfrm>
            <a:off x="928687" y="2276742"/>
            <a:ext cx="10987088"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bg1"/>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Loaded Test Data &amp; Trained Model</a:t>
            </a:r>
            <a:endParaRPr lang="en-US" altLang="en-US" sz="2400" dirty="0">
              <a:solidFill>
                <a:schemeClr val="accent6">
                  <a:lumMod val="75000"/>
                </a:schemeClr>
              </a:solidFill>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Imported the saved LSTM model (fd004_model.h5)</a:t>
            </a:r>
          </a:p>
          <a:p>
            <a:pPr lvl="1" eaLnBrk="0" fontAlgn="base" hangingPunct="0">
              <a:spcBef>
                <a:spcPct val="0"/>
              </a:spcBef>
              <a:spcAft>
                <a:spcPct val="0"/>
              </a:spcAft>
              <a:buClrTx/>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Loaded the test sequences and their true RUL values</a:t>
            </a:r>
          </a:p>
          <a:p>
            <a:pPr lvl="1" eaLnBrk="0" fontAlgn="base" hangingPunct="0">
              <a:spcBef>
                <a:spcPct val="0"/>
              </a:spcBef>
              <a:spcAft>
                <a:spcPct val="0"/>
              </a:spcAft>
              <a:buClrTx/>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Used the model to predict the RUL for all test samples</a:t>
            </a:r>
          </a:p>
          <a:p>
            <a:pPr lvl="1" eaLnBrk="0" fontAlgn="base" hangingPunct="0">
              <a:spcBef>
                <a:spcPct val="0"/>
              </a:spcBef>
              <a:spcAft>
                <a:spcPct val="0"/>
              </a:spcAft>
              <a:buClrTx/>
            </a:pPr>
            <a:r>
              <a:rPr kumimoji="0" lang="en-US" altLang="en-US" sz="2400" b="1" i="0" u="none" strike="noStrike" cap="none" normalizeH="0" baseline="0" dirty="0">
                <a:ln>
                  <a:noFill/>
                </a:ln>
                <a:solidFill>
                  <a:schemeClr val="bg1"/>
                </a:solidFill>
                <a:effectLst/>
                <a:latin typeface="Inter SemiBold" panose="020B0604020202020204" charset="0"/>
                <a:ea typeface="Inter SemiBold" panose="020B0604020202020204" charset="0"/>
              </a:rPr>
              <a:t>      Calculated Evaluation Metrics</a:t>
            </a:r>
            <a:endPar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endParaRPr>
          </a:p>
          <a:p>
            <a:pPr lvl="1" eaLnBrk="0" fontAlgn="base" hangingPunct="0">
              <a:spcBef>
                <a:spcPct val="0"/>
              </a:spcBef>
              <a:spcAft>
                <a:spcPct val="0"/>
              </a:spcAft>
              <a:buClrTx/>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Computed </a:t>
            </a:r>
            <a:r>
              <a:rPr kumimoji="0" lang="en-US" altLang="en-US" sz="2400" b="1" i="0" u="none" strike="noStrike" cap="none" normalizeH="0" baseline="0" dirty="0">
                <a:ln>
                  <a:noFill/>
                </a:ln>
                <a:solidFill>
                  <a:schemeClr val="bg1"/>
                </a:solidFill>
                <a:effectLst/>
                <a:latin typeface="Inter SemiBold" panose="020B0604020202020204" charset="0"/>
                <a:ea typeface="Inter SemiBold" panose="020B0604020202020204" charset="0"/>
              </a:rPr>
              <a:t>RMSE</a:t>
            </a: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a:t>
            </a:r>
            <a:r>
              <a:rPr kumimoji="0" lang="en-US" altLang="en-US" sz="2400" b="1" i="0" u="none" strike="noStrike" cap="none" normalizeH="0" baseline="0" dirty="0">
                <a:ln>
                  <a:noFill/>
                </a:ln>
                <a:solidFill>
                  <a:schemeClr val="bg1"/>
                </a:solidFill>
                <a:effectLst/>
                <a:latin typeface="Inter SemiBold" panose="020B0604020202020204" charset="0"/>
                <a:ea typeface="Inter SemiBold" panose="020B0604020202020204" charset="0"/>
              </a:rPr>
              <a:t>MAE</a:t>
            </a: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and </a:t>
            </a:r>
            <a:r>
              <a:rPr kumimoji="0" lang="en-US" altLang="en-US" sz="2400" b="1" i="0" u="none" strike="noStrike" cap="none" normalizeH="0" baseline="0" dirty="0">
                <a:ln>
                  <a:noFill/>
                </a:ln>
                <a:solidFill>
                  <a:schemeClr val="bg1"/>
                </a:solidFill>
                <a:effectLst/>
                <a:latin typeface="Inter SemiBold" panose="020B0604020202020204" charset="0"/>
                <a:ea typeface="Inter SemiBold" panose="020B0604020202020204" charset="0"/>
              </a:rPr>
              <a:t>R² score</a:t>
            </a: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to measure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Labeled the Predictions</a:t>
            </a:r>
            <a:endParaRPr kumimoji="0" lang="en-US" altLang="en-US" sz="24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Assigned condition labels based on predicted RUL:</a:t>
            </a:r>
          </a:p>
          <a:p>
            <a:pPr marL="457200" marR="0" lvl="1" indent="0" algn="l" defTabSz="914400" rtl="0" eaLnBrk="0" fontAlgn="base" latinLnBrk="0" hangingPunct="0">
              <a:lnSpc>
                <a:spcPct val="100000"/>
              </a:lnSpc>
              <a:spcBef>
                <a:spcPct val="0"/>
              </a:spcBef>
              <a:spcAft>
                <a:spcPct val="0"/>
              </a:spcAft>
              <a:buClrTx/>
              <a:buSzTx/>
              <a:tabLst/>
            </a:pPr>
            <a:r>
              <a:rPr lang="en-US" altLang="en-US" sz="2400" i="1" dirty="0">
                <a:solidFill>
                  <a:schemeClr val="bg1"/>
                </a:solidFill>
                <a:latin typeface="Inter SemiBold" panose="020B0604020202020204" charset="0"/>
                <a:ea typeface="Inter SemiBold" panose="020B0604020202020204" charset="0"/>
              </a:rPr>
              <a:t>        </a:t>
            </a:r>
            <a:r>
              <a:rPr kumimoji="0" lang="en-US" altLang="en-US" sz="2400" b="0" i="1" u="none" strike="noStrike" cap="none" normalizeH="0" baseline="0" dirty="0">
                <a:ln>
                  <a:noFill/>
                </a:ln>
                <a:solidFill>
                  <a:schemeClr val="bg1"/>
                </a:solidFill>
                <a:effectLst/>
                <a:latin typeface="Inter SemiBold" panose="020B0604020202020204" charset="0"/>
                <a:ea typeface="Inter SemiBold" panose="020B0604020202020204" charset="0"/>
              </a:rPr>
              <a:t>Normal</a:t>
            </a: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a:t>
            </a:r>
            <a:r>
              <a:rPr kumimoji="0" lang="en-US" altLang="en-US" sz="2400" b="0" i="1" u="none" strike="noStrike" cap="none" normalizeH="0" baseline="0" dirty="0">
                <a:ln>
                  <a:noFill/>
                </a:ln>
                <a:solidFill>
                  <a:schemeClr val="bg1"/>
                </a:solidFill>
                <a:effectLst/>
                <a:latin typeface="Inter SemiBold" panose="020B0604020202020204" charset="0"/>
                <a:ea typeface="Inter SemiBold" panose="020B0604020202020204" charset="0"/>
              </a:rPr>
              <a:t>Warning</a:t>
            </a: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a:t>
            </a:r>
            <a:r>
              <a:rPr kumimoji="0" lang="en-US" altLang="en-US" sz="2400" b="0" i="1" u="none" strike="noStrike" cap="none" normalizeH="0" baseline="0" dirty="0">
                <a:ln>
                  <a:noFill/>
                </a:ln>
                <a:solidFill>
                  <a:schemeClr val="bg1"/>
                </a:solidFill>
                <a:effectLst/>
                <a:latin typeface="Inter SemiBold" panose="020B0604020202020204" charset="0"/>
                <a:ea typeface="Inter SemiBold" panose="020B0604020202020204" charset="0"/>
              </a:rPr>
              <a:t>Critical</a:t>
            </a:r>
            <a:endPar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Generated Visual Analyses</a:t>
            </a:r>
            <a:endParaRPr kumimoji="0" lang="en-US" altLang="en-US" sz="24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solidFill>
                  <a:schemeClr val="bg1"/>
                </a:solidFill>
                <a:latin typeface="Inter SemiBold" panose="020B0604020202020204" charset="0"/>
                <a:ea typeface="Inter SemiBold" panose="020B0604020202020204" charset="0"/>
              </a:rPr>
              <a:t>      </a:t>
            </a: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Created plots showing predicted vs actual RUL, residual distribution, and bias trends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Saved All Results</a:t>
            </a:r>
            <a:endParaRPr kumimoji="0" lang="en-US" altLang="en-US" sz="24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Exported metrics, labeled data, and bias analysis as CSV files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bg1"/>
                </a:solidFill>
                <a:effectLst/>
                <a:latin typeface="Inter SemiBold" panose="020B0604020202020204" charset="0"/>
                <a:ea typeface="Inter SemiBold" panose="020B0604020202020204" charset="0"/>
              </a:rPr>
              <a:t>      Saved all plots in the results folder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Inter SemiBold" panose="020B0604020202020204" charset="0"/>
              <a:ea typeface="Inter SemiBold" panose="020B0604020202020204" charset="0"/>
            </a:endParaRPr>
          </a:p>
        </p:txBody>
      </p:sp>
      <p:pic>
        <p:nvPicPr>
          <p:cNvPr id="3" name="Picture 2">
            <a:extLst>
              <a:ext uri="{FF2B5EF4-FFF2-40B4-BE49-F238E27FC236}">
                <a16:creationId xmlns:a16="http://schemas.microsoft.com/office/drawing/2014/main" id="{C0B779F3-5CC4-E1D4-E526-C89577500041}"/>
              </a:ext>
            </a:extLst>
          </p:cNvPr>
          <p:cNvPicPr>
            <a:picLocks noChangeAspect="1"/>
          </p:cNvPicPr>
          <p:nvPr/>
        </p:nvPicPr>
        <p:blipFill>
          <a:blip r:embed="rId3"/>
          <a:stretch>
            <a:fillRect/>
          </a:stretch>
        </p:blipFill>
        <p:spPr>
          <a:xfrm>
            <a:off x="13405886" y="2914287"/>
            <a:ext cx="3953427" cy="5201376"/>
          </a:xfrm>
          <a:prstGeom prst="rect">
            <a:avLst/>
          </a:prstGeom>
        </p:spPr>
      </p:pic>
    </p:spTree>
    <p:extLst>
      <p:ext uri="{BB962C8B-B14F-4D97-AF65-F5344CB8AC3E}">
        <p14:creationId xmlns:p14="http://schemas.microsoft.com/office/powerpoint/2010/main" val="444246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53278"/>
        </a:solidFill>
        <a:effectLst/>
      </p:bgPr>
    </p:bg>
    <p:spTree>
      <p:nvGrpSpPr>
        <p:cNvPr id="1" name="Shape 190"/>
        <p:cNvGrpSpPr/>
        <p:nvPr/>
      </p:nvGrpSpPr>
      <p:grpSpPr>
        <a:xfrm>
          <a:off x="0" y="0"/>
          <a:ext cx="0" cy="0"/>
          <a:chOff x="0" y="0"/>
          <a:chExt cx="0" cy="0"/>
        </a:xfrm>
      </p:grpSpPr>
      <p:sp>
        <p:nvSpPr>
          <p:cNvPr id="198" name="Google Shape;198;p15"/>
          <p:cNvSpPr txBox="1"/>
          <p:nvPr/>
        </p:nvSpPr>
        <p:spPr>
          <a:xfrm>
            <a:off x="5629275" y="403013"/>
            <a:ext cx="5843588" cy="517065"/>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2800" b="1" dirty="0">
                <a:solidFill>
                  <a:srgbClr val="FFFDFC"/>
                </a:solidFill>
                <a:latin typeface=" inter semibold"/>
                <a:ea typeface="Inter"/>
                <a:sym typeface="Inter"/>
              </a:rPr>
              <a:t>Results of the milestone 3</a:t>
            </a:r>
            <a:endParaRPr sz="2800" dirty="0">
              <a:latin typeface=" inter semibold"/>
            </a:endParaRPr>
          </a:p>
        </p:txBody>
      </p:sp>
      <p:pic>
        <p:nvPicPr>
          <p:cNvPr id="3" name="Picture 2">
            <a:extLst>
              <a:ext uri="{FF2B5EF4-FFF2-40B4-BE49-F238E27FC236}">
                <a16:creationId xmlns:a16="http://schemas.microsoft.com/office/drawing/2014/main" id="{1CF5D34D-E9A0-9D70-3E60-CD1195BFF408}"/>
              </a:ext>
            </a:extLst>
          </p:cNvPr>
          <p:cNvPicPr>
            <a:picLocks noChangeAspect="1"/>
          </p:cNvPicPr>
          <p:nvPr/>
        </p:nvPicPr>
        <p:blipFill>
          <a:blip r:embed="rId3"/>
          <a:stretch>
            <a:fillRect/>
          </a:stretch>
        </p:blipFill>
        <p:spPr>
          <a:xfrm>
            <a:off x="1757363" y="1050125"/>
            <a:ext cx="6248513" cy="4093375"/>
          </a:xfrm>
          <a:prstGeom prst="rect">
            <a:avLst/>
          </a:prstGeom>
        </p:spPr>
      </p:pic>
      <p:pic>
        <p:nvPicPr>
          <p:cNvPr id="5" name="Picture 4">
            <a:extLst>
              <a:ext uri="{FF2B5EF4-FFF2-40B4-BE49-F238E27FC236}">
                <a16:creationId xmlns:a16="http://schemas.microsoft.com/office/drawing/2014/main" id="{B9DF6687-E647-327A-9993-82AEEFD77788}"/>
              </a:ext>
            </a:extLst>
          </p:cNvPr>
          <p:cNvPicPr>
            <a:picLocks noChangeAspect="1"/>
          </p:cNvPicPr>
          <p:nvPr/>
        </p:nvPicPr>
        <p:blipFill>
          <a:blip r:embed="rId4"/>
          <a:stretch>
            <a:fillRect/>
          </a:stretch>
        </p:blipFill>
        <p:spPr>
          <a:xfrm>
            <a:off x="9144000" y="1050125"/>
            <a:ext cx="7215188" cy="4093375"/>
          </a:xfrm>
          <a:prstGeom prst="rect">
            <a:avLst/>
          </a:prstGeom>
        </p:spPr>
      </p:pic>
      <p:pic>
        <p:nvPicPr>
          <p:cNvPr id="7" name="Picture 6">
            <a:extLst>
              <a:ext uri="{FF2B5EF4-FFF2-40B4-BE49-F238E27FC236}">
                <a16:creationId xmlns:a16="http://schemas.microsoft.com/office/drawing/2014/main" id="{47F37C8C-1CE5-5EC6-8481-7601B61B196D}"/>
              </a:ext>
            </a:extLst>
          </p:cNvPr>
          <p:cNvPicPr>
            <a:picLocks noChangeAspect="1"/>
          </p:cNvPicPr>
          <p:nvPr/>
        </p:nvPicPr>
        <p:blipFill>
          <a:blip r:embed="rId5"/>
          <a:stretch>
            <a:fillRect/>
          </a:stretch>
        </p:blipFill>
        <p:spPr>
          <a:xfrm>
            <a:off x="1757363" y="5588007"/>
            <a:ext cx="6338827" cy="4093375"/>
          </a:xfrm>
          <a:prstGeom prst="rect">
            <a:avLst/>
          </a:prstGeom>
        </p:spPr>
      </p:pic>
      <p:pic>
        <p:nvPicPr>
          <p:cNvPr id="11" name="Picture 10">
            <a:extLst>
              <a:ext uri="{FF2B5EF4-FFF2-40B4-BE49-F238E27FC236}">
                <a16:creationId xmlns:a16="http://schemas.microsoft.com/office/drawing/2014/main" id="{525A538F-F531-3D20-EC70-BA8722594E22}"/>
              </a:ext>
            </a:extLst>
          </p:cNvPr>
          <p:cNvPicPr>
            <a:picLocks noChangeAspect="1"/>
          </p:cNvPicPr>
          <p:nvPr/>
        </p:nvPicPr>
        <p:blipFill>
          <a:blip r:embed="rId6"/>
          <a:stretch>
            <a:fillRect/>
          </a:stretch>
        </p:blipFill>
        <p:spPr>
          <a:xfrm>
            <a:off x="9144000" y="5588007"/>
            <a:ext cx="7372350" cy="40933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90">
          <a:extLst>
            <a:ext uri="{FF2B5EF4-FFF2-40B4-BE49-F238E27FC236}">
              <a16:creationId xmlns:a16="http://schemas.microsoft.com/office/drawing/2014/main" id="{D54A82A4-F31D-00C8-6E6D-9A53A527ED64}"/>
            </a:ext>
          </a:extLst>
        </p:cNvPr>
        <p:cNvGrpSpPr/>
        <p:nvPr/>
      </p:nvGrpSpPr>
      <p:grpSpPr>
        <a:xfrm>
          <a:off x="0" y="0"/>
          <a:ext cx="0" cy="0"/>
          <a:chOff x="0" y="0"/>
          <a:chExt cx="0" cy="0"/>
        </a:xfrm>
      </p:grpSpPr>
      <p:sp>
        <p:nvSpPr>
          <p:cNvPr id="93" name="Google Shape;93;p10">
            <a:extLst>
              <a:ext uri="{FF2B5EF4-FFF2-40B4-BE49-F238E27FC236}">
                <a16:creationId xmlns:a16="http://schemas.microsoft.com/office/drawing/2014/main" id="{81BD5A49-0047-CFCE-36E9-9342B747F485}"/>
              </a:ext>
            </a:extLst>
          </p:cNvPr>
          <p:cNvSpPr txBox="1"/>
          <p:nvPr/>
        </p:nvSpPr>
        <p:spPr>
          <a:xfrm>
            <a:off x="6320057" y="406400"/>
            <a:ext cx="4594685"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800" b="1" dirty="0">
                <a:solidFill>
                  <a:srgbClr val="253278"/>
                </a:solidFill>
                <a:latin typeface="Inter SemiBold" panose="020B0604020202020204" charset="0"/>
                <a:ea typeface="Inter SemiBold" panose="020B0604020202020204" charset="0"/>
                <a:cs typeface="Inter ExtraBold"/>
                <a:sym typeface="Inter ExtraBold"/>
              </a:rPr>
              <a:t>Milestone 4</a:t>
            </a:r>
            <a:endParaRPr sz="4800" b="1" dirty="0">
              <a:latin typeface="Inter SemiBold" panose="020B0604020202020204" charset="0"/>
              <a:ea typeface="Inter SemiBold" panose="020B0604020202020204" charset="0"/>
              <a:cs typeface="Inter ExtraBold"/>
              <a:sym typeface="Inter ExtraBold"/>
            </a:endParaRPr>
          </a:p>
        </p:txBody>
      </p:sp>
      <p:sp>
        <p:nvSpPr>
          <p:cNvPr id="4" name="Rectangle 3">
            <a:extLst>
              <a:ext uri="{FF2B5EF4-FFF2-40B4-BE49-F238E27FC236}">
                <a16:creationId xmlns:a16="http://schemas.microsoft.com/office/drawing/2014/main" id="{AB597496-D557-2B49-0409-AA3B9504D1F7}"/>
              </a:ext>
            </a:extLst>
          </p:cNvPr>
          <p:cNvSpPr/>
          <p:nvPr/>
        </p:nvSpPr>
        <p:spPr>
          <a:xfrm>
            <a:off x="350043" y="1902301"/>
            <a:ext cx="12358687" cy="760095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dirty="0"/>
          </a:p>
        </p:txBody>
      </p:sp>
      <p:sp>
        <p:nvSpPr>
          <p:cNvPr id="6" name="Rectangle 3">
            <a:extLst>
              <a:ext uri="{FF2B5EF4-FFF2-40B4-BE49-F238E27FC236}">
                <a16:creationId xmlns:a16="http://schemas.microsoft.com/office/drawing/2014/main" id="{99565ED9-2BE2-716B-582E-4D0A63800333}"/>
              </a:ext>
            </a:extLst>
          </p:cNvPr>
          <p:cNvSpPr>
            <a:spLocks noChangeArrowheads="1"/>
          </p:cNvSpPr>
          <p:nvPr/>
        </p:nvSpPr>
        <p:spPr bwMode="auto">
          <a:xfrm>
            <a:off x="928687" y="5046731"/>
            <a:ext cx="109870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bg1"/>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bg1"/>
              </a:solidFill>
              <a:effectLst/>
              <a:latin typeface="Inter SemiBold" panose="020B0604020202020204" charset="0"/>
              <a:ea typeface="Inter SemiBold" panose="020B0604020202020204" charset="0"/>
            </a:endParaRPr>
          </a:p>
        </p:txBody>
      </p:sp>
      <p:pic>
        <p:nvPicPr>
          <p:cNvPr id="3" name="Picture 2">
            <a:extLst>
              <a:ext uri="{FF2B5EF4-FFF2-40B4-BE49-F238E27FC236}">
                <a16:creationId xmlns:a16="http://schemas.microsoft.com/office/drawing/2014/main" id="{DAC591CA-A86A-E72D-70B4-521754A9ABED}"/>
              </a:ext>
            </a:extLst>
          </p:cNvPr>
          <p:cNvPicPr>
            <a:picLocks noChangeAspect="1"/>
          </p:cNvPicPr>
          <p:nvPr/>
        </p:nvPicPr>
        <p:blipFill>
          <a:blip r:embed="rId3"/>
          <a:stretch>
            <a:fillRect/>
          </a:stretch>
        </p:blipFill>
        <p:spPr>
          <a:xfrm>
            <a:off x="13405886" y="2914287"/>
            <a:ext cx="3953427" cy="5201376"/>
          </a:xfrm>
          <a:prstGeom prst="rect">
            <a:avLst/>
          </a:prstGeom>
        </p:spPr>
      </p:pic>
      <p:sp>
        <p:nvSpPr>
          <p:cNvPr id="2" name="Rectangle 1">
            <a:extLst>
              <a:ext uri="{FF2B5EF4-FFF2-40B4-BE49-F238E27FC236}">
                <a16:creationId xmlns:a16="http://schemas.microsoft.com/office/drawing/2014/main" id="{5D8FE1EF-2D9E-BD49-0B4E-0164A68D2C71}"/>
              </a:ext>
            </a:extLst>
          </p:cNvPr>
          <p:cNvSpPr>
            <a:spLocks noChangeArrowheads="1"/>
          </p:cNvSpPr>
          <p:nvPr/>
        </p:nvSpPr>
        <p:spPr bwMode="auto">
          <a:xfrm>
            <a:off x="847944" y="2732732"/>
            <a:ext cx="10944226"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Data &amp; Model Loading:</a:t>
            </a:r>
            <a:endParaRPr kumimoji="0" lang="en-US" altLang="en-US" sz="20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Loads preprocessed test sequences (.npz) and trained LSTM models (.h5) for each FD dataset (FD001–FD004).Fetches label CSVs for reference.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Prediction &amp; Evaluation:</a:t>
            </a:r>
            <a:endParaRPr kumimoji="0" lang="en-US" altLang="en-US" sz="20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342900" lvl="1" indent="-342900" eaLnBrk="0" fontAlgn="base" hangingPunct="0">
              <a:spcBef>
                <a:spcPct val="0"/>
              </a:spcBef>
              <a:spcAft>
                <a:spcPct val="0"/>
              </a:spcAft>
              <a:buClrTx/>
              <a:buFont typeface="Arial" panose="020B0604020202020204" pitchFamily="34" charset="0"/>
              <a:buChar char="•"/>
            </a:pP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Uses the model to predict RUL values.</a:t>
            </a:r>
          </a:p>
          <a:p>
            <a:pPr marL="342900" lvl="1" indent="-342900" eaLnBrk="0" fontAlgn="base" hangingPunct="0">
              <a:spcBef>
                <a:spcPct val="0"/>
              </a:spcBef>
              <a:spcAft>
                <a:spcPct val="0"/>
              </a:spcAft>
              <a:buClrTx/>
              <a:buFont typeface="Arial" panose="020B0604020202020204" pitchFamily="34" charset="0"/>
              <a:buChar char="•"/>
            </a:pP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Computes key metrics — </a:t>
            </a: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RMSE</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a:t>
            </a: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MAE</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and </a:t>
            </a: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R² Score</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for accuracy assessment.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Interactive Dashboard (Dash + </a:t>
            </a:r>
            <a:r>
              <a:rPr kumimoji="0" lang="en-US" altLang="en-US" sz="2000" b="1" i="0" u="none" strike="noStrike" cap="none" normalizeH="0" baseline="0" dirty="0" err="1">
                <a:ln>
                  <a:noFill/>
                </a:ln>
                <a:solidFill>
                  <a:schemeClr val="accent6">
                    <a:lumMod val="75000"/>
                  </a:schemeClr>
                </a:solidFill>
                <a:effectLst/>
                <a:latin typeface="Inter SemiBold" panose="020B0604020202020204" charset="0"/>
                <a:ea typeface="Inter SemiBold" panose="020B0604020202020204" charset="0"/>
              </a:rPr>
              <a:t>Plotly</a:t>
            </a:r>
            <a:r>
              <a:rPr kumimoji="0" lang="en-US" altLang="en-US" sz="20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a:t>
            </a:r>
            <a:endParaRPr kumimoji="0" lang="en-US" altLang="en-US" sz="20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Dropdown</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to select FD dataset.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Metric Cards</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display evaluation scores.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rgbClr val="92D050"/>
                </a:solidFill>
                <a:effectLst/>
                <a:latin typeface="Inter SemiBold" panose="020B0604020202020204" charset="0"/>
                <a:ea typeface="Inter SemiBold" panose="020B0604020202020204" charset="0"/>
              </a:rPr>
              <a:t>Graphs:</a:t>
            </a:r>
            <a:endParaRPr kumimoji="0" lang="en-US" altLang="en-US" sz="2000" b="0" i="0" u="none" strike="noStrike" cap="none" normalizeH="0" baseline="0" dirty="0">
              <a:ln>
                <a:noFill/>
              </a:ln>
              <a:solidFill>
                <a:srgbClr val="92D050"/>
              </a:solidFill>
              <a:effectLst/>
              <a:latin typeface="Inter SemiBold" panose="020B0604020202020204" charset="0"/>
              <a:ea typeface="Inter SemiBold" panose="020B0604020202020204" charset="0"/>
            </a:endParaRPr>
          </a:p>
          <a:p>
            <a:pPr marL="800100" marR="0" lvl="1"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Predicted vs Actual RUL</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 model performance</a:t>
            </a:r>
          </a:p>
          <a:p>
            <a:pPr marL="800100" marR="0" lvl="1"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Residual Histogram</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 error distribution</a:t>
            </a:r>
          </a:p>
          <a:p>
            <a:pPr marL="800100" marR="0" lvl="1"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RUL Trend Plot</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 temporal comparison of predictions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Table</a:t>
            </a: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 showing label data (first 10 rows).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rPr>
              <a:t>Deployment:</a:t>
            </a:r>
            <a:endParaRPr kumimoji="0" lang="en-US" altLang="en-US" sz="2000" b="0" i="0" u="none" strike="noStrike" cap="none" normalizeH="0" baseline="0" dirty="0">
              <a:ln>
                <a:noFill/>
              </a:ln>
              <a:solidFill>
                <a:schemeClr val="accent6">
                  <a:lumMod val="75000"/>
                </a:schemeClr>
              </a:solidFill>
              <a:effectLst/>
              <a:latin typeface="Inter SemiBold" panose="020B0604020202020204" charset="0"/>
              <a:ea typeface="Inter SemiBold"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Hosted locally with Dash Bootstrap styling for a professional UI.</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rPr>
              <a:t>Accessible via browser: </a:t>
            </a:r>
            <a:r>
              <a:rPr kumimoji="0" lang="en-US" altLang="en-US" sz="2000" b="1"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hlinkClick r:id="rId4">
                  <a:extLst>
                    <a:ext uri="{A12FA001-AC4F-418D-AE19-62706E023703}">
                      <ahyp:hlinkClr xmlns:ahyp="http://schemas.microsoft.com/office/drawing/2018/hyperlinkcolor" val="tx"/>
                    </a:ext>
                  </a:extLst>
                </a:hlinkClick>
              </a:rPr>
              <a:t>http://127.0.0.1:8050/</a:t>
            </a:r>
            <a:endPar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bg1">
                  <a:lumMod val="95000"/>
                </a:schemeClr>
              </a:solidFill>
              <a:effectLst/>
              <a:latin typeface="Inter SemiBold" panose="020B0604020202020204" charset="0"/>
              <a:ea typeface="Inter SemiBold" panose="020B0604020202020204" charset="0"/>
            </a:endParaRPr>
          </a:p>
        </p:txBody>
      </p:sp>
    </p:spTree>
    <p:extLst>
      <p:ext uri="{BB962C8B-B14F-4D97-AF65-F5344CB8AC3E}">
        <p14:creationId xmlns:p14="http://schemas.microsoft.com/office/powerpoint/2010/main" val="1754439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53278"/>
        </a:solidFill>
        <a:effectLst/>
      </p:bgPr>
    </p:bg>
    <p:spTree>
      <p:nvGrpSpPr>
        <p:cNvPr id="1" name="Shape 190">
          <a:extLst>
            <a:ext uri="{FF2B5EF4-FFF2-40B4-BE49-F238E27FC236}">
              <a16:creationId xmlns:a16="http://schemas.microsoft.com/office/drawing/2014/main" id="{5E06DCFD-41CA-91A3-79AF-67C6FF42F392}"/>
            </a:ext>
          </a:extLst>
        </p:cNvPr>
        <p:cNvGrpSpPr/>
        <p:nvPr/>
      </p:nvGrpSpPr>
      <p:grpSpPr>
        <a:xfrm>
          <a:off x="0" y="0"/>
          <a:ext cx="0" cy="0"/>
          <a:chOff x="0" y="0"/>
          <a:chExt cx="0" cy="0"/>
        </a:xfrm>
      </p:grpSpPr>
      <p:sp>
        <p:nvSpPr>
          <p:cNvPr id="198" name="Google Shape;198;p15">
            <a:extLst>
              <a:ext uri="{FF2B5EF4-FFF2-40B4-BE49-F238E27FC236}">
                <a16:creationId xmlns:a16="http://schemas.microsoft.com/office/drawing/2014/main" id="{2FD490E6-782A-32B9-C189-9873E45A08E6}"/>
              </a:ext>
            </a:extLst>
          </p:cNvPr>
          <p:cNvSpPr txBox="1"/>
          <p:nvPr/>
        </p:nvSpPr>
        <p:spPr>
          <a:xfrm>
            <a:off x="5629275" y="144480"/>
            <a:ext cx="5843588" cy="517065"/>
          </a:xfrm>
          <a:prstGeom prst="rect">
            <a:avLst/>
          </a:prstGeom>
          <a:noFill/>
          <a:ln>
            <a:noFill/>
          </a:ln>
        </p:spPr>
        <p:txBody>
          <a:bodyPr spcFirstLastPara="1" wrap="square" lIns="0" tIns="0" rIns="0" bIns="0" anchor="t" anchorCtr="0">
            <a:spAutoFit/>
          </a:bodyPr>
          <a:lstStyle/>
          <a:p>
            <a:pPr marL="0" marR="0" lvl="0" indent="0" algn="ctr" rtl="0">
              <a:lnSpc>
                <a:spcPct val="119916"/>
              </a:lnSpc>
              <a:spcBef>
                <a:spcPts val="0"/>
              </a:spcBef>
              <a:spcAft>
                <a:spcPts val="0"/>
              </a:spcAft>
              <a:buNone/>
            </a:pPr>
            <a:r>
              <a:rPr lang="en-US" sz="2800" b="1" dirty="0">
                <a:solidFill>
                  <a:srgbClr val="FFFDFC"/>
                </a:solidFill>
                <a:latin typeface=" inter semibold"/>
                <a:ea typeface="Inter"/>
                <a:sym typeface="Inter"/>
              </a:rPr>
              <a:t>Results of the milestone 4</a:t>
            </a:r>
            <a:endParaRPr sz="2800" dirty="0">
              <a:latin typeface=" inter semibold"/>
            </a:endParaRPr>
          </a:p>
        </p:txBody>
      </p:sp>
      <p:pic>
        <p:nvPicPr>
          <p:cNvPr id="8" name="Picture 7">
            <a:extLst>
              <a:ext uri="{FF2B5EF4-FFF2-40B4-BE49-F238E27FC236}">
                <a16:creationId xmlns:a16="http://schemas.microsoft.com/office/drawing/2014/main" id="{FBB544A7-548A-ED07-F364-1D5D49F54CAA}"/>
              </a:ext>
            </a:extLst>
          </p:cNvPr>
          <p:cNvPicPr>
            <a:picLocks noChangeAspect="1"/>
          </p:cNvPicPr>
          <p:nvPr/>
        </p:nvPicPr>
        <p:blipFill>
          <a:blip r:embed="rId3"/>
          <a:stretch>
            <a:fillRect/>
          </a:stretch>
        </p:blipFill>
        <p:spPr>
          <a:xfrm>
            <a:off x="3945582" y="920078"/>
            <a:ext cx="9492833" cy="4342733"/>
          </a:xfrm>
          <a:prstGeom prst="rect">
            <a:avLst/>
          </a:prstGeom>
        </p:spPr>
      </p:pic>
      <p:pic>
        <p:nvPicPr>
          <p:cNvPr id="10" name="Picture 9">
            <a:extLst>
              <a:ext uri="{FF2B5EF4-FFF2-40B4-BE49-F238E27FC236}">
                <a16:creationId xmlns:a16="http://schemas.microsoft.com/office/drawing/2014/main" id="{A4DC217D-AA2B-3813-AC1F-D82F5CE8409C}"/>
              </a:ext>
            </a:extLst>
          </p:cNvPr>
          <p:cNvPicPr>
            <a:picLocks noChangeAspect="1"/>
          </p:cNvPicPr>
          <p:nvPr/>
        </p:nvPicPr>
        <p:blipFill>
          <a:blip r:embed="rId4"/>
          <a:stretch>
            <a:fillRect/>
          </a:stretch>
        </p:blipFill>
        <p:spPr>
          <a:xfrm>
            <a:off x="3945581" y="5540263"/>
            <a:ext cx="9584577" cy="4343724"/>
          </a:xfrm>
          <a:prstGeom prst="rect">
            <a:avLst/>
          </a:prstGeom>
        </p:spPr>
      </p:pic>
    </p:spTree>
    <p:extLst>
      <p:ext uri="{BB962C8B-B14F-4D97-AF65-F5344CB8AC3E}">
        <p14:creationId xmlns:p14="http://schemas.microsoft.com/office/powerpoint/2010/main" val="215512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171"/>
        <p:cNvGrpSpPr/>
        <p:nvPr/>
      </p:nvGrpSpPr>
      <p:grpSpPr>
        <a:xfrm>
          <a:off x="0" y="0"/>
          <a:ext cx="0" cy="0"/>
          <a:chOff x="0" y="0"/>
          <a:chExt cx="0" cy="0"/>
        </a:xfrm>
      </p:grpSpPr>
      <p:sp>
        <p:nvSpPr>
          <p:cNvPr id="175" name="Google Shape;175;p14"/>
          <p:cNvSpPr txBox="1"/>
          <p:nvPr/>
        </p:nvSpPr>
        <p:spPr>
          <a:xfrm>
            <a:off x="1028700" y="1534431"/>
            <a:ext cx="16230600" cy="135421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800" dirty="0">
                <a:solidFill>
                  <a:srgbClr val="253278"/>
                </a:solidFill>
                <a:latin typeface="Inter ExtraBold"/>
                <a:ea typeface="Inter ExtraBold"/>
                <a:cs typeface="Inter ExtraBold"/>
                <a:sym typeface="Inter ExtraBold"/>
              </a:rPr>
              <a:t>Overall Performance</a:t>
            </a:r>
            <a:endParaRPr dirty="0">
              <a:latin typeface="Inter ExtraBold"/>
              <a:ea typeface="Inter ExtraBold"/>
              <a:cs typeface="Inter ExtraBold"/>
              <a:sym typeface="Inter ExtraBold"/>
            </a:endParaRPr>
          </a:p>
        </p:txBody>
      </p:sp>
      <p:grpSp>
        <p:nvGrpSpPr>
          <p:cNvPr id="176" name="Google Shape;176;p14"/>
          <p:cNvGrpSpPr/>
          <p:nvPr/>
        </p:nvGrpSpPr>
        <p:grpSpPr>
          <a:xfrm>
            <a:off x="1468626" y="8151542"/>
            <a:ext cx="4264690" cy="1385029"/>
            <a:chOff x="0" y="57150"/>
            <a:chExt cx="5686253" cy="1846706"/>
          </a:xfrm>
        </p:grpSpPr>
        <p:sp>
          <p:nvSpPr>
            <p:cNvPr id="177" name="Google Shape;177;p14"/>
            <p:cNvSpPr txBox="1"/>
            <p:nvPr/>
          </p:nvSpPr>
          <p:spPr>
            <a:xfrm>
              <a:off x="0" y="57150"/>
              <a:ext cx="5686253" cy="738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dirty="0">
                  <a:solidFill>
                    <a:srgbClr val="002060"/>
                  </a:solidFill>
                  <a:latin typeface="Inter"/>
                  <a:ea typeface="Inter"/>
                  <a:sym typeface="Inter"/>
                </a:rPr>
                <a:t>RMSE</a:t>
              </a:r>
              <a:endParaRPr dirty="0">
                <a:solidFill>
                  <a:srgbClr val="002060"/>
                </a:solidFill>
              </a:endParaRPr>
            </a:p>
          </p:txBody>
        </p:sp>
        <p:sp>
          <p:nvSpPr>
            <p:cNvPr id="178" name="Google Shape;178;p14"/>
            <p:cNvSpPr txBox="1"/>
            <p:nvPr/>
          </p:nvSpPr>
          <p:spPr>
            <a:xfrm>
              <a:off x="0" y="721993"/>
              <a:ext cx="5686253" cy="1181863"/>
            </a:xfrm>
            <a:prstGeom prst="rect">
              <a:avLst/>
            </a:prstGeom>
            <a:noFill/>
            <a:ln>
              <a:noFill/>
            </a:ln>
          </p:spPr>
          <p:txBody>
            <a:bodyPr spcFirstLastPara="1" wrap="square" lIns="0" tIns="0" rIns="0" bIns="0" anchor="t" anchorCtr="0">
              <a:spAutoFit/>
            </a:bodyPr>
            <a:lstStyle/>
            <a:p>
              <a:pPr lvl="0" algn="ctr">
                <a:lnSpc>
                  <a:spcPct val="120000"/>
                </a:lnSpc>
              </a:pPr>
              <a:r>
                <a:rPr lang="en-US" sz="2400" dirty="0"/>
                <a:t>Indicates overall prediction error level.</a:t>
              </a:r>
              <a:r>
                <a:rPr lang="en-US" sz="2100" b="0" i="0" u="none" strike="noStrike" cap="none" dirty="0">
                  <a:solidFill>
                    <a:srgbClr val="253278"/>
                  </a:solidFill>
                  <a:latin typeface="Inter"/>
                  <a:ea typeface="Inter"/>
                  <a:cs typeface="Inter"/>
                  <a:sym typeface="Inter"/>
                </a:rPr>
                <a:t> </a:t>
              </a:r>
              <a:endParaRPr dirty="0"/>
            </a:p>
          </p:txBody>
        </p:sp>
      </p:grpSp>
      <p:grpSp>
        <p:nvGrpSpPr>
          <p:cNvPr id="179" name="Google Shape;179;p14"/>
          <p:cNvGrpSpPr/>
          <p:nvPr/>
        </p:nvGrpSpPr>
        <p:grpSpPr>
          <a:xfrm>
            <a:off x="7011655" y="8151542"/>
            <a:ext cx="4264690" cy="1385029"/>
            <a:chOff x="0" y="57150"/>
            <a:chExt cx="5686253" cy="1846707"/>
          </a:xfrm>
        </p:grpSpPr>
        <p:sp>
          <p:nvSpPr>
            <p:cNvPr id="180" name="Google Shape;180;p14"/>
            <p:cNvSpPr txBox="1"/>
            <p:nvPr/>
          </p:nvSpPr>
          <p:spPr>
            <a:xfrm>
              <a:off x="0" y="57150"/>
              <a:ext cx="5686253" cy="73866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3600" b="1" dirty="0">
                  <a:solidFill>
                    <a:srgbClr val="002060"/>
                  </a:solidFill>
                  <a:latin typeface="Inter"/>
                  <a:ea typeface="Inter"/>
                  <a:sym typeface="Inter"/>
                </a:rPr>
                <a:t>MAE</a:t>
              </a:r>
              <a:endParaRPr dirty="0">
                <a:solidFill>
                  <a:srgbClr val="002060"/>
                </a:solidFill>
              </a:endParaRPr>
            </a:p>
          </p:txBody>
        </p:sp>
        <p:sp>
          <p:nvSpPr>
            <p:cNvPr id="181" name="Google Shape;181;p14"/>
            <p:cNvSpPr txBox="1"/>
            <p:nvPr/>
          </p:nvSpPr>
          <p:spPr>
            <a:xfrm>
              <a:off x="0" y="721993"/>
              <a:ext cx="5686253" cy="1181864"/>
            </a:xfrm>
            <a:prstGeom prst="rect">
              <a:avLst/>
            </a:prstGeom>
            <a:noFill/>
            <a:ln>
              <a:noFill/>
            </a:ln>
          </p:spPr>
          <p:txBody>
            <a:bodyPr spcFirstLastPara="1" wrap="square" lIns="0" tIns="0" rIns="0" bIns="0" anchor="t" anchorCtr="0">
              <a:spAutoFit/>
            </a:bodyPr>
            <a:lstStyle/>
            <a:p>
              <a:pPr lvl="0" algn="ctr">
                <a:lnSpc>
                  <a:spcPct val="120000"/>
                </a:lnSpc>
              </a:pPr>
              <a:r>
                <a:rPr lang="en-US" sz="2400" dirty="0"/>
                <a:t>Shows average deviation in RUL prediction.</a:t>
              </a:r>
              <a:r>
                <a:rPr lang="en-US" sz="2100" b="0" i="0" u="none" strike="noStrike" cap="none" dirty="0">
                  <a:solidFill>
                    <a:srgbClr val="253278"/>
                  </a:solidFill>
                  <a:latin typeface="Inter"/>
                  <a:ea typeface="Inter"/>
                  <a:cs typeface="Inter"/>
                  <a:sym typeface="Inter"/>
                </a:rPr>
                <a:t> </a:t>
              </a:r>
              <a:endParaRPr dirty="0"/>
            </a:p>
          </p:txBody>
        </p:sp>
      </p:grpSp>
      <p:grpSp>
        <p:nvGrpSpPr>
          <p:cNvPr id="182" name="Google Shape;182;p14"/>
          <p:cNvGrpSpPr/>
          <p:nvPr/>
        </p:nvGrpSpPr>
        <p:grpSpPr>
          <a:xfrm>
            <a:off x="12105002" y="8151542"/>
            <a:ext cx="5160275" cy="1385029"/>
            <a:chOff x="-597056" y="57150"/>
            <a:chExt cx="6880366" cy="1846707"/>
          </a:xfrm>
        </p:grpSpPr>
        <p:sp>
          <p:nvSpPr>
            <p:cNvPr id="183" name="Google Shape;183;p14"/>
            <p:cNvSpPr txBox="1"/>
            <p:nvPr/>
          </p:nvSpPr>
          <p:spPr>
            <a:xfrm>
              <a:off x="-597056" y="57150"/>
              <a:ext cx="6880366" cy="738665"/>
            </a:xfrm>
            <a:prstGeom prst="rect">
              <a:avLst/>
            </a:prstGeom>
            <a:noFill/>
            <a:ln>
              <a:noFill/>
            </a:ln>
          </p:spPr>
          <p:txBody>
            <a:bodyPr spcFirstLastPara="1" wrap="square" lIns="0" tIns="0" rIns="0" bIns="0" anchor="t" anchorCtr="0">
              <a:spAutoFit/>
            </a:bodyPr>
            <a:lstStyle/>
            <a:p>
              <a:pPr lvl="0" algn="ctr"/>
              <a:r>
                <a:rPr lang="en-IN" sz="3600" b="1" dirty="0">
                  <a:solidFill>
                    <a:srgbClr val="002060"/>
                  </a:solidFill>
                  <a:latin typeface="Inter" panose="020B0604020202020204" charset="0"/>
                  <a:ea typeface="Inter" panose="020B0604020202020204" charset="0"/>
                </a:rPr>
                <a:t>R²</a:t>
              </a:r>
              <a:r>
                <a:rPr lang="en-IN" b="1" dirty="0">
                  <a:solidFill>
                    <a:srgbClr val="002060"/>
                  </a:solidFill>
                </a:rPr>
                <a:t> </a:t>
              </a:r>
              <a:r>
                <a:rPr lang="en-IN" sz="3600" b="1" dirty="0">
                  <a:solidFill>
                    <a:srgbClr val="002060"/>
                  </a:solidFill>
                  <a:latin typeface="Inter" panose="020B0604020202020204" charset="0"/>
                  <a:ea typeface="Inter" panose="020B0604020202020204" charset="0"/>
                </a:rPr>
                <a:t>Score</a:t>
              </a:r>
              <a:endParaRPr sz="3600" b="1" dirty="0">
                <a:solidFill>
                  <a:srgbClr val="002060"/>
                </a:solidFill>
                <a:latin typeface="Inter" panose="020B0604020202020204" charset="0"/>
                <a:ea typeface="Inter" panose="020B0604020202020204" charset="0"/>
              </a:endParaRPr>
            </a:p>
          </p:txBody>
        </p:sp>
        <p:sp>
          <p:nvSpPr>
            <p:cNvPr id="184" name="Google Shape;184;p14"/>
            <p:cNvSpPr txBox="1"/>
            <p:nvPr/>
          </p:nvSpPr>
          <p:spPr>
            <a:xfrm>
              <a:off x="0" y="721993"/>
              <a:ext cx="5686253" cy="1181864"/>
            </a:xfrm>
            <a:prstGeom prst="rect">
              <a:avLst/>
            </a:prstGeom>
            <a:noFill/>
            <a:ln>
              <a:noFill/>
            </a:ln>
          </p:spPr>
          <p:txBody>
            <a:bodyPr spcFirstLastPara="1" wrap="square" lIns="0" tIns="0" rIns="0" bIns="0" anchor="t" anchorCtr="0">
              <a:spAutoFit/>
            </a:bodyPr>
            <a:lstStyle/>
            <a:p>
              <a:pPr lvl="0" algn="ctr">
                <a:lnSpc>
                  <a:spcPct val="120000"/>
                </a:lnSpc>
              </a:pPr>
              <a:r>
                <a:rPr lang="en-IN" sz="2400" dirty="0"/>
                <a:t>Represents model’s prediction accuracy.</a:t>
              </a:r>
              <a:r>
                <a:rPr lang="en-US" sz="2100" b="0" i="0" u="none" strike="noStrike" cap="none" dirty="0">
                  <a:solidFill>
                    <a:srgbClr val="253278"/>
                  </a:solidFill>
                  <a:latin typeface="Inter"/>
                  <a:ea typeface="Inter"/>
                  <a:cs typeface="Inter"/>
                  <a:sym typeface="Inter"/>
                </a:rPr>
                <a:t>. </a:t>
              </a:r>
              <a:endParaRPr dirty="0"/>
            </a:p>
          </p:txBody>
        </p:sp>
      </p:grpSp>
      <p:pic>
        <p:nvPicPr>
          <p:cNvPr id="5" name="Picture 4">
            <a:extLst>
              <a:ext uri="{FF2B5EF4-FFF2-40B4-BE49-F238E27FC236}">
                <a16:creationId xmlns:a16="http://schemas.microsoft.com/office/drawing/2014/main" id="{40237CC0-7836-CBA1-C3BC-E3A468295C2E}"/>
              </a:ext>
            </a:extLst>
          </p:cNvPr>
          <p:cNvPicPr>
            <a:picLocks noChangeAspect="1"/>
          </p:cNvPicPr>
          <p:nvPr/>
        </p:nvPicPr>
        <p:blipFill>
          <a:blip r:embed="rId3"/>
          <a:stretch>
            <a:fillRect/>
          </a:stretch>
        </p:blipFill>
        <p:spPr>
          <a:xfrm>
            <a:off x="1203731" y="3557588"/>
            <a:ext cx="4705200" cy="3851925"/>
          </a:xfrm>
          <a:prstGeom prst="rect">
            <a:avLst/>
          </a:prstGeom>
        </p:spPr>
      </p:pic>
      <p:pic>
        <p:nvPicPr>
          <p:cNvPr id="7" name="Picture 6">
            <a:extLst>
              <a:ext uri="{FF2B5EF4-FFF2-40B4-BE49-F238E27FC236}">
                <a16:creationId xmlns:a16="http://schemas.microsoft.com/office/drawing/2014/main" id="{C9D78296-C8C9-ED78-56EB-40BDD398E397}"/>
              </a:ext>
            </a:extLst>
          </p:cNvPr>
          <p:cNvPicPr>
            <a:picLocks noChangeAspect="1"/>
          </p:cNvPicPr>
          <p:nvPr/>
        </p:nvPicPr>
        <p:blipFill>
          <a:blip r:embed="rId4"/>
          <a:stretch>
            <a:fillRect/>
          </a:stretch>
        </p:blipFill>
        <p:spPr>
          <a:xfrm>
            <a:off x="6400800" y="3547839"/>
            <a:ext cx="5362134" cy="4101175"/>
          </a:xfrm>
          <a:prstGeom prst="rect">
            <a:avLst/>
          </a:prstGeom>
        </p:spPr>
      </p:pic>
      <p:pic>
        <p:nvPicPr>
          <p:cNvPr id="9" name="Picture 8">
            <a:extLst>
              <a:ext uri="{FF2B5EF4-FFF2-40B4-BE49-F238E27FC236}">
                <a16:creationId xmlns:a16="http://schemas.microsoft.com/office/drawing/2014/main" id="{0D7D0A5F-FD9A-5646-EF19-1D03980A7F3C}"/>
              </a:ext>
            </a:extLst>
          </p:cNvPr>
          <p:cNvPicPr>
            <a:picLocks noChangeAspect="1"/>
          </p:cNvPicPr>
          <p:nvPr/>
        </p:nvPicPr>
        <p:blipFill>
          <a:blip r:embed="rId5"/>
          <a:stretch>
            <a:fillRect/>
          </a:stretch>
        </p:blipFill>
        <p:spPr>
          <a:xfrm>
            <a:off x="12552794" y="3566935"/>
            <a:ext cx="4705200" cy="40820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171">
          <a:extLst>
            <a:ext uri="{FF2B5EF4-FFF2-40B4-BE49-F238E27FC236}">
              <a16:creationId xmlns:a16="http://schemas.microsoft.com/office/drawing/2014/main" id="{73A44D0A-38F9-02F0-B0F0-0B3AA42EB61E}"/>
            </a:ext>
          </a:extLst>
        </p:cNvPr>
        <p:cNvGrpSpPr/>
        <p:nvPr/>
      </p:nvGrpSpPr>
      <p:grpSpPr>
        <a:xfrm>
          <a:off x="0" y="0"/>
          <a:ext cx="0" cy="0"/>
          <a:chOff x="0" y="0"/>
          <a:chExt cx="0" cy="0"/>
        </a:xfrm>
      </p:grpSpPr>
      <p:sp>
        <p:nvSpPr>
          <p:cNvPr id="175" name="Google Shape;175;p14">
            <a:extLst>
              <a:ext uri="{FF2B5EF4-FFF2-40B4-BE49-F238E27FC236}">
                <a16:creationId xmlns:a16="http://schemas.microsoft.com/office/drawing/2014/main" id="{D8FEE1B6-93E1-EC69-8750-9A119C9464A0}"/>
              </a:ext>
            </a:extLst>
          </p:cNvPr>
          <p:cNvSpPr txBox="1"/>
          <p:nvPr/>
        </p:nvSpPr>
        <p:spPr>
          <a:xfrm>
            <a:off x="1028700" y="248556"/>
            <a:ext cx="16230600" cy="110799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200" dirty="0">
                <a:solidFill>
                  <a:srgbClr val="253278"/>
                </a:solidFill>
                <a:latin typeface="Inter ExtraBold"/>
                <a:ea typeface="Inter ExtraBold"/>
                <a:cs typeface="Inter ExtraBold"/>
                <a:sym typeface="Inter ExtraBold"/>
              </a:rPr>
              <a:t>Final Architecture Diagram</a:t>
            </a:r>
            <a:endParaRPr dirty="0">
              <a:latin typeface="Inter ExtraBold"/>
              <a:ea typeface="Inter ExtraBold"/>
              <a:cs typeface="Inter ExtraBold"/>
              <a:sym typeface="Inter ExtraBold"/>
            </a:endParaRPr>
          </a:p>
        </p:txBody>
      </p:sp>
      <p:sp>
        <p:nvSpPr>
          <p:cNvPr id="3" name="Rectangle 2">
            <a:extLst>
              <a:ext uri="{FF2B5EF4-FFF2-40B4-BE49-F238E27FC236}">
                <a16:creationId xmlns:a16="http://schemas.microsoft.com/office/drawing/2014/main" id="{AAB47A58-173A-9830-3860-98613F919A52}"/>
              </a:ext>
            </a:extLst>
          </p:cNvPr>
          <p:cNvSpPr/>
          <p:nvPr/>
        </p:nvSpPr>
        <p:spPr>
          <a:xfrm>
            <a:off x="1985962" y="2621755"/>
            <a:ext cx="3800475" cy="1971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lumMod val="95000"/>
                  </a:schemeClr>
                </a:solidFill>
                <a:latin typeface="Inter SemiBold" panose="020B0604020202020204" charset="0"/>
                <a:ea typeface="Inter SemiBold" panose="020B0604020202020204" charset="0"/>
              </a:rPr>
              <a:t>C-MAPS Dataset</a:t>
            </a:r>
            <a:endParaRPr lang="en-IN" sz="1800" dirty="0">
              <a:solidFill>
                <a:schemeClr val="bg1">
                  <a:lumMod val="95000"/>
                </a:schemeClr>
              </a:solidFill>
              <a:latin typeface="Inter SemiBold" panose="020B0604020202020204" charset="0"/>
              <a:ea typeface="Inter SemiBold" panose="020B0604020202020204" charset="0"/>
            </a:endParaRPr>
          </a:p>
        </p:txBody>
      </p:sp>
      <p:sp>
        <p:nvSpPr>
          <p:cNvPr id="4" name="Rectangle 3">
            <a:extLst>
              <a:ext uri="{FF2B5EF4-FFF2-40B4-BE49-F238E27FC236}">
                <a16:creationId xmlns:a16="http://schemas.microsoft.com/office/drawing/2014/main" id="{E49B57CD-C77F-E2E9-B38F-BA925F068AFA}"/>
              </a:ext>
            </a:extLst>
          </p:cNvPr>
          <p:cNvSpPr/>
          <p:nvPr/>
        </p:nvSpPr>
        <p:spPr>
          <a:xfrm>
            <a:off x="7058024" y="2621755"/>
            <a:ext cx="3800475" cy="1971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lumMod val="95000"/>
                  </a:schemeClr>
                </a:solidFill>
                <a:latin typeface="Inter SemiBold" panose="020B0604020202020204" charset="0"/>
                <a:ea typeface="Inter SemiBold" panose="020B0604020202020204" charset="0"/>
              </a:rPr>
              <a:t>Preprocessing</a:t>
            </a:r>
          </a:p>
        </p:txBody>
      </p:sp>
      <p:sp>
        <p:nvSpPr>
          <p:cNvPr id="6" name="Rectangle 5">
            <a:extLst>
              <a:ext uri="{FF2B5EF4-FFF2-40B4-BE49-F238E27FC236}">
                <a16:creationId xmlns:a16="http://schemas.microsoft.com/office/drawing/2014/main" id="{9DF1F08B-B027-3570-C8E1-D55EFB3663F8}"/>
              </a:ext>
            </a:extLst>
          </p:cNvPr>
          <p:cNvSpPr/>
          <p:nvPr/>
        </p:nvSpPr>
        <p:spPr>
          <a:xfrm>
            <a:off x="12130086" y="2621755"/>
            <a:ext cx="3800475" cy="1971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Inter SemiBold" panose="020B0604020202020204" charset="0"/>
                <a:ea typeface="Inter SemiBold" panose="020B0604020202020204" charset="0"/>
              </a:rPr>
              <a:t>Model building</a:t>
            </a:r>
            <a:endParaRPr lang="en-IN" sz="1800" dirty="0">
              <a:latin typeface="Inter SemiBold" panose="020B0604020202020204" charset="0"/>
              <a:ea typeface="Inter SemiBold" panose="020B0604020202020204" charset="0"/>
            </a:endParaRPr>
          </a:p>
        </p:txBody>
      </p:sp>
      <p:sp>
        <p:nvSpPr>
          <p:cNvPr id="8" name="Rectangle 7">
            <a:extLst>
              <a:ext uri="{FF2B5EF4-FFF2-40B4-BE49-F238E27FC236}">
                <a16:creationId xmlns:a16="http://schemas.microsoft.com/office/drawing/2014/main" id="{07B44B30-95F5-AC3F-09C3-58E39D079A4D}"/>
              </a:ext>
            </a:extLst>
          </p:cNvPr>
          <p:cNvSpPr/>
          <p:nvPr/>
        </p:nvSpPr>
        <p:spPr>
          <a:xfrm>
            <a:off x="12158659" y="5873678"/>
            <a:ext cx="3800475" cy="1971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lumMod val="95000"/>
                  </a:schemeClr>
                </a:solidFill>
                <a:latin typeface="Inter SemiBold" panose="020B0604020202020204" charset="0"/>
                <a:ea typeface="Inter SemiBold" panose="020B0604020202020204" charset="0"/>
              </a:rPr>
              <a:t>Model Evaluation</a:t>
            </a:r>
            <a:endParaRPr lang="en-IN" sz="1800" dirty="0">
              <a:solidFill>
                <a:schemeClr val="bg1">
                  <a:lumMod val="95000"/>
                </a:schemeClr>
              </a:solidFill>
              <a:latin typeface="Inter SemiBold" panose="020B0604020202020204" charset="0"/>
              <a:ea typeface="Inter SemiBold" panose="020B0604020202020204" charset="0"/>
            </a:endParaRPr>
          </a:p>
        </p:txBody>
      </p:sp>
      <p:sp>
        <p:nvSpPr>
          <p:cNvPr id="10" name="Rectangle 9">
            <a:extLst>
              <a:ext uri="{FF2B5EF4-FFF2-40B4-BE49-F238E27FC236}">
                <a16:creationId xmlns:a16="http://schemas.microsoft.com/office/drawing/2014/main" id="{E5B61082-B89F-63B7-7622-9174D7DD5FE4}"/>
              </a:ext>
            </a:extLst>
          </p:cNvPr>
          <p:cNvSpPr/>
          <p:nvPr/>
        </p:nvSpPr>
        <p:spPr>
          <a:xfrm>
            <a:off x="7243762" y="5858633"/>
            <a:ext cx="3800475" cy="19716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latin typeface="Inter SemiBold" panose="020B0604020202020204" charset="0"/>
                <a:ea typeface="Inter SemiBold" panose="020B0604020202020204" charset="0"/>
              </a:rPr>
              <a:t>Dash board deployment</a:t>
            </a:r>
            <a:endParaRPr lang="en-IN" sz="1800" dirty="0">
              <a:latin typeface="Inter SemiBold" panose="020B0604020202020204" charset="0"/>
              <a:ea typeface="Inter SemiBold" panose="020B0604020202020204" charset="0"/>
            </a:endParaRPr>
          </a:p>
        </p:txBody>
      </p:sp>
      <p:cxnSp>
        <p:nvCxnSpPr>
          <p:cNvPr id="12" name="Straight Arrow Connector 11">
            <a:extLst>
              <a:ext uri="{FF2B5EF4-FFF2-40B4-BE49-F238E27FC236}">
                <a16:creationId xmlns:a16="http://schemas.microsoft.com/office/drawing/2014/main" id="{C264BA2B-8231-9D70-D63A-B1AF43E42932}"/>
              </a:ext>
            </a:extLst>
          </p:cNvPr>
          <p:cNvCxnSpPr/>
          <p:nvPr/>
        </p:nvCxnSpPr>
        <p:spPr>
          <a:xfrm>
            <a:off x="5929313" y="3607592"/>
            <a:ext cx="95726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35A6B9C6-BF8F-47F2-9A53-3276D50BE7FC}"/>
              </a:ext>
            </a:extLst>
          </p:cNvPr>
          <p:cNvCxnSpPr/>
          <p:nvPr/>
        </p:nvCxnSpPr>
        <p:spPr>
          <a:xfrm>
            <a:off x="11044237" y="3607592"/>
            <a:ext cx="9001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911DB589-FE11-B201-5D24-B0380647F948}"/>
              </a:ext>
            </a:extLst>
          </p:cNvPr>
          <p:cNvCxnSpPr/>
          <p:nvPr/>
        </p:nvCxnSpPr>
        <p:spPr>
          <a:xfrm>
            <a:off x="14030323" y="4729163"/>
            <a:ext cx="0" cy="9572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1B38ED72-32D5-15A0-0E30-47D7CEB8C018}"/>
              </a:ext>
            </a:extLst>
          </p:cNvPr>
          <p:cNvCxnSpPr/>
          <p:nvPr/>
        </p:nvCxnSpPr>
        <p:spPr>
          <a:xfrm flipH="1">
            <a:off x="11187113" y="6844470"/>
            <a:ext cx="75723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95190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EFE5"/>
        </a:solidFill>
        <a:effectLst/>
      </p:bgPr>
    </p:bg>
    <p:spTree>
      <p:nvGrpSpPr>
        <p:cNvPr id="1" name="Shape 223"/>
        <p:cNvGrpSpPr/>
        <p:nvPr/>
      </p:nvGrpSpPr>
      <p:grpSpPr>
        <a:xfrm>
          <a:off x="0" y="0"/>
          <a:ext cx="0" cy="0"/>
          <a:chOff x="0" y="0"/>
          <a:chExt cx="0" cy="0"/>
        </a:xfrm>
      </p:grpSpPr>
      <p:sp>
        <p:nvSpPr>
          <p:cNvPr id="225" name="Google Shape;225;p18"/>
          <p:cNvSpPr txBox="1"/>
          <p:nvPr/>
        </p:nvSpPr>
        <p:spPr>
          <a:xfrm>
            <a:off x="5228309" y="296041"/>
            <a:ext cx="7344691" cy="914096"/>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6600" dirty="0">
                <a:solidFill>
                  <a:srgbClr val="253278"/>
                </a:solidFill>
                <a:latin typeface="Inter ExtraBold"/>
                <a:ea typeface="Inter ExtraBold"/>
                <a:cs typeface="Inter ExtraBold"/>
                <a:sym typeface="Inter ExtraBold"/>
              </a:rPr>
              <a:t>References</a:t>
            </a:r>
            <a:endParaRPr dirty="0">
              <a:latin typeface="Inter ExtraBold"/>
              <a:ea typeface="Inter ExtraBold"/>
              <a:cs typeface="Inter ExtraBold"/>
              <a:sym typeface="Inter ExtraBold"/>
            </a:endParaRPr>
          </a:p>
        </p:txBody>
      </p:sp>
      <p:sp>
        <p:nvSpPr>
          <p:cNvPr id="2" name="Rectangle 1">
            <a:extLst>
              <a:ext uri="{FF2B5EF4-FFF2-40B4-BE49-F238E27FC236}">
                <a16:creationId xmlns:a16="http://schemas.microsoft.com/office/drawing/2014/main" id="{C78EBF55-A3E9-4B10-1FAE-0702D53B0108}"/>
              </a:ext>
            </a:extLst>
          </p:cNvPr>
          <p:cNvSpPr>
            <a:spLocks noChangeArrowheads="1"/>
          </p:cNvSpPr>
          <p:nvPr/>
        </p:nvSpPr>
        <p:spPr bwMode="auto">
          <a:xfrm>
            <a:off x="771525" y="1503897"/>
            <a:ext cx="168878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Kaggle. </a:t>
            </a:r>
            <a:r>
              <a:rPr kumimoji="0" lang="en-US" altLang="en-US" sz="2000" b="0" i="1" u="none" strike="noStrike" cap="none" normalizeH="0" baseline="0" dirty="0">
                <a:ln>
                  <a:noFill/>
                </a:ln>
                <a:solidFill>
                  <a:schemeClr val="tx1"/>
                </a:solidFill>
                <a:effectLst/>
                <a:latin typeface="Inter SemiBold" panose="020B0604020202020204" charset="0"/>
                <a:ea typeface="Inter SemiBold" panose="020B0604020202020204" charset="0"/>
              </a:rPr>
              <a:t>C-MAPS Turbofan </a:t>
            </a:r>
            <a:r>
              <a:rPr lang="en-US" altLang="en-US" sz="2000" dirty="0">
                <a:solidFill>
                  <a:schemeClr val="tx1"/>
                </a:solidFill>
                <a:latin typeface="Inter SemiBold" panose="020B0604020202020204" charset="0"/>
                <a:ea typeface="Inter SemiBold" panose="020B0604020202020204" charset="0"/>
              </a:rPr>
              <a:t>Dataset</a:t>
            </a:r>
            <a:endPar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endParaRPr>
          </a:p>
          <a:p>
            <a:pPr lvl="0" eaLnBrk="0" fontAlgn="base" hangingPunct="0">
              <a:spcBef>
                <a:spcPct val="0"/>
              </a:spcBef>
              <a:spcAft>
                <a:spcPct val="0"/>
              </a:spcAft>
              <a:buClrTx/>
              <a:buFontTx/>
              <a:buChar char="•"/>
            </a:pPr>
            <a:r>
              <a:rPr kumimoji="0" lang="en-US" altLang="en-US" sz="2000" b="0" i="0" u="none" strike="noStrike" cap="none" normalizeH="0" baseline="0" dirty="0" err="1">
                <a:ln>
                  <a:noFill/>
                </a:ln>
                <a:solidFill>
                  <a:schemeClr val="tx1"/>
                </a:solidFill>
                <a:effectLst/>
                <a:latin typeface="Inter SemiBold" panose="020B0604020202020204" charset="0"/>
                <a:ea typeface="Inter SemiBold" panose="020B0604020202020204" charset="0"/>
              </a:rPr>
              <a:t>GeeksforGeeks</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t>
            </a:r>
            <a:r>
              <a:rPr kumimoji="0" lang="en-US" altLang="en-US" sz="2000" b="0" i="1" u="none" strike="noStrike" cap="none" normalizeH="0" baseline="0" dirty="0">
                <a:ln>
                  <a:noFill/>
                </a:ln>
                <a:solidFill>
                  <a:schemeClr val="tx1"/>
                </a:solidFill>
                <a:effectLst/>
                <a:latin typeface="Inter SemiBold" panose="020B0604020202020204" charset="0"/>
                <a:ea typeface="Inter SemiBold" panose="020B0604020202020204" charset="0"/>
              </a:rPr>
              <a:t>LSTM Neural Networks in Python.</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Available at: </a:t>
            </a:r>
            <a:r>
              <a:rPr lang="en-US" altLang="en-US" sz="2000" dirty="0">
                <a:solidFill>
                  <a:schemeClr val="tx1"/>
                </a:solidFill>
                <a:latin typeface="Inter SemiBold" panose="020B0604020202020204" charset="0"/>
                <a:ea typeface="Inter SemiBold" panose="020B0604020202020204" charset="0"/>
              </a:rPr>
              <a:t>https://www.geeksforgeeks.org/deep-learning/long-short-term-memory-networks-using-pytorch/</a:t>
            </a:r>
            <a:endPar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TensorFlow Documentation. </a:t>
            </a:r>
            <a:r>
              <a:rPr kumimoji="0" lang="en-US" altLang="en-US" sz="2000" b="0" i="1" u="none" strike="noStrike" cap="none" normalizeH="0" baseline="0" dirty="0" err="1">
                <a:ln>
                  <a:noFill/>
                </a:ln>
                <a:solidFill>
                  <a:schemeClr val="tx1"/>
                </a:solidFill>
                <a:effectLst/>
                <a:latin typeface="Inter SemiBold" panose="020B0604020202020204" charset="0"/>
                <a:ea typeface="Inter SemiBold" panose="020B0604020202020204" charset="0"/>
              </a:rPr>
              <a:t>Keras</a:t>
            </a:r>
            <a:r>
              <a:rPr kumimoji="0" lang="en-US" altLang="en-US" sz="2000" b="0" i="1" u="none" strike="noStrike" cap="none" normalizeH="0" baseline="0" dirty="0">
                <a:ln>
                  <a:noFill/>
                </a:ln>
                <a:solidFill>
                  <a:schemeClr val="tx1"/>
                </a:solidFill>
                <a:effectLst/>
                <a:latin typeface="Inter SemiBold" panose="020B0604020202020204" charset="0"/>
                <a:ea typeface="Inter SemiBold" panose="020B0604020202020204" charset="0"/>
              </a:rPr>
              <a:t> API Guide.</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Available at: </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hlinkClick r:id="rId3"/>
              </a:rPr>
              <a:t>https://www.tensorflow.org/guide/keras</a:t>
            </a:r>
            <a:endPar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Scikit-learn Documentation. </a:t>
            </a:r>
            <a:r>
              <a:rPr kumimoji="0" lang="en-US" altLang="en-US" sz="2000" b="0" i="1" u="none" strike="noStrike" cap="none" normalizeH="0" baseline="0" dirty="0">
                <a:ln>
                  <a:noFill/>
                </a:ln>
                <a:solidFill>
                  <a:schemeClr val="tx1"/>
                </a:solidFill>
                <a:effectLst/>
                <a:latin typeface="Inter SemiBold" panose="020B0604020202020204" charset="0"/>
                <a:ea typeface="Inter SemiBold" panose="020B0604020202020204" charset="0"/>
              </a:rPr>
              <a:t>Preprocessing and Metrics Modules.</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Available at: </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hlinkClick r:id="rId4"/>
              </a:rPr>
              <a:t>https://scikit-learn.org/stable/modules/preprocessing.html</a:t>
            </a:r>
            <a:endPar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Matplotlib and Seaborn Documentation. </a:t>
            </a:r>
            <a:r>
              <a:rPr kumimoji="0" lang="en-US" altLang="en-US" sz="2000" b="0" i="1" u="none" strike="noStrike" cap="none" normalizeH="0" baseline="0" dirty="0">
                <a:ln>
                  <a:noFill/>
                </a:ln>
                <a:solidFill>
                  <a:schemeClr val="tx1"/>
                </a:solidFill>
                <a:effectLst/>
                <a:latin typeface="Inter SemiBold" panose="020B0604020202020204" charset="0"/>
                <a:ea typeface="Inter SemiBold" panose="020B0604020202020204" charset="0"/>
              </a:rPr>
              <a:t>Data Visualization Libraries in Python.</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Available at: </a:t>
            </a:r>
            <a:r>
              <a:rPr lang="en-US" altLang="en-US" sz="2000" dirty="0">
                <a:solidFill>
                  <a:schemeClr val="tx1"/>
                </a:solidFill>
                <a:latin typeface="Inter SemiBold" panose="020B0604020202020204" charset="0"/>
                <a:ea typeface="Inter SemiBold" panose="020B0604020202020204" charset="0"/>
                <a:hlinkClick r:id="rId5"/>
              </a:rPr>
              <a:t>https://matplotlib.org/stable/contents.html</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and </a:t>
            </a:r>
            <a:r>
              <a:rPr lang="en-US" altLang="en-US" sz="2000" dirty="0">
                <a:solidFill>
                  <a:schemeClr val="tx1"/>
                </a:solidFill>
                <a:latin typeface="Inter SemiBold" panose="020B0604020202020204" charset="0"/>
                <a:ea typeface="Inter SemiBold" panose="020B0604020202020204" charset="0"/>
                <a:hlinkClick r:id="rId6"/>
              </a:rPr>
              <a:t>https://seaborn.pydata.org/</a:t>
            </a:r>
            <a:endParaRPr lang="en-US" altLang="en-US" sz="2000" dirty="0">
              <a:solidFill>
                <a:schemeClr val="tx1"/>
              </a:solidFill>
              <a:latin typeface="Inter SemiBold" panose="020B0604020202020204" charset="0"/>
              <a:ea typeface="Inter SemiBold" panose="020B060402020202020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NumPy Documentation. </a:t>
            </a:r>
            <a:r>
              <a:rPr kumimoji="0" lang="en-US" altLang="en-US" sz="2000" b="0" i="1" u="none" strike="noStrike" cap="none" normalizeH="0" baseline="0" dirty="0">
                <a:ln>
                  <a:noFill/>
                </a:ln>
                <a:solidFill>
                  <a:schemeClr val="tx1"/>
                </a:solidFill>
                <a:effectLst/>
                <a:latin typeface="Inter SemiBold" panose="020B0604020202020204" charset="0"/>
                <a:ea typeface="Inter SemiBold" panose="020B0604020202020204" charset="0"/>
              </a:rPr>
              <a:t>Array and Numerical Computation Library.</a:t>
            </a:r>
            <a:r>
              <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rPr>
              <a:t> Available at: </a:t>
            </a:r>
            <a:r>
              <a:rPr lang="en-US" altLang="en-US" sz="2000" dirty="0">
                <a:solidFill>
                  <a:schemeClr val="tx1"/>
                </a:solidFill>
                <a:latin typeface="Inter SemiBold" panose="020B0604020202020204" charset="0"/>
                <a:ea typeface="Inter SemiBold" panose="020B0604020202020204" charset="0"/>
                <a:hlinkClick r:id="rId7"/>
              </a:rPr>
              <a:t>https://numpy.org/doc/</a:t>
            </a:r>
            <a:endParaRPr kumimoji="0" lang="en-US" altLang="en-US" sz="2000" b="0" i="0" u="none" strike="noStrike" cap="none" normalizeH="0" baseline="0" dirty="0">
              <a:ln>
                <a:noFill/>
              </a:ln>
              <a:solidFill>
                <a:schemeClr val="tx1"/>
              </a:solidFill>
              <a:effectLst/>
              <a:latin typeface="Inter SemiBold" panose="020B0604020202020204" charset="0"/>
              <a:ea typeface="Inter SemiBold" panose="020B0604020202020204" charset="0"/>
            </a:endParaRPr>
          </a:p>
        </p:txBody>
      </p:sp>
      <p:sp>
        <p:nvSpPr>
          <p:cNvPr id="4" name="TextBox 3">
            <a:extLst>
              <a:ext uri="{FF2B5EF4-FFF2-40B4-BE49-F238E27FC236}">
                <a16:creationId xmlns:a16="http://schemas.microsoft.com/office/drawing/2014/main" id="{5BEB04DE-99F6-3512-5727-97BFEAA2B73A}"/>
              </a:ext>
            </a:extLst>
          </p:cNvPr>
          <p:cNvSpPr txBox="1"/>
          <p:nvPr/>
        </p:nvSpPr>
        <p:spPr>
          <a:xfrm>
            <a:off x="1128713" y="6292257"/>
            <a:ext cx="16530637" cy="1938992"/>
          </a:xfrm>
          <a:prstGeom prst="rect">
            <a:avLst/>
          </a:prstGeom>
          <a:noFill/>
        </p:spPr>
        <p:txBody>
          <a:bodyPr wrap="square">
            <a:spAutoFit/>
          </a:bodyPr>
          <a:lstStyle/>
          <a:p>
            <a:pPr>
              <a:buNone/>
            </a:pPr>
            <a:r>
              <a:rPr lang="en-US" sz="2000" dirty="0">
                <a:latin typeface="Inter SemiBold" panose="020B0604020202020204" charset="0"/>
                <a:ea typeface="Inter SemiBold" panose="020B0604020202020204" charset="0"/>
              </a:rPr>
              <a:t>I would like to express my sincere gratitude to my mentor for their continuous guidance, encouragement, and insightful feedback throughout the course of this internship. I am also thankful to my peers and colleagues for their support, collaborative spirit, and valuable discussions.</a:t>
            </a:r>
          </a:p>
          <a:p>
            <a:pPr>
              <a:buNone/>
            </a:pPr>
            <a:r>
              <a:rPr lang="en-US" sz="2000" dirty="0">
                <a:latin typeface="Inter SemiBold" panose="020B0604020202020204" charset="0"/>
                <a:ea typeface="Inter SemiBold" panose="020B0604020202020204" charset="0"/>
              </a:rPr>
              <a:t>I acknowledge the use of open-source libraries such as </a:t>
            </a:r>
            <a:r>
              <a:rPr lang="en-US" sz="2000" b="1" dirty="0">
                <a:latin typeface="Inter SemiBold" panose="020B0604020202020204" charset="0"/>
                <a:ea typeface="Inter SemiBold" panose="020B0604020202020204" charset="0"/>
              </a:rPr>
              <a:t>NumPy</a:t>
            </a:r>
            <a:r>
              <a:rPr lang="en-US" sz="2000" dirty="0">
                <a:latin typeface="Inter SemiBold" panose="020B0604020202020204" charset="0"/>
                <a:ea typeface="Inter SemiBold" panose="020B0604020202020204" charset="0"/>
              </a:rPr>
              <a:t>, </a:t>
            </a:r>
            <a:r>
              <a:rPr lang="en-US" sz="2000" b="1" dirty="0">
                <a:latin typeface="Inter SemiBold" panose="020B0604020202020204" charset="0"/>
                <a:ea typeface="Inter SemiBold" panose="020B0604020202020204" charset="0"/>
              </a:rPr>
              <a:t>Pandas</a:t>
            </a:r>
            <a:r>
              <a:rPr lang="en-US" sz="2000" dirty="0">
                <a:latin typeface="Inter SemiBold" panose="020B0604020202020204" charset="0"/>
                <a:ea typeface="Inter SemiBold" panose="020B0604020202020204" charset="0"/>
              </a:rPr>
              <a:t>, </a:t>
            </a:r>
            <a:r>
              <a:rPr lang="en-US" sz="2000" b="1" dirty="0">
                <a:latin typeface="Inter SemiBold" panose="020B0604020202020204" charset="0"/>
                <a:ea typeface="Inter SemiBold" panose="020B0604020202020204" charset="0"/>
              </a:rPr>
              <a:t>Scikit-learn</a:t>
            </a:r>
            <a:r>
              <a:rPr lang="en-US" sz="2000" dirty="0">
                <a:latin typeface="Inter SemiBold" panose="020B0604020202020204" charset="0"/>
                <a:ea typeface="Inter SemiBold" panose="020B0604020202020204" charset="0"/>
              </a:rPr>
              <a:t>, </a:t>
            </a:r>
            <a:r>
              <a:rPr lang="en-US" sz="2000" b="1" dirty="0">
                <a:latin typeface="Inter SemiBold" panose="020B0604020202020204" charset="0"/>
                <a:ea typeface="Inter SemiBold" panose="020B0604020202020204" charset="0"/>
              </a:rPr>
              <a:t>TensorFlow/</a:t>
            </a:r>
            <a:r>
              <a:rPr lang="en-US" sz="2000" b="1" dirty="0" err="1">
                <a:latin typeface="Inter SemiBold" panose="020B0604020202020204" charset="0"/>
                <a:ea typeface="Inter SemiBold" panose="020B0604020202020204" charset="0"/>
              </a:rPr>
              <a:t>Keras</a:t>
            </a:r>
            <a:r>
              <a:rPr lang="en-US" sz="2000" dirty="0">
                <a:latin typeface="Inter SemiBold" panose="020B0604020202020204" charset="0"/>
                <a:ea typeface="Inter SemiBold" panose="020B0604020202020204" charset="0"/>
              </a:rPr>
              <a:t>, </a:t>
            </a:r>
            <a:r>
              <a:rPr lang="en-US" sz="2000" b="1" dirty="0">
                <a:latin typeface="Inter SemiBold" panose="020B0604020202020204" charset="0"/>
                <a:ea typeface="Inter SemiBold" panose="020B0604020202020204" charset="0"/>
              </a:rPr>
              <a:t>Matplotlib</a:t>
            </a:r>
            <a:r>
              <a:rPr lang="en-US" sz="2000" dirty="0">
                <a:latin typeface="Inter SemiBold" panose="020B0604020202020204" charset="0"/>
                <a:ea typeface="Inter SemiBold" panose="020B0604020202020204" charset="0"/>
              </a:rPr>
              <a:t>, and </a:t>
            </a:r>
            <a:r>
              <a:rPr lang="en-US" sz="2000" b="1" dirty="0">
                <a:latin typeface="Inter SemiBold" panose="020B0604020202020204" charset="0"/>
                <a:ea typeface="Inter SemiBold" panose="020B0604020202020204" charset="0"/>
              </a:rPr>
              <a:t>Seaborn</a:t>
            </a:r>
            <a:r>
              <a:rPr lang="en-US" sz="2000" dirty="0">
                <a:latin typeface="Inter SemiBold" panose="020B0604020202020204" charset="0"/>
                <a:ea typeface="Inter SemiBold" panose="020B0604020202020204" charset="0"/>
              </a:rPr>
              <a:t> that were instrumental in implementing preprocessing, model building, and evaluation pipelines. I also appreciate platforms like </a:t>
            </a:r>
            <a:r>
              <a:rPr lang="en-US" sz="2000" b="1" dirty="0">
                <a:latin typeface="Inter SemiBold" panose="020B0604020202020204" charset="0"/>
                <a:ea typeface="Inter SemiBold" panose="020B0604020202020204" charset="0"/>
              </a:rPr>
              <a:t>Kaggle</a:t>
            </a:r>
            <a:r>
              <a:rPr lang="en-US" sz="2000" dirty="0">
                <a:latin typeface="Inter SemiBold" panose="020B0604020202020204" charset="0"/>
                <a:ea typeface="Inter SemiBold" panose="020B0604020202020204" charset="0"/>
              </a:rPr>
              <a:t> for providing the C-MAPSS dataset and </a:t>
            </a:r>
            <a:r>
              <a:rPr lang="en-US" sz="2000" b="1" dirty="0" err="1">
                <a:latin typeface="Inter SemiBold" panose="020B0604020202020204" charset="0"/>
                <a:ea typeface="Inter SemiBold" panose="020B0604020202020204" charset="0"/>
              </a:rPr>
              <a:t>GeeksforGeeks</a:t>
            </a:r>
            <a:r>
              <a:rPr lang="en-US" sz="2000" dirty="0">
                <a:latin typeface="Inter SemiBold" panose="020B0604020202020204" charset="0"/>
                <a:ea typeface="Inter SemiBold" panose="020B0604020202020204" charset="0"/>
              </a:rPr>
              <a:t> for helpful tutorials and resources on LSTM model implementation.</a:t>
            </a:r>
          </a:p>
        </p:txBody>
      </p:sp>
      <p:sp>
        <p:nvSpPr>
          <p:cNvPr id="5" name="Google Shape;225;p18">
            <a:extLst>
              <a:ext uri="{FF2B5EF4-FFF2-40B4-BE49-F238E27FC236}">
                <a16:creationId xmlns:a16="http://schemas.microsoft.com/office/drawing/2014/main" id="{8E6C87BB-BAED-DC76-C7C2-BE788E9EE141}"/>
              </a:ext>
            </a:extLst>
          </p:cNvPr>
          <p:cNvSpPr txBox="1"/>
          <p:nvPr/>
        </p:nvSpPr>
        <p:spPr>
          <a:xfrm>
            <a:off x="4509629" y="4659979"/>
            <a:ext cx="8782049" cy="914096"/>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6600" dirty="0">
                <a:solidFill>
                  <a:srgbClr val="253278"/>
                </a:solidFill>
                <a:latin typeface="Inter ExtraBold"/>
                <a:ea typeface="Inter ExtraBold"/>
                <a:cs typeface="Inter ExtraBold"/>
                <a:sym typeface="Inter ExtraBold"/>
              </a:rPr>
              <a:t>Acknowledgements</a:t>
            </a:r>
            <a:endParaRPr dirty="0">
              <a:latin typeface="Inter ExtraBold"/>
              <a:ea typeface="Inter ExtraBold"/>
              <a:cs typeface="Inter ExtraBold"/>
              <a:sym typeface="Inter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8D8E483-38B3-7A6E-44F8-5E25FF534E2E}"/>
              </a:ext>
            </a:extLst>
          </p:cNvPr>
          <p:cNvPicPr>
            <a:picLocks noChangeAspect="1"/>
          </p:cNvPicPr>
          <p:nvPr/>
        </p:nvPicPr>
        <p:blipFill>
          <a:blip r:embed="rId2"/>
          <a:stretch>
            <a:fillRect/>
          </a:stretch>
        </p:blipFill>
        <p:spPr>
          <a:xfrm>
            <a:off x="6865614" y="4393869"/>
            <a:ext cx="3713536" cy="2442235"/>
          </a:xfrm>
          <a:prstGeom prst="rect">
            <a:avLst/>
          </a:prstGeom>
        </p:spPr>
      </p:pic>
      <p:sp>
        <p:nvSpPr>
          <p:cNvPr id="17" name="TextBox 16">
            <a:extLst>
              <a:ext uri="{FF2B5EF4-FFF2-40B4-BE49-F238E27FC236}">
                <a16:creationId xmlns:a16="http://schemas.microsoft.com/office/drawing/2014/main" id="{53940A5A-0AA6-2414-491F-6CF2C6DCAAF6}"/>
              </a:ext>
            </a:extLst>
          </p:cNvPr>
          <p:cNvSpPr txBox="1"/>
          <p:nvPr/>
        </p:nvSpPr>
        <p:spPr>
          <a:xfrm>
            <a:off x="5733142" y="2958193"/>
            <a:ext cx="5978479" cy="1323439"/>
          </a:xfrm>
          <a:prstGeom prst="rect">
            <a:avLst/>
          </a:prstGeom>
          <a:noFill/>
        </p:spPr>
        <p:txBody>
          <a:bodyPr wrap="square" rtlCol="0">
            <a:spAutoFit/>
          </a:bodyPr>
          <a:lstStyle/>
          <a:p>
            <a:r>
              <a:rPr lang="en-US" sz="8000" dirty="0">
                <a:solidFill>
                  <a:srgbClr val="FFC000"/>
                </a:solidFill>
                <a:latin typeface="Inter SemiBold" panose="020B0604020202020204" charset="0"/>
                <a:ea typeface="Inter SemiBold" panose="020B0604020202020204" charset="0"/>
              </a:rPr>
              <a:t>Thank You!</a:t>
            </a:r>
            <a:endParaRPr lang="en-IN" sz="8000" dirty="0">
              <a:solidFill>
                <a:srgbClr val="FFC000"/>
              </a:solidFill>
              <a:latin typeface="Inter SemiBold" panose="020B0604020202020204" charset="0"/>
              <a:ea typeface="Inter SemiBold" panose="020B0604020202020204" charset="0"/>
            </a:endParaRPr>
          </a:p>
        </p:txBody>
      </p:sp>
    </p:spTree>
    <p:extLst>
      <p:ext uri="{BB962C8B-B14F-4D97-AF65-F5344CB8AC3E}">
        <p14:creationId xmlns:p14="http://schemas.microsoft.com/office/powerpoint/2010/main" val="1283566318"/>
      </p:ext>
    </p:extLst>
  </p:cSld>
  <p:clrMapOvr>
    <a:masterClrMapping/>
  </p:clrMapOvr>
</p:sld>
</file>

<file path=ppt/theme/theme1.xml><?xml version="1.0" encoding="utf-8"?>
<a:theme xmlns:a="http://schemas.openxmlformats.org/drawingml/2006/main" name="Muted Minimal Year-End Revie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1035</Words>
  <Application>Microsoft Office PowerPoint</Application>
  <PresentationFormat>Custom</PresentationFormat>
  <Paragraphs>114</Paragraphs>
  <Slides>13</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Gill Sans MT</vt:lpstr>
      <vt:lpstr>Inter ExtraBold</vt:lpstr>
      <vt:lpstr> inter semibold</vt:lpstr>
      <vt:lpstr>Calibri</vt:lpstr>
      <vt:lpstr>Inter</vt:lpstr>
      <vt:lpstr>Inter SemiBold</vt:lpstr>
      <vt:lpstr>Arial</vt:lpstr>
      <vt:lpstr>Muted Minimal Year-End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 sairithivik</dc:creator>
  <cp:lastModifiedBy>ch sairithivik</cp:lastModifiedBy>
  <cp:revision>3</cp:revision>
  <dcterms:modified xsi:type="dcterms:W3CDTF">2025-11-05T11:28:55Z</dcterms:modified>
</cp:coreProperties>
</file>